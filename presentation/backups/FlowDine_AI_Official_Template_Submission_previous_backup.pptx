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59d37b4e44403e" /><Relationship Type="http://schemas.openxmlformats.org/officeDocument/2006/relationships/extended-properties" Target="/docProps/app.xml" Id="R88f5bc7d667d4bfe" /><Relationship Type="http://schemas.openxmlformats.org/officeDocument/2006/relationships/officeDocument" Target="/ppt/presentation.xml" Id="R58e66dba10394788" /></Relationships>
</file>

<file path=ppt/presentation.xml><?xml version="1.0" encoding="utf-8"?>
<p:presentation xmlns:p="http://schemas.openxmlformats.org/presentationml/2006/main">
  <p:sldMasterIdLst>
    <p:sldMasterId xmlns:r="http://schemas.openxmlformats.org/officeDocument/2006/relationships" id="2147483648" r:id="Re6440e27c6aa4301"/>
  </p:sldMasterIdLst>
  <p:notesMasterIdLst>
    <p:notesMasterId xmlns:r="http://schemas.openxmlformats.org/officeDocument/2006/relationships" r:id="Re7441940b89c43f7"/>
  </p:notesMasterIdLst>
  <p:sldIdLst>
    <p:sldId xmlns:r="http://schemas.openxmlformats.org/officeDocument/2006/relationships" id="256" r:id="R99e18f53f469403a"/>
    <p:sldId xmlns:r="http://schemas.openxmlformats.org/officeDocument/2006/relationships" id="257" r:id="R8af1fb5981a747f8"/>
    <p:sldId xmlns:r="http://schemas.openxmlformats.org/officeDocument/2006/relationships" id="258" r:id="R10e1e0f874dc4f98"/>
    <p:sldId xmlns:r="http://schemas.openxmlformats.org/officeDocument/2006/relationships" id="259" r:id="R1de1f5a588ec447a"/>
    <p:sldId xmlns:r="http://schemas.openxmlformats.org/officeDocument/2006/relationships" id="260" r:id="R379de6ea6d214890"/>
    <p:sldId xmlns:r="http://schemas.openxmlformats.org/officeDocument/2006/relationships" id="261" r:id="R530d539cddbb4d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5a7e11a5b404bdf" /><Relationship Type="http://schemas.openxmlformats.org/officeDocument/2006/relationships/slideMaster" Target="/ppt/slideMasters/slideMaster1.xml" Id="Re6440e27c6aa4301" /><Relationship Type="http://schemas.openxmlformats.org/officeDocument/2006/relationships/notesMaster" Target="/ppt/notesMasters/notesMaster1.xml" Id="Re7441940b89c43f7" /><Relationship Type="http://schemas.openxmlformats.org/officeDocument/2006/relationships/presProps" Target="/ppt/presProps.xml" Id="R900500c8c6dc4afb" /><Relationship Type="http://schemas.openxmlformats.org/officeDocument/2006/relationships/viewProps" Target="/ppt/viewProps.xml" Id="R7da114fc0f5a4a8a" /><Relationship Type="http://schemas.openxmlformats.org/officeDocument/2006/relationships/tableStyles" Target="/ppt/tableStyles.xml" Id="R620e8fd749f1486a" /><Relationship Type="http://schemas.openxmlformats.org/officeDocument/2006/relationships/slide" Target="/ppt/slides/slide1.xml" Id="R99e18f53f469403a" /><Relationship Type="http://schemas.openxmlformats.org/officeDocument/2006/relationships/slide" Target="/ppt/slides/slide2.xml" Id="R8af1fb5981a747f8" /><Relationship Type="http://schemas.openxmlformats.org/officeDocument/2006/relationships/slide" Target="/ppt/slides/slide3.xml" Id="R10e1e0f874dc4f98" /><Relationship Type="http://schemas.openxmlformats.org/officeDocument/2006/relationships/slide" Target="/ppt/slides/slide4.xml" Id="R1de1f5a588ec447a" /><Relationship Type="http://schemas.openxmlformats.org/officeDocument/2006/relationships/slide" Target="/ppt/slides/slide5.xml" Id="R379de6ea6d214890" /><Relationship Type="http://schemas.openxmlformats.org/officeDocument/2006/relationships/slide" Target="/ppt/slides/slide6.xml" Id="R530d539cddbb4d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4f1e5196754f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9a1fc096494c0c" /><Relationship Type="http://schemas.openxmlformats.org/officeDocument/2006/relationships/notesMaster" Target="/ppt/notesMasters/notesMaster1.xml" Id="R70752b6834464f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5190100342400f" /><Relationship Type="http://schemas.openxmlformats.org/officeDocument/2006/relationships/notesMaster" Target="/ppt/notesMasters/notesMaster1.xml" Id="Rab71b72c65f14b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3340d9f0fe4a0d" /><Relationship Type="http://schemas.openxmlformats.org/officeDocument/2006/relationships/notesMaster" Target="/ppt/notesMasters/notesMaster1.xml" Id="R2d1b7fdc8de641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c0f9b86fd2432d" /><Relationship Type="http://schemas.openxmlformats.org/officeDocument/2006/relationships/notesMaster" Target="/ppt/notesMasters/notesMaster1.xml" Id="Re8198d0752f040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398481e60048e6" /><Relationship Type="http://schemas.openxmlformats.org/officeDocument/2006/relationships/notesMaster" Target="/ppt/notesMasters/notesMaster1.xml" Id="R0ea84ba29f1c47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eb433152014cba" /><Relationship Type="http://schemas.openxmlformats.org/officeDocument/2006/relationships/notesMaster" Target="/ppt/notesMasters/notesMaster1.xml" Id="R42ec8e0eff2d45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FlowDine AI is a live restaurant digital twin built for Vibeathon 6.0. Instead of creating another food delivery interface, we built an operating layer for the restaurant itself. It connects what guests see, what the kitchen accepts, what waiters must do next, and what managers need to know now. The core promise is simple: faster service, fewer broken promises, and one truthful operational view.</a:t>
            </a:r>
          </a:p>
          <a:p xmlns:a="http://schemas.openxmlformats.org/drawingml/2006/main">
            <a:r>
              <a:t/>
            </a:r>
          </a:p>
          <a:p xmlns:a="http://schemas.openxmlformats.org/drawingml/2006/main">
            <a:r>
              <a:t>[Sources]</a:t>
            </a:r>
          </a:p>
          <a:p xmlns:a="http://schemas.openxmlformats.org/drawingml/2006/main">
            <a:r>
              <a:t>- Visual: FlowDine AI repository asset public/og.png</a:t>
            </a:r>
          </a:p>
          <a:p xmlns:a="http://schemas.openxmlformats.org/drawingml/2006/main">
            <a:r>
              <a:t>- Product scope: local FlowDine AI implementation and Vibeathon 6.0 problem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Restaurants lose trust and time when operations are disconnected. Guests can select a dish that has already run out. Kitchen status reaches the floor late. Orders, tables, bills, and ingredients are tracked in separate places or manually. The manager sees reports after the shift instead of bottlenecks during it. These are not delivery problems; they are live coordination problems inside the restaurant.</a:t>
            </a:r>
          </a:p>
          <a:p xmlns:a="http://schemas.openxmlformats.org/drawingml/2006/main">
            <a:r>
              <a:t/>
            </a:r>
          </a:p>
          <a:p xmlns:a="http://schemas.openxmlformats.org/drawingml/2006/main">
            <a:r>
              <a:t>[Sources]</a:t>
            </a:r>
          </a:p>
          <a:p xmlns:a="http://schemas.openxmlformats.org/drawingml/2006/main">
            <a:r>
              <a:t>- Visual: local FlowDine AI product hero screenshot</a:t>
            </a:r>
          </a:p>
          <a:p xmlns:a="http://schemas.openxmlformats.org/drawingml/2006/main">
            <a:r>
              <a:t>- Problem framing: Vibeathon 6.0 Smart Restaurant Management System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FlowDine AI makes the restaurant behave like one connected system. Customers get a truthful digital menu, reservations, queue visibility, ordering, tracking, and billing. Kitchen and waiters receive role-specific workflows. Managers get live tables, inventory, revenue, delays, forecasts, and an AI copilot. The signature feature is recipe-aware availability: the menu changes from real ingredient stock, not from a manual toggle.</a:t>
            </a:r>
          </a:p>
          <a:p xmlns:a="http://schemas.openxmlformats.org/drawingml/2006/main">
            <a:r>
              <a:t/>
            </a:r>
          </a:p>
          <a:p xmlns:a="http://schemas.openxmlformats.org/drawingml/2006/main">
            <a:r>
              <a:t>[Sources]</a:t>
            </a:r>
          </a:p>
          <a:p xmlns:a="http://schemas.openxmlformats.org/drawingml/2006/main">
            <a:r>
              <a:t>- Visual: local FlowDine AI product hero screenshot</a:t>
            </a:r>
          </a:p>
          <a:p xmlns:a="http://schemas.openxmlformats.org/drawingml/2006/main">
            <a:r>
              <a:t>- Feature scope: local FlowDine AI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production-shaped build uses Next.js, React, and TypeScript. Server-side permission checks protect manager, kitchen, waiter, and customer actions. A deterministic recipe and order engine calculates portions and inventory changes. Shared D1 state uses optimistic concurrency and an audit log so simultaneous updates are safer and traceable. Gemini can enrich operational insights, while a deterministic local fallback keeps the demo working without an external model.</a:t>
            </a:r>
          </a:p>
          <a:p xmlns:a="http://schemas.openxmlformats.org/drawingml/2006/main">
            <a:r>
              <a:t/>
            </a:r>
          </a:p>
          <a:p xmlns:a="http://schemas.openxmlformats.org/drawingml/2006/main">
            <a:r>
              <a:t>[Sources]</a:t>
            </a:r>
          </a:p>
          <a:p xmlns:a="http://schemas.openxmlformats.org/drawingml/2006/main">
            <a:r>
              <a:t>- Visual: local FlowDine AI product hero screenshot</a:t>
            </a:r>
          </a:p>
          <a:p xmlns:a="http://schemas.openxmlformats.org/drawingml/2006/main">
            <a:r>
              <a:t>- Architecture details: local FlowDine AI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role receives one clear next action. Guests avoid unavailable-order frustration and can split bills with paise-safe totals. Kitchen tickets retain item notes and allergen context. Waiters see service tasks and table state instead of chasing verbal updates. Managers see occupancy, kitchen load, delayed orders, low stock, and top dishes in one command center. The result is less waiting, better coordination, and fewer promises the restaurant cannot keep.</a:t>
            </a:r>
          </a:p>
          <a:p xmlns:a="http://schemas.openxmlformats.org/drawingml/2006/main">
            <a:r>
              <a:t/>
            </a:r>
          </a:p>
          <a:p xmlns:a="http://schemas.openxmlformats.org/drawingml/2006/main">
            <a:r>
              <a:t>[Sources]</a:t>
            </a:r>
          </a:p>
          <a:p xmlns:a="http://schemas.openxmlformats.org/drawingml/2006/main">
            <a:r>
              <a:t>- Visual: local FlowDine AI product hero screenshot</a:t>
            </a:r>
          </a:p>
          <a:p xmlns:a="http://schemas.openxmlformats.org/drawingml/2006/main">
            <a:r>
              <a:t>- Role workflows and billing behavior: local FlowDine AI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demo proves the end-to-end restaurant workflow with a role switcher. The next production step is real email or Google authentication, restaurant onboarding, and tenant isolation. From there we can add push-based realtime updates, payment integrations, and multi-location benchmarking. Even today, FlowDine AI demonstrates the central innovation: one living operational model that keeps menu, kitchen, staff, inventory, tables, and management aligned.</a:t>
            </a:r>
          </a:p>
          <a:p xmlns:a="http://schemas.openxmlformats.org/drawingml/2006/main">
            <a:r>
              <a:t/>
            </a:r>
          </a:p>
          <a:p xmlns:a="http://schemas.openxmlformats.org/drawingml/2006/main">
            <a:r>
              <a:t>[Sources]</a:t>
            </a:r>
          </a:p>
          <a:p xmlns:a="http://schemas.openxmlformats.org/drawingml/2006/main">
            <a:r>
              <a:t>- Visual: local FlowDine AI product hero screenshot</a:t>
            </a:r>
          </a:p>
          <a:p xmlns:a="http://schemas.openxmlformats.org/drawingml/2006/main">
            <a:r>
              <a:t>- Current-versus-future boundary: local FlowDine AI implementation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d7484b29634d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d60d6ba4b347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ef54b7b0f842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272045b2eb48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763b4a62a649c8" /></Relationships>
</file>

<file path=ppt/slideLayouts/slideLayout1.xml><?xml version="1.0" encoding="utf-8"?>
<p:sldLayout xmlns:p="http://schemas.openxmlformats.org/presentationml/2006/main" type="obj" preserve="1">
  <p:cSld name="Title Slide">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E84F1DC8-E2D5-4DC8-97AF-29177E94A120}"/>
              </a:ext>
            </a:extLst>
          </p:cNvPr>
          <p:cNvSpPr>
            <a:spLocks xmlns:a="http://schemas.openxmlformats.org/drawingml/2006/main" noGrp="1"/>
          </p:cNvSpPr>
          <p:nvPr>
            <p:ph type="ctrTitle" idx="0"/>
          </p:nvPr>
        </p:nvSpPr>
        <p:spPr>
          <a:xfrm xmlns:a="http://schemas.openxmlformats.org/drawingml/2006/main">
            <a:off x="914400" y="2125980"/>
            <a:ext cx="10363200" cy="144018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3950" b="1" i="0">
                <a:solidFill>
                  <a:schemeClr val="bg1"/>
                </a:solidFill>
                <a:latin typeface="Trebuchet MS"/>
                <a:ea typeface="Trebuchet MS"/>
                <a:cs typeface="Trebuchet MS"/>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5481BD3E-3332-4473-A41B-DB503F03D1C8}"/>
              </a:ext>
            </a:extLst>
          </p:cNvPr>
          <p:cNvSpPr>
            <a:spLocks xmlns:a="http://schemas.openxmlformats.org/drawingml/2006/main" noGrp="1"/>
          </p:cNvSpPr>
          <p:nvPr>
            <p:ph type="subTitle" idx="4"/>
          </p:nvPr>
        </p:nvSpPr>
        <p:spPr>
          <a:xfrm xmlns:a="http://schemas.openxmlformats.org/drawingml/2006/main">
            <a:off x="1828800" y="3840480"/>
            <a:ext cx="8534400" cy="171450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2750" b="0" i="0">
                <a:solidFill>
                  <a:schemeClr val="bg1"/>
                </a:solidFill>
                <a:latin typeface="Trebuchet MS"/>
                <a:ea typeface="Trebuchet MS"/>
                <a:cs typeface="Trebuchet MS"/>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32064C7E-C45C-4ED2-9CF9-4B7C615196A5}"/>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ACDAAD2F-E552-4F8D-AFF4-A175380C4B75}"/>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E9B718DB-DF94-4CF7-9519-2240AC88B42E}"/>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9E518AF8-CB07-4276-9ACC-3A4F6AE63468}"/>
              </a:ext>
            </a:extLst>
          </p:cNvPr>
          <p:cNvSpPr>
            <a:spLocks xmlns:a="http://schemas.openxmlformats.org/drawingml/2006/main" noGrp="1"/>
          </p:cNvSpPr>
          <p:nvPr>
            <p:ph type="title" idx="0"/>
          </p:nvPr>
        </p:nvSpPr>
        <p:spPr/>
        <p:txBody>
          <a:bodyPr xmlns:a="http://schemas.openxmlformats.org/drawingml/2006/main" lIns="0" tIns="0" rIns="0" bIns="0"/>
          <a:lstStyle xmlns:a="http://schemas.openxmlformats.org/drawingml/2006/main">
            <a:lvl1pPr>
              <a:buNone/>
              <a:defRPr sz="3950" b="1" i="0">
                <a:solidFill>
                  <a:schemeClr val="bg1"/>
                </a:solidFill>
                <a:latin typeface="Trebuchet MS"/>
                <a:ea typeface="Trebuchet MS"/>
                <a:cs typeface="Trebuchet MS"/>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1CD68F9C-5505-4247-BBE1-03AC42223176}"/>
              </a:ext>
            </a:extLst>
          </p:cNvPr>
          <p:cNvSpPr>
            <a:spLocks xmlns:a="http://schemas.openxmlformats.org/drawingml/2006/main" noGrp="1"/>
          </p:cNvSpPr>
          <p:nvPr>
            <p:ph type="body" idx="1"/>
          </p:nvPr>
        </p:nvSpPr>
        <p:spPr/>
        <p:txBody>
          <a:bodyPr xmlns:a="http://schemas.openxmlformats.org/drawingml/2006/main" lIns="0" tIns="0" rIns="0" bIns="0"/>
          <a:lstStyle xmlns:a="http://schemas.openxmlformats.org/drawingml/2006/main">
            <a:lvl1pPr>
              <a:buNone/>
              <a:defRPr sz="2750" b="0" i="0">
                <a:solidFill>
                  <a:schemeClr val="bg1"/>
                </a:solidFill>
                <a:latin typeface="Trebuchet MS"/>
                <a:ea typeface="Trebuchet MS"/>
                <a:cs typeface="Trebuchet MS"/>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07E8242D-E48A-4E28-B805-07E5312B9BF6}"/>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9930C76E-A6D2-4AF9-8515-D0F0E31C473E}"/>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382C2D40-3C40-4BDF-A26D-8D9621A60751}"/>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p:txBody>
      </p:sp>
    </p:spTree>
  </p:cSld>
</p:sldLayout>
</file>

<file path=ppt/slideLayouts/slideLayout3.xml><?xml version="1.0" encoding="utf-8"?>
<p:sldLayout xmlns:p="http://schemas.openxmlformats.org/presentationml/2006/main" type="obj" preserve="1">
  <p:cSld name="Two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9A562652-E464-4D82-BCD9-20484E1AE0A3}"/>
              </a:ext>
            </a:extLst>
          </p:cNvPr>
          <p:cNvSpPr>
            <a:spLocks xmlns:a="http://schemas.openxmlformats.org/drawingml/2006/main" noGrp="1"/>
          </p:cNvSpPr>
          <p:nvPr>
            <p:ph type="title" idx="0"/>
          </p:nvPr>
        </p:nvSpPr>
        <p:spPr/>
        <p:txBody>
          <a:bodyPr xmlns:a="http://schemas.openxmlformats.org/drawingml/2006/main" lIns="0" tIns="0" rIns="0" bIns="0"/>
          <a:lstStyle xmlns:a="http://schemas.openxmlformats.org/drawingml/2006/main">
            <a:lvl1pPr>
              <a:buNone/>
              <a:defRPr sz="3950" b="1" i="0">
                <a:solidFill>
                  <a:schemeClr val="bg1"/>
                </a:solidFill>
                <a:latin typeface="Trebuchet MS"/>
                <a:ea typeface="Trebuchet MS"/>
                <a:cs typeface="Trebuchet MS"/>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BBF5094B-BE88-421F-B5CF-30BE9CB2838C}"/>
              </a:ext>
            </a:extLst>
          </p:cNvPr>
          <p:cNvSpPr>
            <a:spLocks xmlns:a="http://schemas.openxmlformats.org/drawingml/2006/main" noGrp="1"/>
          </p:cNvSpPr>
          <p:nvPr>
            <p:ph idx="2"/>
          </p:nvPr>
        </p:nvSpPr>
        <p:spPr>
          <a:xfrm xmlns:a="http://schemas.openxmlformats.org/drawingml/2006/main">
            <a:off x="609600" y="1577340"/>
            <a:ext cx="5303520" cy="452628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6A9B7D26-E729-46FD-89AB-2F5361AEEE18}"/>
              </a:ext>
            </a:extLst>
          </p:cNvPr>
          <p:cNvSpPr>
            <a:spLocks xmlns:a="http://schemas.openxmlformats.org/drawingml/2006/main" noGrp="1"/>
          </p:cNvSpPr>
          <p:nvPr>
            <p:ph idx="3"/>
          </p:nvPr>
        </p:nvSpPr>
        <p:spPr>
          <a:xfrm xmlns:a="http://schemas.openxmlformats.org/drawingml/2006/main">
            <a:off x="6278880" y="1577340"/>
            <a:ext cx="5303520" cy="452628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2B643513-8B76-46B3-84C0-FBFFE595CFDF}"/>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6438D8C4-DC87-4601-9A3C-EF0EC3E336A6}"/>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p:txBody>
      </p:sp>
      <p:sp>
        <p:nvSpPr>
          <p:cNvPr id="7" name="Holder 7">
            <a:extLst xmlns:a="http://schemas.openxmlformats.org/drawingml/2006/main">
              <a:ext uri="{FF2B5EF4-FFF2-40B4-BE49-F238E27FC236}">
                <a16:creationId xmlns:a16="http://schemas.microsoft.com/office/drawing/2014/main" id="{E61243E9-3C92-4E8E-B121-2AB8832661DE}"/>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p:txBody>
      </p:sp>
    </p:spTree>
  </p:cSld>
</p:sldLayout>
</file>

<file path=ppt/slideLayouts/slideLayout4.xml><?xml version="1.0" encoding="utf-8"?>
<p:sldLayout xmlns:p="http://schemas.openxmlformats.org/presentationml/2006/main" type="obj" preserve="1">
  <p:cSld name="Title Only">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69D259BD-FA2A-4920-A220-8DC2547D0C01}"/>
              </a:ext>
            </a:extLst>
          </p:cNvPr>
          <p:cNvSpPr>
            <a:spLocks xmlns:a="http://schemas.openxmlformats.org/drawingml/2006/main" noGrp="1"/>
          </p:cNvSpPr>
          <p:nvPr>
            <p:ph type="title" idx="0"/>
          </p:nvPr>
        </p:nvSpPr>
        <p:spPr/>
        <p:txBody>
          <a:bodyPr xmlns:a="http://schemas.openxmlformats.org/drawingml/2006/main" lIns="0" tIns="0" rIns="0" bIns="0"/>
          <a:lstStyle xmlns:a="http://schemas.openxmlformats.org/drawingml/2006/main">
            <a:lvl1pPr>
              <a:buNone/>
              <a:defRPr sz="3950" b="1" i="0">
                <a:solidFill>
                  <a:schemeClr val="bg1"/>
                </a:solidFill>
                <a:latin typeface="Trebuchet MS"/>
                <a:ea typeface="Trebuchet MS"/>
                <a:cs typeface="Trebuchet MS"/>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0E51C449-DAF1-4008-9FCA-85B8662D1EF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53E1BED9-E6A8-4E47-ABB2-718C7A70DAA1}"/>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01D041FA-19AC-4C4C-9196-4DDD10D60080}"/>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p:txBody>
      </p:sp>
    </p:spTree>
  </p:cSld>
</p:sldLayout>
</file>

<file path=ppt/slideLayouts/slideLayout5.xml><?xml version="1.0" encoding="utf-8"?>
<p:sldLayout xmlns:p="http://schemas.openxmlformats.org/presentationml/2006/main" type="obj" preserve="1">
  <p:cSld name="Blank">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2435257B-D011-4D25-A5E3-815864B67B5C}"/>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8D2E3642-9918-452A-83E5-2E271408BDE9}"/>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2551BE71-AC54-4B46-B30B-753D201F466E}"/>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4b4e825bc44410" /><Relationship Type="http://schemas.openxmlformats.org/officeDocument/2006/relationships/slideLayout" Target="/ppt/slideLayouts/slideLayout1.xml" Id="Rd5ff74a75ffb4dfe" /><Relationship Type="http://schemas.openxmlformats.org/officeDocument/2006/relationships/slideLayout" Target="/ppt/slideLayouts/slideLayout2.xml" Id="Rcc3a0a512ce84b34" /><Relationship Type="http://schemas.openxmlformats.org/officeDocument/2006/relationships/slideLayout" Target="/ppt/slideLayouts/slideLayout3.xml" Id="R81cbdc0b38f1450c" /><Relationship Type="http://schemas.openxmlformats.org/officeDocument/2006/relationships/slideLayout" Target="/ppt/slideLayouts/slideLayout4.xml" Id="R669dc2c059a04022" /><Relationship Type="http://schemas.openxmlformats.org/officeDocument/2006/relationships/slideLayout" Target="/ppt/slideLayouts/slideLayout5.xml" Id="R253e1f4ff8b34e50"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6" name="bg object 16">
            <a:extLst xmlns:a="http://schemas.openxmlformats.org/drawingml/2006/main">
              <a:ext uri="{FF2B5EF4-FFF2-40B4-BE49-F238E27FC236}">
                <a16:creationId xmlns:a16="http://schemas.microsoft.com/office/drawing/2014/main" id="{5FFA6AFC-9C72-4843-A13D-08FCB596DC6A}"/>
              </a:ext>
            </a:extLst>
          </p:cNvPr>
          <p:cNvSpPr>
            <a:spLocks xmlns:a="http://schemas.openxmlformats.org/drawingml/2006/main" noGrp="1"/>
          </p:cNvSpPr>
          <p:nvPr/>
        </p:nvSpPr>
        <p:spPr>
          <a:xfrm xmlns:a="http://schemas.openxmlformats.org/drawingml/2006/main">
            <a:off x="0" y="0"/>
            <a:ext cx="12192000" cy="6858000"/>
          </a:xfrm>
          <a:custGeom xmlns:a="http://schemas.openxmlformats.org/drawingml/2006/main">
            <a:rect l="l" t="t" r="r" b="b"/>
            <a:pathLst>
              <a:path w="12192000" h="6858000">
                <a:moveTo>
                  <a:pt x="12191999" y="6857999"/>
                </a:moveTo>
                <a:lnTo>
                  <a:pt x="0" y="6857999"/>
                </a:lnTo>
                <a:lnTo>
                  <a:pt x="0" y="0"/>
                </a:lnTo>
                <a:lnTo>
                  <a:pt x="12191999" y="0"/>
                </a:lnTo>
                <a:lnTo>
                  <a:pt x="12191999" y="6857999"/>
                </a:lnTo>
                <a:close/>
              </a:path>
            </a:pathLst>
          </a:custGeom>
          <a:solidFill xmlns:a="http://schemas.openxmlformats.org/drawingml/2006/main">
            <a:srgbClr val="000000"/>
          </a:solidFill>
        </p:spPr>
        <p:txBody>
          <a:bodyPr xmlns:a="http://schemas.openxmlformats.org/drawingml/2006/main" wrap="square" lIns="0" tIns="0" rIns="0" bIns="0"/>
          <a:lstStyle xmlns:a="http://schemas.openxmlformats.org/drawingml/2006/main"/>
          <a:p xmlns:a="http://schemas.openxmlformats.org/drawingml/2006/main"/>
        </p:txBody>
      </p:sp>
      <p:sp>
        <p:nvSpPr>
          <p:cNvPr id="2" name="Holder 2">
            <a:extLst xmlns:a="http://schemas.openxmlformats.org/drawingml/2006/main">
              <a:ext uri="{FF2B5EF4-FFF2-40B4-BE49-F238E27FC236}">
                <a16:creationId xmlns:a16="http://schemas.microsoft.com/office/drawing/2014/main" id="{8F8294A5-3334-43C4-875E-BABCA6F0DF38}"/>
              </a:ext>
            </a:extLst>
          </p:cNvPr>
          <p:cNvSpPr>
            <a:spLocks xmlns:a="http://schemas.openxmlformats.org/drawingml/2006/main" noGrp="1"/>
          </p:cNvSpPr>
          <p:nvPr>
            <p:ph type="title" idx="0"/>
          </p:nvPr>
        </p:nvSpPr>
        <p:spPr>
          <a:xfrm xmlns:a="http://schemas.openxmlformats.org/drawingml/2006/main">
            <a:off x="1796975" y="57702"/>
            <a:ext cx="8805545" cy="745318"/>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3950" b="1" i="0">
                <a:solidFill>
                  <a:schemeClr val="bg1"/>
                </a:solidFill>
                <a:latin typeface="Trebuchet MS"/>
                <a:ea typeface="Trebuchet MS"/>
                <a:cs typeface="Trebuchet MS"/>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2F18BF67-1E25-476B-967F-AC50B364D071}"/>
              </a:ext>
            </a:extLst>
          </p:cNvPr>
          <p:cNvSpPr>
            <a:spLocks xmlns:a="http://schemas.openxmlformats.org/drawingml/2006/main" noGrp="1"/>
          </p:cNvSpPr>
          <p:nvPr>
            <p:ph type="body" idx="1"/>
          </p:nvPr>
        </p:nvSpPr>
        <p:spPr>
          <a:xfrm xmlns:a="http://schemas.openxmlformats.org/drawingml/2006/main">
            <a:off x="1415097" y="2708252"/>
            <a:ext cx="4907280" cy="316865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2750" b="0" i="0">
                <a:solidFill>
                  <a:schemeClr val="bg1"/>
                </a:solidFill>
                <a:latin typeface="Trebuchet MS"/>
                <a:ea typeface="Trebuchet MS"/>
                <a:cs typeface="Trebuchet MS"/>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9F33E828-F1B7-4959-89AC-08BC61CD0DC1}"/>
              </a:ext>
            </a:extLst>
          </p:cNvPr>
          <p:cNvSpPr>
            <a:spLocks xmlns:a="http://schemas.openxmlformats.org/drawingml/2006/main" noGrp="1"/>
          </p:cNvSpPr>
          <p:nvPr>
            <p:ph type="ftr" idx="5"/>
          </p:nvPr>
        </p:nvSpPr>
        <p:spPr>
          <a:xfrm xmlns:a="http://schemas.openxmlformats.org/drawingml/2006/main">
            <a:off x="4145280" y="6377940"/>
            <a:ext cx="3901440" cy="34290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83F1FD0C-430A-4529-9988-057ECF1B7FC5}"/>
              </a:ext>
            </a:extLst>
          </p:cNvPr>
          <p:cNvSpPr>
            <a:spLocks xmlns:a="http://schemas.openxmlformats.org/drawingml/2006/main" noGrp="1"/>
          </p:cNvSpPr>
          <p:nvPr>
            <p:ph type="dt" idx="6"/>
          </p:nvPr>
        </p:nvSpPr>
        <p:spPr>
          <a:xfrm xmlns:a="http://schemas.openxmlformats.org/drawingml/2006/main">
            <a:off x="609600" y="6377940"/>
            <a:ext cx="2804160" cy="34290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l">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20EF33EC-54E8-40B2-8CC4-8CC826ED5B78}"/>
              </a:ext>
            </a:extLst>
          </p:cNvPr>
          <p:cNvSpPr>
            <a:spLocks xmlns:a="http://schemas.openxmlformats.org/drawingml/2006/main" noGrp="1"/>
          </p:cNvSpPr>
          <p:nvPr>
            <p:ph type="sldNum" idx="7"/>
          </p:nvPr>
        </p:nvSpPr>
        <p:spPr>
          <a:xfrm xmlns:a="http://schemas.openxmlformats.org/drawingml/2006/main">
            <a:off x="8778240" y="6377940"/>
            <a:ext cx="2804160" cy="34290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r">
              <a:buNone/>
              <a:defRPr>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ff74a75ffb4dfe"/>
    <p:sldLayoutId xmlns:r="http://schemas.openxmlformats.org/officeDocument/2006/relationships" id="2147483650" r:id="Rcc3a0a512ce84b34"/>
    <p:sldLayoutId xmlns:r="http://schemas.openxmlformats.org/officeDocument/2006/relationships" id="2147483651" r:id="R81cbdc0b38f1450c"/>
    <p:sldLayoutId xmlns:r="http://schemas.openxmlformats.org/officeDocument/2006/relationships" id="2147483652" r:id="R669dc2c059a04022"/>
    <p:sldLayoutId xmlns:r="http://schemas.openxmlformats.org/officeDocument/2006/relationships" id="2147483653" r:id="R253e1f4ff8b34e50"/>
  </p:sldLayoutIdLst>
  <p:txStyles>
    <p:titleStyle>
      <a:lvl1pPr xmlns:a="http://schemas.openxmlformats.org/drawingml/2006/main">
        <a:buNone/>
        <a:defRPr>
          <a:latin typeface="+mj-lt"/>
          <a:ea typeface="+mj-lt"/>
          <a:cs typeface="+mj-lt"/>
        </a:defRPr>
      </a:lvl1pPr>
    </p:titleStyle>
    <p:bodyStyle>
      <a:lvl1pPr xmlns:a="http://schemas.openxmlformats.org/drawingml/2006/main" marL="0">
        <a:buNone/>
        <a:defRPr>
          <a:latin typeface="+mn-lt"/>
          <a:ea typeface="+mn-lt"/>
          <a:cs typeface="+mn-lt"/>
        </a:defRPr>
      </a:lvl1pPr>
      <a:lvl2pPr xmlns:a="http://schemas.openxmlformats.org/drawingml/2006/main" marL="457200">
        <a:buNone/>
        <a:defRPr>
          <a:latin typeface="+mn-lt"/>
          <a:ea typeface="+mn-lt"/>
          <a:cs typeface="+mn-lt"/>
        </a:defRPr>
      </a:lvl2pPr>
      <a:lvl3pPr xmlns:a="http://schemas.openxmlformats.org/drawingml/2006/main" marL="914400">
        <a:buNone/>
        <a:defRPr>
          <a:latin typeface="+mn-lt"/>
          <a:ea typeface="+mn-lt"/>
          <a:cs typeface="+mn-lt"/>
        </a:defRPr>
      </a:lvl3pPr>
      <a:lvl4pPr xmlns:a="http://schemas.openxmlformats.org/drawingml/2006/main" marL="1371600">
        <a:buNone/>
        <a:defRPr>
          <a:latin typeface="+mn-lt"/>
          <a:ea typeface="+mn-lt"/>
          <a:cs typeface="+mn-lt"/>
        </a:defRPr>
      </a:lvl4pPr>
      <a:lvl5pPr xmlns:a="http://schemas.openxmlformats.org/drawingml/2006/main" marL="1828800">
        <a:buNone/>
        <a:defRPr>
          <a:latin typeface="+mn-lt"/>
          <a:ea typeface="+mn-lt"/>
          <a:cs typeface="+mn-lt"/>
        </a:defRPr>
      </a:lvl5pPr>
      <a:lvl6pPr xmlns:a="http://schemas.openxmlformats.org/drawingml/2006/main" marL="2286000">
        <a:buNone/>
        <a:defRPr>
          <a:latin typeface="+mn-lt"/>
          <a:ea typeface="+mn-lt"/>
          <a:cs typeface="+mn-lt"/>
        </a:defRPr>
      </a:lvl6pPr>
      <a:lvl7pPr xmlns:a="http://schemas.openxmlformats.org/drawingml/2006/main" marL="2743200">
        <a:buNone/>
        <a:defRPr>
          <a:latin typeface="+mn-lt"/>
          <a:ea typeface="+mn-lt"/>
          <a:cs typeface="+mn-lt"/>
        </a:defRPr>
      </a:lvl7pPr>
      <a:lvl8pPr xmlns:a="http://schemas.openxmlformats.org/drawingml/2006/main" marL="3200400">
        <a:buNone/>
        <a:defRPr>
          <a:latin typeface="+mn-lt"/>
          <a:ea typeface="+mn-lt"/>
          <a:cs typeface="+mn-lt"/>
        </a:defRPr>
      </a:lvl8pPr>
      <a:lvl9pPr xmlns:a="http://schemas.openxmlformats.org/drawingml/2006/main" marL="3657600">
        <a:buNone/>
        <a:defRPr>
          <a:latin typeface="+mn-lt"/>
          <a:ea typeface="+mn-lt"/>
          <a:cs typeface="+mn-lt"/>
        </a:defRPr>
      </a:lvl9pPr>
    </p:bodyStyle>
    <p:otherStyle>
      <a:lvl1pPr xmlns:a="http://schemas.openxmlformats.org/drawingml/2006/main" marL="0">
        <a:buNone/>
        <a:defRPr>
          <a:latin typeface="+mn-lt"/>
          <a:ea typeface="+mn-lt"/>
          <a:cs typeface="+mn-lt"/>
        </a:defRPr>
      </a:lvl1pPr>
      <a:lvl2pPr xmlns:a="http://schemas.openxmlformats.org/drawingml/2006/main" marL="457200">
        <a:buNone/>
        <a:defRPr>
          <a:latin typeface="+mn-lt"/>
          <a:ea typeface="+mn-lt"/>
          <a:cs typeface="+mn-lt"/>
        </a:defRPr>
      </a:lvl2pPr>
      <a:lvl3pPr xmlns:a="http://schemas.openxmlformats.org/drawingml/2006/main" marL="914400">
        <a:buNone/>
        <a:defRPr>
          <a:latin typeface="+mn-lt"/>
          <a:ea typeface="+mn-lt"/>
          <a:cs typeface="+mn-lt"/>
        </a:defRPr>
      </a:lvl3pPr>
      <a:lvl4pPr xmlns:a="http://schemas.openxmlformats.org/drawingml/2006/main" marL="1371600">
        <a:buNone/>
        <a:defRPr>
          <a:latin typeface="+mn-lt"/>
          <a:ea typeface="+mn-lt"/>
          <a:cs typeface="+mn-lt"/>
        </a:defRPr>
      </a:lvl4pPr>
      <a:lvl5pPr xmlns:a="http://schemas.openxmlformats.org/drawingml/2006/main" marL="1828800">
        <a:buNone/>
        <a:defRPr>
          <a:latin typeface="+mn-lt"/>
          <a:ea typeface="+mn-lt"/>
          <a:cs typeface="+mn-lt"/>
        </a:defRPr>
      </a:lvl5pPr>
      <a:lvl6pPr xmlns:a="http://schemas.openxmlformats.org/drawingml/2006/main" marL="2286000">
        <a:buNone/>
        <a:defRPr>
          <a:latin typeface="+mn-lt"/>
          <a:ea typeface="+mn-lt"/>
          <a:cs typeface="+mn-lt"/>
        </a:defRPr>
      </a:lvl6pPr>
      <a:lvl7pPr xmlns:a="http://schemas.openxmlformats.org/drawingml/2006/main" marL="2743200">
        <a:buNone/>
        <a:defRPr>
          <a:latin typeface="+mn-lt"/>
          <a:ea typeface="+mn-lt"/>
          <a:cs typeface="+mn-lt"/>
        </a:defRPr>
      </a:lvl7pPr>
      <a:lvl8pPr xmlns:a="http://schemas.openxmlformats.org/drawingml/2006/main" marL="3200400">
        <a:buNone/>
        <a:defRPr>
          <a:latin typeface="+mn-lt"/>
          <a:ea typeface="+mn-lt"/>
          <a:cs typeface="+mn-lt"/>
        </a:defRPr>
      </a:lvl8pPr>
      <a:lvl9pPr xmlns:a="http://schemas.openxmlformats.org/drawingml/2006/main" marL="3657600">
        <a:buNone/>
        <a:defRPr>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b0bacfc7889434e" /><Relationship Type="http://schemas.openxmlformats.org/officeDocument/2006/relationships/image" Target="/ppt/media/image.png" Id="R1ccec0a1b9a048a2" /><Relationship Type="http://schemas.openxmlformats.org/officeDocument/2006/relationships/image" Target="/ppt/media/image2.png" Id="Rb5c17e59e8444550" /><Relationship Type="http://schemas.openxmlformats.org/officeDocument/2006/relationships/image" Target="/ppt/media/image3.png" Id="R02ae1cca5c944857" /><Relationship Type="http://schemas.openxmlformats.org/officeDocument/2006/relationships/notesSlide" Target="/ppt/notesSlides/notesSlide1.xml" Id="R743e84ae060d4e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dccdd1e8f7b40cc" /><Relationship Type="http://schemas.openxmlformats.org/officeDocument/2006/relationships/image" Target="/ppt/media/image4.png" Id="R8c77766338b14bc9" /><Relationship Type="http://schemas.openxmlformats.org/officeDocument/2006/relationships/image" Target="/ppt/media/image5.png" Id="R2d78943acbd247eb" /><Relationship Type="http://schemas.openxmlformats.org/officeDocument/2006/relationships/image" Target="/ppt/media/image6.png" Id="R2319d71a84dd49cd" /><Relationship Type="http://schemas.openxmlformats.org/officeDocument/2006/relationships/image" Target="/ppt/media/image7.png" Id="Rc3e5893c8bed40fc" /><Relationship Type="http://schemas.openxmlformats.org/officeDocument/2006/relationships/image" Target="/ppt/media/image3.png" Id="Rabf10af94a4e409a" /><Relationship Type="http://schemas.openxmlformats.org/officeDocument/2006/relationships/notesSlide" Target="/ppt/notesSlides/notesSlide2.xml" Id="Rcc78cebc89aa47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0c5aaa70ddd49f3" /><Relationship Type="http://schemas.openxmlformats.org/officeDocument/2006/relationships/image" Target="/ppt/media/image5.png" Id="Ra709ec24123c4a21" /><Relationship Type="http://schemas.openxmlformats.org/officeDocument/2006/relationships/image" Target="/ppt/media/image4.png" Id="Rd7495cc4a860477c" /><Relationship Type="http://schemas.openxmlformats.org/officeDocument/2006/relationships/image" Target="/ppt/media/image8.png" Id="R16d8a7b6099f47eb" /><Relationship Type="http://schemas.openxmlformats.org/officeDocument/2006/relationships/image" Target="/ppt/media/image6.png" Id="R31d150ae0a814296" /><Relationship Type="http://schemas.openxmlformats.org/officeDocument/2006/relationships/image" Target="/ppt/media/image3.png" Id="R73d1d9ef90674f41" /><Relationship Type="http://schemas.openxmlformats.org/officeDocument/2006/relationships/notesSlide" Target="/ppt/notesSlides/notesSlide3.xml" Id="R0174e5f87eb045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6dff278551a4a2f" /><Relationship Type="http://schemas.openxmlformats.org/officeDocument/2006/relationships/image" Target="/ppt/media/image5.png" Id="Rd7eb82ecf62b467a" /><Relationship Type="http://schemas.openxmlformats.org/officeDocument/2006/relationships/image" Target="/ppt/media/image4.png" Id="Rd4d5fd95c044485d" /><Relationship Type="http://schemas.openxmlformats.org/officeDocument/2006/relationships/image" Target="/ppt/media/image6.png" Id="Rce6569957f274bec" /><Relationship Type="http://schemas.openxmlformats.org/officeDocument/2006/relationships/image" Target="/ppt/media/image3.png" Id="R9acef52bedae4733" /><Relationship Type="http://schemas.openxmlformats.org/officeDocument/2006/relationships/notesSlide" Target="/ppt/notesSlides/notesSlide4.xml" Id="Rc6d6e44cadc643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e09b776be634a24" /><Relationship Type="http://schemas.openxmlformats.org/officeDocument/2006/relationships/image" Target="/ppt/media/image5.png" Id="R2027f7f03a374670" /><Relationship Type="http://schemas.openxmlformats.org/officeDocument/2006/relationships/image" Target="/ppt/media/image6.png" Id="Rf4b699579def4231" /><Relationship Type="http://schemas.openxmlformats.org/officeDocument/2006/relationships/image" Target="/ppt/media/image4.png" Id="Rd299cdce51044415" /><Relationship Type="http://schemas.openxmlformats.org/officeDocument/2006/relationships/image" Target="/ppt/media/image3.png" Id="R7973b379d4e94ba3" /><Relationship Type="http://schemas.openxmlformats.org/officeDocument/2006/relationships/notesSlide" Target="/ppt/notesSlides/notesSlide5.xml" Id="Rb8a8b645c0104f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a3a2cd7c94b485b" /><Relationship Type="http://schemas.openxmlformats.org/officeDocument/2006/relationships/image" Target="/ppt/media/image5.png" Id="R62b3eccfc6bd44ae" /><Relationship Type="http://schemas.openxmlformats.org/officeDocument/2006/relationships/image" Target="/ppt/media/image4.png" Id="Ra2f52edb93304154" /><Relationship Type="http://schemas.openxmlformats.org/officeDocument/2006/relationships/image" Target="/ppt/media/image6.png" Id="R558fc2d24844479f" /><Relationship Type="http://schemas.openxmlformats.org/officeDocument/2006/relationships/image" Target="/ppt/media/image3.png" Id="R6c2428cb3b874663" /><Relationship Type="http://schemas.openxmlformats.org/officeDocument/2006/relationships/notesSlide" Target="/ppt/notesSlides/notesSlide6.xml" Id="Raf73e41d32f14be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object 2"/>
          <p:cNvPicPr>
            <a:picLocks xmlns:a="http://schemas.openxmlformats.org/drawingml/2006/main" noChangeAspect="1"/>
          </p:cNvPicPr>
          <p:nvPr/>
        </p:nvPicPr>
        <p:blipFill>
          <a:blip xmlns:r="http://schemas.openxmlformats.org/officeDocument/2006/relationships" xmlns:a="http://schemas.openxmlformats.org/drawingml/2006/main" r:embed="R1ccec0a1b9a048a2"/>
          <a:stretch xmlns:a="http://schemas.openxmlformats.org/drawingml/2006/main">
            <a:fillRect l="0" t="0" r="0" b="0"/>
          </a:stretch>
        </p:blipFill>
        <p:spPr>
          <a:xfrm xmlns:a="http://schemas.openxmlformats.org/drawingml/2006/main">
            <a:off x="10315575" y="0"/>
            <a:ext cx="1876424" cy="1628774"/>
          </a:xfrm>
          <a:prstGeom xmlns:a="http://schemas.openxmlformats.org/drawingml/2006/main" prst="rect">
            <a:avLst/>
          </a:prstGeom>
        </p:spPr>
      </p:pic>
      <p:pic>
        <p:nvPicPr>
          <p:cNvPr id="11" name="object 3"/>
          <p:cNvPicPr>
            <a:picLocks xmlns:a="http://schemas.openxmlformats.org/drawingml/2006/main" noChangeAspect="1"/>
          </p:cNvPicPr>
          <p:nvPr/>
        </p:nvPicPr>
        <p:blipFill>
          <a:blip xmlns:r="http://schemas.openxmlformats.org/officeDocument/2006/relationships" xmlns:a="http://schemas.openxmlformats.org/drawingml/2006/main" r:embed="Rb5c17e59e8444550"/>
          <a:stretch xmlns:a="http://schemas.openxmlformats.org/drawingml/2006/main">
            <a:fillRect l="0" t="0" r="0" b="0"/>
          </a:stretch>
        </p:blipFill>
        <p:spPr>
          <a:xfrm xmlns:a="http://schemas.openxmlformats.org/drawingml/2006/main">
            <a:off x="76199" y="533400"/>
            <a:ext cx="2028498" cy="968835"/>
          </a:xfrm>
          <a:prstGeom xmlns:a="http://schemas.openxmlformats.org/drawingml/2006/main" prst="rect">
            <a:avLst/>
          </a:prstGeom>
        </p:spPr>
      </p:pic>
      <p:pic>
        <p:nvPicPr>
          <p:cNvPr id="12" name="object 4"/>
          <p:cNvPicPr>
            <a:picLocks xmlns:a="http://schemas.openxmlformats.org/drawingml/2006/main" noChangeAspect="1"/>
          </p:cNvPicPr>
          <p:nvPr/>
        </p:nvPicPr>
        <p:blipFill>
          <a:blip xmlns:r="http://schemas.openxmlformats.org/officeDocument/2006/relationships" xmlns:a="http://schemas.openxmlformats.org/drawingml/2006/main" r:embed="R02ae1cca5c944857"/>
          <a:stretch xmlns:a="http://schemas.openxmlformats.org/drawingml/2006/main">
            <a:fillRect l="0" t="0" r="0" b="0"/>
          </a:stretch>
        </p:blipFill>
        <p:spPr>
          <a:xfrm xmlns:a="http://schemas.openxmlformats.org/drawingml/2006/main" flipH="0" flipV="0">
            <a:off x="7477125" y="1809750"/>
            <a:ext cx="3905250" cy="4095750"/>
          </a:xfrm>
          <a:prstGeom xmlns:a="http://schemas.openxmlformats.org/drawingml/2006/main" prst="rect">
            <a:avLst/>
          </a:prstGeom>
        </p:spPr>
      </p:pic>
      <p:sp>
        <p:nvSpPr>
          <p:cNvPr id="5" name="object 5">
            <a:extLst xmlns:a="http://schemas.openxmlformats.org/drawingml/2006/main">
              <a:ext uri="{FF2B5EF4-FFF2-40B4-BE49-F238E27FC236}">
                <a16:creationId xmlns:a16="http://schemas.microsoft.com/office/drawing/2014/main" id="{81C814DA-0891-4F45-8D24-D0A12325DA11}"/>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wrap="square" lIns="0" tIns="259543" rIns="0" bIns="0">
            <a:spAutoFit/>
          </a:bodyPr>
          <a:lstStyle xmlns:a="http://schemas.openxmlformats.org/drawingml/2006/main"/>
          <a:p xmlns:a="http://schemas.openxmlformats.org/drawingml/2006/main">
            <a:pPr marL="12700">
              <a:lnSpc>
                <a:spcPct val="100000"/>
              </a:lnSpc>
              <a:spcBef>
                <a:spcPts val="105"/>
              </a:spcBef>
              <a:buNone/>
            </a:pPr>
            <a:r>
              <a:rPr sz="3100"/>
              <a:t>Vibeathon</a:t>
            </a:r>
            <a:r>
              <a:rPr sz="3100"/>
              <a:t> </a:t>
            </a:r>
            <a:r>
              <a:rPr sz="3100"/>
              <a:t>6.0</a:t>
            </a:r>
            <a:r>
              <a:rPr sz="3100"/>
              <a:t> </a:t>
            </a:r>
            <a:r>
              <a:rPr sz="3100"/>
              <a:t>(Vibecoding</a:t>
            </a:r>
            <a:r>
              <a:rPr sz="3100"/>
              <a:t> </a:t>
            </a:r>
            <a:r>
              <a:rPr sz="3100"/>
              <a:t>Hackathon)</a:t>
            </a:r>
            <a:r>
              <a:rPr sz="3100"/>
              <a:t> </a:t>
            </a:r>
            <a:r>
              <a:rPr sz="3100"/>
              <a:t>–</a:t>
            </a:r>
            <a:r>
              <a:rPr sz="3100"/>
              <a:t> </a:t>
            </a:r>
            <a:r>
              <a:rPr sz="3100"/>
              <a:t>July</a:t>
            </a:r>
            <a:r>
              <a:rPr sz="3100"/>
              <a:t> </a:t>
            </a:r>
            <a:r>
              <a:rPr sz="3100"/>
              <a:t>2026</a:t>
            </a:r>
          </a:p>
        </p:txBody>
      </p:sp>
      <p:sp>
        <p:nvSpPr>
          <p:cNvPr id="6" name="object 6">
            <a:extLst xmlns:a="http://schemas.openxmlformats.org/drawingml/2006/main">
              <a:ext uri="{FF2B5EF4-FFF2-40B4-BE49-F238E27FC236}">
                <a16:creationId xmlns:a16="http://schemas.microsoft.com/office/drawing/2014/main" id="{8EDBA88E-A9CB-44EF-A6D3-D8C40DB4B14C}"/>
              </a:ext>
            </a:extLst>
          </p:cNvPr>
          <p:cNvSpPr>
            <a:spLocks xmlns:a="http://schemas.openxmlformats.org/drawingml/2006/main" noGrp="1"/>
          </p:cNvSpPr>
          <p:nvPr/>
        </p:nvSpPr>
        <p:spPr>
          <a:xfrm xmlns:a="http://schemas.openxmlformats.org/drawingml/2006/main">
            <a:off x="323850" y="1619250"/>
            <a:ext cx="6667500" cy="4095750"/>
          </a:xfrm>
          <a:prstGeom xmlns:a="http://schemas.openxmlformats.org/drawingml/2006/main" prst="rect">
            <a:avLst/>
          </a:prstGeom>
        </p:spPr>
        <p:txBody>
          <a:bodyPr xmlns:a="http://schemas.openxmlformats.org/drawingml/2006/main" vert="horz" wrap="square" lIns="0" tIns="13335" rIns="0" bIns="0">
            <a:spAutoFit/>
          </a:bodyPr>
          <a:lstStyle xmlns:a="http://schemas.openxmlformats.org/drawingml/2006/main"/>
          <a:p xmlns:a="http://schemas.openxmlformats.org/drawingml/2006/main">
            <a:pPr marL="4468495" algn="l">
              <a:lnSpc>
                <a:spcPct val="100000"/>
              </a:lnSpc>
              <a:spcBef>
                <a:spcPts val="105"/>
              </a:spcBef>
              <a:buNone/>
            </a:pPr>
            <a:r>
              <a:rPr sz="2175">
                <a:solidFill>
                  <a:srgbClr val="FFFFFF"/>
                </a:solidFill>
                <a:latin typeface="Trebuchet MS"/>
                <a:ea typeface="Trebuchet MS"/>
                <a:cs typeface="Trebuchet MS"/>
              </a:rPr>
              <a:t>FLOWDINE AI — LIVE RESTAURANT DIGITAL TWIN</a:t>
            </a:r>
          </a:p>
          <a:p xmlns:a="http://schemas.openxmlformats.org/drawingml/2006/main">
            <a:pPr>
              <a:lnSpc>
                <a:spcPct val="100000"/>
              </a:lnSpc>
              <a:spcBef>
                <a:spcPts val="435"/>
              </a:spcBef>
              <a:buNone/>
            </a:pPr>
            <a:r>
              <a:t/>
            </a:r>
          </a:p>
          <a:p xmlns:a="http://schemas.openxmlformats.org/drawingml/2006/main">
            <a:pPr marL="12700" algn="l">
              <a:lnSpc>
                <a:spcPct val="100000"/>
              </a:lnSpc>
              <a:buNone/>
            </a:pPr>
            <a:r>
              <a:rPr sz="2175" b="1">
                <a:solidFill>
                  <a:srgbClr val="FFFFFF"/>
                </a:solidFill>
                <a:latin typeface="Trebuchet MS"/>
                <a:ea typeface="Trebuchet MS"/>
                <a:cs typeface="Trebuchet MS"/>
              </a:rPr>
              <a:t>Team: FlowDine AI</a:t>
            </a:r>
          </a:p>
          <a:p xmlns:a="http://schemas.openxmlformats.org/drawingml/2006/main">
            <a:pPr marL="12700" marR="594995" algn="l">
              <a:lnSpc>
                <a:spcPct val="148000"/>
              </a:lnSpc>
              <a:buNone/>
            </a:pPr>
            <a:r>
              <a:rPr sz="2175" b="1">
                <a:solidFill>
                  <a:srgbClr val="FFFFFF"/>
                </a:solidFill>
                <a:latin typeface="Trebuchet MS"/>
                <a:ea typeface="Trebuchet MS"/>
                <a:cs typeface="Trebuchet MS"/>
              </a:rPr>
              <a:t>Leader: [Add Your Name]</a:t>
            </a:r>
          </a:p>
          <a:p xmlns:a="http://schemas.openxmlformats.org/drawingml/2006/main">
            <a:pPr marL="12700" algn="l">
              <a:lnSpc>
                <a:spcPct val="100000"/>
              </a:lnSpc>
              <a:spcBef>
                <a:spcPts val="1725"/>
              </a:spcBef>
              <a:buNone/>
            </a:pPr>
            <a:r>
              <a:rPr sz="2175" b="1">
                <a:solidFill>
                  <a:srgbClr val="FFFFFF"/>
                </a:solidFill>
                <a:latin typeface="Trebuchet MS"/>
                <a:ea typeface="Trebuchet MS"/>
                <a:cs typeface="Trebuchet MS"/>
              </a:rPr>
              <a:t>College: [Add College Name]</a:t>
            </a:r>
          </a:p>
          <a:p xmlns:a="http://schemas.openxmlformats.org/drawingml/2006/main">
            <a:pPr marL="12700" marR="5080" algn="l">
              <a:lnSpc>
                <a:spcPct val="148000"/>
              </a:lnSpc>
              <a:buNone/>
            </a:pPr>
            <a:r>
              <a:rPr sz="2175" b="1">
                <a:solidFill>
                  <a:srgbClr val="FFFFFF"/>
                </a:solidFill>
                <a:latin typeface="Trebuchet MS"/>
                <a:ea typeface="Trebuchet MS"/>
                <a:cs typeface="Trebuchet MS"/>
              </a:rPr>
              <a:t>Year &amp; Department: [Add Year &amp; Department]</a:t>
            </a:r>
          </a:p>
          <a:p xmlns:a="http://schemas.openxmlformats.org/drawingml/2006/main">
            <a:pPr marL="12700" marR="5080" algn="l">
              <a:lnSpc>
                <a:spcPct val="148000"/>
              </a:lnSpc>
              <a:buNone/>
            </a:pPr>
            <a:r>
              <a:rPr sz="2175" b="1">
                <a:solidFill>
                  <a:srgbClr val="FFFFFF"/>
                </a:solidFill>
                <a:latin typeface="Trebuchet MS"/>
                <a:ea typeface="Trebuchet MS"/>
                <a:cs typeface="Trebuchet MS"/>
              </a:rPr>
              <a:t>Project: Smart Restaurant Management System</a:t>
            </a:r>
          </a:p>
        </p:txBody>
      </p:sp>
    </p:spTree>
    <p:extLst>
      <p:ext uri="{BB962C8B-B14F-4D97-AF65-F5344CB8AC3E}">
        <p14:creationId xmlns:p14="http://schemas.microsoft.com/office/powerpoint/2010/main" val="172730373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0" name="object 2"/>
          <p:cNvPicPr>
            <a:picLocks xmlns:a="http://schemas.openxmlformats.org/drawingml/2006/main" noChangeAspect="1"/>
          </p:cNvPicPr>
          <p:nvPr/>
        </p:nvPicPr>
        <p:blipFill>
          <a:blip xmlns:r="http://schemas.openxmlformats.org/officeDocument/2006/relationships" xmlns:a="http://schemas.openxmlformats.org/drawingml/2006/main" r:embed="R8c77766338b14bc9"/>
          <a:stretch xmlns:a="http://schemas.openxmlformats.org/drawingml/2006/main">
            <a:fillRect l="0" t="0" r="0" b="0"/>
          </a:stretch>
        </p:blipFill>
        <p:spPr>
          <a:xfrm xmlns:a="http://schemas.openxmlformats.org/drawingml/2006/main">
            <a:off x="41271" y="3171"/>
            <a:ext cx="1485899" cy="1057274"/>
          </a:xfrm>
          <a:prstGeom xmlns:a="http://schemas.openxmlformats.org/drawingml/2006/main" prst="rect">
            <a:avLst/>
          </a:prstGeom>
        </p:spPr>
      </p:pic>
      <p:pic>
        <p:nvPicPr>
          <p:cNvPr id="21" name="object 3"/>
          <p:cNvPicPr>
            <a:picLocks xmlns:a="http://schemas.openxmlformats.org/drawingml/2006/main" noChangeAspect="1"/>
          </p:cNvPicPr>
          <p:nvPr/>
        </p:nvPicPr>
        <p:blipFill>
          <a:blip xmlns:r="http://schemas.openxmlformats.org/officeDocument/2006/relationships" xmlns:a="http://schemas.openxmlformats.org/drawingml/2006/main" r:embed="R2d78943acbd247eb"/>
          <a:stretch xmlns:a="http://schemas.openxmlformats.org/drawingml/2006/main">
            <a:fillRect l="0" t="0" r="0" b="0"/>
          </a:stretch>
        </p:blipFill>
        <p:spPr>
          <a:xfrm xmlns:a="http://schemas.openxmlformats.org/drawingml/2006/main">
            <a:off x="11277599" y="0"/>
            <a:ext cx="914399" cy="989409"/>
          </a:xfrm>
          <a:prstGeom xmlns:a="http://schemas.openxmlformats.org/drawingml/2006/main" prst="rect">
            <a:avLst/>
          </a:prstGeom>
        </p:spPr>
      </p:pic>
      <p:sp>
        <p:nvSpPr>
          <p:cNvPr id="4" name="object 4">
            <a:extLst xmlns:a="http://schemas.openxmlformats.org/drawingml/2006/main">
              <a:ext uri="{FF2B5EF4-FFF2-40B4-BE49-F238E27FC236}">
                <a16:creationId xmlns:a16="http://schemas.microsoft.com/office/drawing/2014/main" id="{AE6F7D88-1393-44E4-9315-6501A5AF80F8}"/>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wrap="square" lIns="0" tIns="85144" rIns="0" bIns="0">
            <a:spAutoFit/>
          </a:bodyPr>
          <a:lstStyle xmlns:a="http://schemas.openxmlformats.org/drawingml/2006/main"/>
          <a:p xmlns:a="http://schemas.openxmlformats.org/drawingml/2006/main">
            <a:pPr marL="2245995">
              <a:lnSpc>
                <a:spcPct val="100000"/>
              </a:lnSpc>
              <a:spcBef>
                <a:spcPts val="130"/>
              </a:spcBef>
              <a:buNone/>
            </a:pPr>
            <a:r>
              <a:t>CURRENT</a:t>
            </a:r>
            <a:r>
              <a:t> </a:t>
            </a:r>
            <a:r>
              <a:t>PROBLEM</a:t>
            </a:r>
          </a:p>
        </p:txBody>
      </p:sp>
      <p:pic>
        <p:nvPicPr>
          <p:cNvPr id="23" name="object 5"/>
          <p:cNvPicPr>
            <a:picLocks xmlns:a="http://schemas.openxmlformats.org/drawingml/2006/main" noChangeAspect="1"/>
          </p:cNvPicPr>
          <p:nvPr/>
        </p:nvPicPr>
        <p:blipFill>
          <a:blip xmlns:r="http://schemas.openxmlformats.org/officeDocument/2006/relationships" xmlns:a="http://schemas.openxmlformats.org/drawingml/2006/main" r:embed="R2319d71a84dd49cd"/>
          <a:stretch xmlns:a="http://schemas.openxmlformats.org/drawingml/2006/main">
            <a:fillRect l="0" t="0" r="0" b="0"/>
          </a:stretch>
        </p:blipFill>
        <p:spPr>
          <a:xfrm xmlns:a="http://schemas.openxmlformats.org/drawingml/2006/main">
            <a:off x="1151572" y="3126603"/>
            <a:ext cx="104775" cy="104774"/>
          </a:xfrm>
          <a:prstGeom xmlns:a="http://schemas.openxmlformats.org/drawingml/2006/main" prst="rect">
            <a:avLst/>
          </a:prstGeom>
        </p:spPr>
      </p:pic>
      <p:pic>
        <p:nvPicPr>
          <p:cNvPr id="24" name="object 6"/>
          <p:cNvPicPr>
            <a:picLocks xmlns:a="http://schemas.openxmlformats.org/drawingml/2006/main" noChangeAspect="1"/>
          </p:cNvPicPr>
          <p:nvPr/>
        </p:nvPicPr>
        <p:blipFill>
          <a:blip xmlns:r="http://schemas.openxmlformats.org/officeDocument/2006/relationships" xmlns:a="http://schemas.openxmlformats.org/drawingml/2006/main" r:embed="R2319d71a84dd49cd"/>
          <a:stretch xmlns:a="http://schemas.openxmlformats.org/drawingml/2006/main">
            <a:fillRect l="0" t="0" r="0" b="0"/>
          </a:stretch>
        </p:blipFill>
        <p:spPr>
          <a:xfrm xmlns:a="http://schemas.openxmlformats.org/drawingml/2006/main">
            <a:off x="1151572" y="3755252"/>
            <a:ext cx="104775" cy="104774"/>
          </a:xfrm>
          <a:prstGeom xmlns:a="http://schemas.openxmlformats.org/drawingml/2006/main" prst="rect">
            <a:avLst/>
          </a:prstGeom>
        </p:spPr>
      </p:pic>
      <p:pic>
        <p:nvPicPr>
          <p:cNvPr id="25" name="object 7"/>
          <p:cNvPicPr>
            <a:picLocks xmlns:a="http://schemas.openxmlformats.org/drawingml/2006/main" noChangeAspect="1"/>
          </p:cNvPicPr>
          <p:nvPr/>
        </p:nvPicPr>
        <p:blipFill>
          <a:blip xmlns:r="http://schemas.openxmlformats.org/officeDocument/2006/relationships" xmlns:a="http://schemas.openxmlformats.org/drawingml/2006/main" r:embed="R2319d71a84dd49cd"/>
          <a:stretch xmlns:a="http://schemas.openxmlformats.org/drawingml/2006/main">
            <a:fillRect l="0" t="0" r="0" b="0"/>
          </a:stretch>
        </p:blipFill>
        <p:spPr>
          <a:xfrm xmlns:a="http://schemas.openxmlformats.org/drawingml/2006/main">
            <a:off x="1151572" y="4383902"/>
            <a:ext cx="104775" cy="104774"/>
          </a:xfrm>
          <a:prstGeom xmlns:a="http://schemas.openxmlformats.org/drawingml/2006/main" prst="rect">
            <a:avLst/>
          </a:prstGeom>
        </p:spPr>
      </p:pic>
      <p:pic>
        <p:nvPicPr>
          <p:cNvPr id="26" name="object 8"/>
          <p:cNvPicPr>
            <a:picLocks xmlns:a="http://schemas.openxmlformats.org/drawingml/2006/main" noChangeAspect="1"/>
          </p:cNvPicPr>
          <p:nvPr/>
        </p:nvPicPr>
        <p:blipFill>
          <a:blip xmlns:r="http://schemas.openxmlformats.org/officeDocument/2006/relationships" xmlns:a="http://schemas.openxmlformats.org/drawingml/2006/main" r:embed="Rc3e5893c8bed40fc"/>
          <a:stretch xmlns:a="http://schemas.openxmlformats.org/drawingml/2006/main">
            <a:fillRect l="0" t="0" r="0" b="0"/>
          </a:stretch>
        </p:blipFill>
        <p:spPr>
          <a:xfrm xmlns:a="http://schemas.openxmlformats.org/drawingml/2006/main">
            <a:off x="1151572" y="5012552"/>
            <a:ext cx="104775" cy="104774"/>
          </a:xfrm>
          <a:prstGeom xmlns:a="http://schemas.openxmlformats.org/drawingml/2006/main" prst="rect">
            <a:avLst/>
          </a:prstGeom>
        </p:spPr>
      </p:pic>
      <p:pic>
        <p:nvPicPr>
          <p:cNvPr id="27" name="object 9"/>
          <p:cNvPicPr>
            <a:picLocks xmlns:a="http://schemas.openxmlformats.org/drawingml/2006/main" noChangeAspect="1"/>
          </p:cNvPicPr>
          <p:nvPr/>
        </p:nvPicPr>
        <p:blipFill>
          <a:blip xmlns:r="http://schemas.openxmlformats.org/officeDocument/2006/relationships" xmlns:a="http://schemas.openxmlformats.org/drawingml/2006/main" r:embed="R2319d71a84dd49cd"/>
          <a:stretch xmlns:a="http://schemas.openxmlformats.org/drawingml/2006/main">
            <a:fillRect l="0" t="0" r="0" b="0"/>
          </a:stretch>
        </p:blipFill>
        <p:spPr>
          <a:xfrm xmlns:a="http://schemas.openxmlformats.org/drawingml/2006/main">
            <a:off x="1151572" y="5641202"/>
            <a:ext cx="104775" cy="104774"/>
          </a:xfrm>
          <a:prstGeom xmlns:a="http://schemas.openxmlformats.org/drawingml/2006/main" prst="rect">
            <a:avLst/>
          </a:prstGeom>
        </p:spPr>
      </p:pic>
      <p:sp>
        <p:nvSpPr>
          <p:cNvPr id="10" name="object 10">
            <a:extLst xmlns:a="http://schemas.openxmlformats.org/drawingml/2006/main">
              <a:ext uri="{FF2B5EF4-FFF2-40B4-BE49-F238E27FC236}">
                <a16:creationId xmlns:a16="http://schemas.microsoft.com/office/drawing/2014/main" id="{9295888F-85C5-4757-85B0-28BD53C01289}"/>
              </a:ext>
            </a:extLst>
          </p:cNvPr>
          <p:cNvSpPr>
            <a:spLocks xmlns:a="http://schemas.openxmlformats.org/drawingml/2006/main" noGrp="1"/>
          </p:cNvSpPr>
          <p:nvPr>
            <p:ph type="body" idx="1"/>
          </p:nvPr>
        </p:nvSpPr>
        <p:spPr>
          <a:xfrm xmlns:a="http://schemas.openxmlformats.org/drawingml/2006/main">
            <a:off x="1428750" y="2857500"/>
            <a:ext cx="5095875" cy="3238500"/>
          </a:xfrm>
          <a:prstGeom xmlns:a="http://schemas.openxmlformats.org/drawingml/2006/main" prst="rect">
            <a:avLst/>
          </a:prstGeom>
        </p:spPr>
        <p:txBody>
          <a:bodyPr xmlns:a="http://schemas.openxmlformats.org/drawingml/2006/main" vert="horz" wrap="square" lIns="0" tIns="12065" rIns="0" bIns="0">
            <a:spAutoFit/>
          </a:bodyPr>
          <a:lstStyle xmlns:a="http://schemas.openxmlformats.org/drawingml/2006/main"/>
          <a:p xmlns:a="http://schemas.openxmlformats.org/drawingml/2006/main">
            <a:pPr marL="12700" marR="1899920" algn="l">
              <a:lnSpc>
                <a:spcPct val="150000"/>
              </a:lnSpc>
              <a:spcBef>
                <a:spcPts val="95"/>
              </a:spcBef>
              <a:buNone/>
            </a:pPr>
            <a:r>
              <a:rPr sz="2550"/>
              <a:t>Stockouts after choice</a:t>
            </a:r>
          </a:p>
          <a:p xmlns:a="http://schemas.openxmlformats.org/drawingml/2006/main">
            <a:pPr marL="12700" marR="5080" algn="l">
              <a:lnSpc>
                <a:spcPct val="150000"/>
              </a:lnSpc>
              <a:buNone/>
            </a:pPr>
            <a:r>
              <a:rPr sz="2550"/>
              <a:t>Hidden table waits</a:t>
            </a:r>
          </a:p>
          <a:p xmlns:a="http://schemas.openxmlformats.org/drawingml/2006/main">
            <a:pPr marL="12700" marR="5080" algn="l">
              <a:lnSpc>
                <a:spcPct val="150000"/>
              </a:lnSpc>
              <a:buNone/>
            </a:pPr>
            <a:r>
              <a:rPr sz="2550"/>
              <a:t>Delayed kitchen updates</a:t>
            </a:r>
          </a:p>
          <a:p xmlns:a="http://schemas.openxmlformats.org/drawingml/2006/main">
            <a:pPr marL="12700" marR="5080" algn="l">
              <a:lnSpc>
                <a:spcPct val="150000"/>
              </a:lnSpc>
              <a:buNone/>
            </a:pPr>
            <a:r>
              <a:rPr sz="2550"/>
              <a:t>Manual order &amp; stock</a:t>
            </a:r>
          </a:p>
          <a:p xmlns:a="http://schemas.openxmlformats.org/drawingml/2006/main">
            <a:pPr marL="12700" marR="5080" algn="l">
              <a:lnSpc>
                <a:spcPct val="150000"/>
              </a:lnSpc>
              <a:buNone/>
            </a:pPr>
            <a:r>
              <a:rPr sz="2550"/>
              <a:t>No live manager view</a:t>
            </a:r>
          </a:p>
        </p:txBody>
      </p:sp>
      <p:sp>
        <p:nvSpPr>
          <p:cNvPr id="11" name="object 11">
            <a:extLst xmlns:a="http://schemas.openxmlformats.org/drawingml/2006/main">
              <a:ext uri="{FF2B5EF4-FFF2-40B4-BE49-F238E27FC236}">
                <a16:creationId xmlns:a16="http://schemas.microsoft.com/office/drawing/2014/main" id="{E7DDB696-F3C7-40C9-BA27-BA02CB5BA632}"/>
              </a:ext>
            </a:extLst>
          </p:cNvPr>
          <p:cNvSpPr>
            <a:spLocks xmlns:a="http://schemas.openxmlformats.org/drawingml/2006/main" noGrp="1"/>
          </p:cNvSpPr>
          <p:nvPr/>
        </p:nvSpPr>
        <p:spPr>
          <a:xfrm xmlns:a="http://schemas.openxmlformats.org/drawingml/2006/main">
            <a:off x="242994" y="183884"/>
            <a:ext cx="951865" cy="504825"/>
          </a:xfrm>
          <a:prstGeom xmlns:a="http://schemas.openxmlformats.org/drawingml/2006/main" prst="rect">
            <a:avLst/>
          </a:prstGeom>
        </p:spPr>
        <p:txBody>
          <a:bodyPr xmlns:a="http://schemas.openxmlformats.org/drawingml/2006/main" vert="horz" wrap="square" lIns="0" tIns="45720" rIns="0" bIns="0">
            <a:spAutoFit/>
          </a:bodyPr>
          <a:lstStyle xmlns:a="http://schemas.openxmlformats.org/drawingml/2006/main"/>
          <a:p xmlns:a="http://schemas.openxmlformats.org/drawingml/2006/main">
            <a:pPr algn="ctr">
              <a:lnSpc>
                <a:spcPct val="100000"/>
              </a:lnSpc>
              <a:spcBef>
                <a:spcPts val="360"/>
              </a:spcBef>
              <a:buNone/>
            </a:pPr>
            <a:r>
              <a:rPr sz="1350">
                <a:solidFill>
                  <a:srgbClr val="FFFFFF"/>
                </a:solidFill>
                <a:latin typeface="Verdana"/>
                <a:ea typeface="Verdana"/>
                <a:cs typeface="Verdana"/>
              </a:rPr>
              <a:t>FlowDine</a:t>
            </a:r>
          </a:p>
          <a:p xmlns:a="http://schemas.openxmlformats.org/drawingml/2006/main">
            <a:pPr algn="ctr">
              <a:lnSpc>
                <a:spcPct val="100000"/>
              </a:lnSpc>
              <a:spcBef>
                <a:spcPts val="265"/>
              </a:spcBef>
              <a:buNone/>
            </a:pPr>
            <a:r>
              <a:rPr sz="1350">
                <a:solidFill>
                  <a:srgbClr val="FFFFFF"/>
                </a:solidFill>
                <a:latin typeface="Verdana"/>
                <a:ea typeface="Verdana"/>
                <a:cs typeface="Verdana"/>
              </a:rPr>
              <a:t>AI</a:t>
            </a:r>
          </a:p>
        </p:txBody>
      </p:sp>
      <p:pic>
        <p:nvPicPr>
          <p:cNvPr id="30" name="object 12"/>
          <p:cNvPicPr>
            <a:picLocks xmlns:a="http://schemas.openxmlformats.org/drawingml/2006/main" noChangeAspect="1"/>
          </p:cNvPicPr>
          <p:nvPr/>
        </p:nvPicPr>
        <p:blipFill>
          <a:blip xmlns:r="http://schemas.openxmlformats.org/officeDocument/2006/relationships" xmlns:a="http://schemas.openxmlformats.org/drawingml/2006/main" r:embed="Rabf10af94a4e409a"/>
          <a:stretch xmlns:a="http://schemas.openxmlformats.org/drawingml/2006/main">
            <a:fillRect l="0" t="0" r="0" b="0"/>
          </a:stretch>
        </p:blipFill>
        <p:spPr>
          <a:xfrm xmlns:a="http://schemas.openxmlformats.org/drawingml/2006/main">
            <a:off x="7477125" y="1809750"/>
            <a:ext cx="3905250" cy="4095750"/>
          </a:xfrm>
          <a:prstGeom xmlns:a="http://schemas.openxmlformats.org/drawingml/2006/main" prst="rect">
            <a:avLst/>
          </a:prstGeom>
        </p:spPr>
      </p:pic>
    </p:spTree>
    <p:extLst>
      <p:ext uri="{BB962C8B-B14F-4D97-AF65-F5344CB8AC3E}">
        <p14:creationId xmlns:p14="http://schemas.microsoft.com/office/powerpoint/2010/main" val="26490254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2" name="object 2"/>
          <p:cNvPicPr>
            <a:picLocks xmlns:a="http://schemas.openxmlformats.org/drawingml/2006/main" noChangeAspect="1"/>
          </p:cNvPicPr>
          <p:nvPr/>
        </p:nvPicPr>
        <p:blipFill>
          <a:blip xmlns:r="http://schemas.openxmlformats.org/officeDocument/2006/relationships" xmlns:a="http://schemas.openxmlformats.org/drawingml/2006/main" r:embed="Ra709ec24123c4a21"/>
          <a:stretch xmlns:a="http://schemas.openxmlformats.org/drawingml/2006/main">
            <a:fillRect l="0" t="0" r="0" b="0"/>
          </a:stretch>
        </p:blipFill>
        <p:spPr>
          <a:xfrm xmlns:a="http://schemas.openxmlformats.org/drawingml/2006/main">
            <a:off x="11277599" y="0"/>
            <a:ext cx="914399" cy="989409"/>
          </a:xfrm>
          <a:prstGeom xmlns:a="http://schemas.openxmlformats.org/drawingml/2006/main" prst="rect">
            <a:avLst/>
          </a:prstGeom>
        </p:spPr>
      </p:pic>
      <p:pic>
        <p:nvPicPr>
          <p:cNvPr id="23" name="object 3"/>
          <p:cNvPicPr>
            <a:picLocks xmlns:a="http://schemas.openxmlformats.org/drawingml/2006/main" noChangeAspect="1"/>
          </p:cNvPicPr>
          <p:nvPr/>
        </p:nvPicPr>
        <p:blipFill>
          <a:blip xmlns:r="http://schemas.openxmlformats.org/officeDocument/2006/relationships" xmlns:a="http://schemas.openxmlformats.org/drawingml/2006/main" r:embed="Rd7495cc4a860477c"/>
          <a:stretch xmlns:a="http://schemas.openxmlformats.org/drawingml/2006/main">
            <a:fillRect l="0" t="0" r="0" b="0"/>
          </a:stretch>
        </p:blipFill>
        <p:spPr>
          <a:xfrm xmlns:a="http://schemas.openxmlformats.org/drawingml/2006/main">
            <a:off x="41271" y="3171"/>
            <a:ext cx="1485899" cy="1057274"/>
          </a:xfrm>
          <a:prstGeom xmlns:a="http://schemas.openxmlformats.org/drawingml/2006/main" prst="rect">
            <a:avLst/>
          </a:prstGeom>
        </p:spPr>
      </p:pic>
      <p:pic>
        <p:nvPicPr>
          <p:cNvPr id="24" name="object 4"/>
          <p:cNvPicPr>
            <a:picLocks xmlns:a="http://schemas.openxmlformats.org/drawingml/2006/main" noChangeAspect="1"/>
          </p:cNvPicPr>
          <p:nvPr/>
        </p:nvPicPr>
        <p:blipFill>
          <a:blip xmlns:r="http://schemas.openxmlformats.org/officeDocument/2006/relationships" xmlns:a="http://schemas.openxmlformats.org/drawingml/2006/main" r:embed="R16d8a7b6099f47eb"/>
          <a:stretch xmlns:a="http://schemas.openxmlformats.org/drawingml/2006/main">
            <a:fillRect l="0" t="0" r="0" b="0"/>
          </a:stretch>
        </p:blipFill>
        <p:spPr>
          <a:xfrm xmlns:a="http://schemas.openxmlformats.org/drawingml/2006/main">
            <a:off x="10525124" y="2609783"/>
            <a:ext cx="1374278" cy="1157287"/>
          </a:xfrm>
          <a:prstGeom xmlns:a="http://schemas.openxmlformats.org/drawingml/2006/main" prst="rect">
            <a:avLst/>
          </a:prstGeom>
        </p:spPr>
      </p:pic>
      <p:sp>
        <p:nvSpPr>
          <p:cNvPr id="5" name="object 5">
            <a:extLst xmlns:a="http://schemas.openxmlformats.org/drawingml/2006/main">
              <a:ext uri="{FF2B5EF4-FFF2-40B4-BE49-F238E27FC236}">
                <a16:creationId xmlns:a16="http://schemas.microsoft.com/office/drawing/2014/main" id="{4384F0CB-BE9E-4D4B-B80F-26652588CAC5}"/>
              </a:ext>
            </a:extLst>
          </p:cNvPr>
          <p:cNvSpPr>
            <a:spLocks xmlns:a="http://schemas.openxmlformats.org/drawingml/2006/main" noGrp="1"/>
          </p:cNvSpPr>
          <p:nvPr/>
        </p:nvSpPr>
        <p:spPr>
          <a:xfrm xmlns:a="http://schemas.openxmlformats.org/drawingml/2006/main">
            <a:off x="412114" y="301631"/>
            <a:ext cx="793750" cy="425450"/>
          </a:xfrm>
          <a:prstGeom xmlns:a="http://schemas.openxmlformats.org/drawingml/2006/main" prst="rect">
            <a:avLst/>
          </a:prstGeom>
        </p:spPr>
        <p:txBody>
          <a:bodyPr xmlns:a="http://schemas.openxmlformats.org/drawingml/2006/main" vert="horz" wrap="square" lIns="0" tIns="44450" rIns="0" bIns="0">
            <a:spAutoFit/>
          </a:bodyPr>
          <a:lstStyle xmlns:a="http://schemas.openxmlformats.org/drawingml/2006/main"/>
          <a:p xmlns:a="http://schemas.openxmlformats.org/drawingml/2006/main">
            <a:pPr marL="12700">
              <a:lnSpc>
                <a:spcPct val="100000"/>
              </a:lnSpc>
              <a:spcBef>
                <a:spcPts val="350"/>
              </a:spcBef>
              <a:buNone/>
            </a:pPr>
            <a:r>
              <a:rPr sz="1100">
                <a:solidFill>
                  <a:srgbClr val="FFFFFF"/>
                </a:solidFill>
                <a:latin typeface="Trebuchet MS"/>
                <a:ea typeface="Trebuchet MS"/>
                <a:cs typeface="Trebuchet MS"/>
              </a:rPr>
              <a:t>FlowDine</a:t>
            </a:r>
          </a:p>
          <a:p xmlns:a="http://schemas.openxmlformats.org/drawingml/2006/main">
            <a:pPr marL="12700">
              <a:lnSpc>
                <a:spcPct val="100000"/>
              </a:lnSpc>
              <a:spcBef>
                <a:spcPts val="255"/>
              </a:spcBef>
              <a:buNone/>
            </a:pPr>
            <a:r>
              <a:rPr sz="1100">
                <a:solidFill>
                  <a:srgbClr val="FFFFFF"/>
                </a:solidFill>
                <a:latin typeface="Trebuchet MS"/>
                <a:ea typeface="Trebuchet MS"/>
                <a:cs typeface="Trebuchet MS"/>
              </a:rPr>
              <a:t>AI</a:t>
            </a:r>
          </a:p>
        </p:txBody>
      </p:sp>
      <p:sp>
        <p:nvSpPr>
          <p:cNvPr id="6" name="object 6">
            <a:extLst xmlns:a="http://schemas.openxmlformats.org/drawingml/2006/main">
              <a:ext uri="{FF2B5EF4-FFF2-40B4-BE49-F238E27FC236}">
                <a16:creationId xmlns:a16="http://schemas.microsoft.com/office/drawing/2014/main" id="{08D6DAC1-78CF-4E7C-B011-E2E62D619F2B}"/>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wrap="square" lIns="0" tIns="56257" rIns="0" bIns="0">
            <a:spAutoFit/>
          </a:bodyPr>
          <a:lstStyle xmlns:a="http://schemas.openxmlformats.org/drawingml/2006/main"/>
          <a:p xmlns:a="http://schemas.openxmlformats.org/drawingml/2006/main">
            <a:pPr marL="2461895">
              <a:lnSpc>
                <a:spcPct val="100000"/>
              </a:lnSpc>
              <a:spcBef>
                <a:spcPts val="130"/>
              </a:spcBef>
              <a:buNone/>
            </a:pPr>
            <a:r>
              <a:t>Proposed</a:t>
            </a:r>
            <a:r>
              <a:t> </a:t>
            </a:r>
            <a:r>
              <a:t>Solution</a:t>
            </a:r>
          </a:p>
        </p:txBody>
      </p:sp>
      <p:pic>
        <p:nvPicPr>
          <p:cNvPr id="27" name="object 7"/>
          <p:cNvPicPr>
            <a:picLocks xmlns:a="http://schemas.openxmlformats.org/drawingml/2006/main" noChangeAspect="1"/>
          </p:cNvPicPr>
          <p:nvPr/>
        </p:nvPicPr>
        <p:blipFill>
          <a:blip xmlns:r="http://schemas.openxmlformats.org/officeDocument/2006/relationships" xmlns:a="http://schemas.openxmlformats.org/drawingml/2006/main" r:embed="R31d150ae0a814296"/>
          <a:stretch xmlns:a="http://schemas.openxmlformats.org/drawingml/2006/main">
            <a:fillRect l="0" t="0" r="0" b="0"/>
          </a:stretch>
        </p:blipFill>
        <p:spPr>
          <a:xfrm xmlns:a="http://schemas.openxmlformats.org/drawingml/2006/main">
            <a:off x="1132574" y="3699474"/>
            <a:ext cx="104775" cy="104774"/>
          </a:xfrm>
          <a:prstGeom xmlns:a="http://schemas.openxmlformats.org/drawingml/2006/main" prst="rect">
            <a:avLst/>
          </a:prstGeom>
        </p:spPr>
      </p:pic>
      <p:pic>
        <p:nvPicPr>
          <p:cNvPr id="28" name="object 8"/>
          <p:cNvPicPr>
            <a:picLocks xmlns:a="http://schemas.openxmlformats.org/drawingml/2006/main" noChangeAspect="1"/>
          </p:cNvPicPr>
          <p:nvPr/>
        </p:nvPicPr>
        <p:blipFill>
          <a:blip xmlns:r="http://schemas.openxmlformats.org/officeDocument/2006/relationships" xmlns:a="http://schemas.openxmlformats.org/drawingml/2006/main" r:embed="R31d150ae0a814296"/>
          <a:stretch xmlns:a="http://schemas.openxmlformats.org/drawingml/2006/main">
            <a:fillRect l="0" t="0" r="0" b="0"/>
          </a:stretch>
        </p:blipFill>
        <p:spPr>
          <a:xfrm xmlns:a="http://schemas.openxmlformats.org/drawingml/2006/main">
            <a:off x="1132574" y="4118574"/>
            <a:ext cx="104775" cy="104774"/>
          </a:xfrm>
          <a:prstGeom xmlns:a="http://schemas.openxmlformats.org/drawingml/2006/main" prst="rect">
            <a:avLst/>
          </a:prstGeom>
        </p:spPr>
      </p:pic>
      <p:pic>
        <p:nvPicPr>
          <p:cNvPr id="29" name="object 9"/>
          <p:cNvPicPr>
            <a:picLocks xmlns:a="http://schemas.openxmlformats.org/drawingml/2006/main" noChangeAspect="1"/>
          </p:cNvPicPr>
          <p:nvPr/>
        </p:nvPicPr>
        <p:blipFill>
          <a:blip xmlns:r="http://schemas.openxmlformats.org/officeDocument/2006/relationships" xmlns:a="http://schemas.openxmlformats.org/drawingml/2006/main" r:embed="R31d150ae0a814296"/>
          <a:stretch xmlns:a="http://schemas.openxmlformats.org/drawingml/2006/main">
            <a:fillRect l="0" t="0" r="0" b="0"/>
          </a:stretch>
        </p:blipFill>
        <p:spPr>
          <a:xfrm xmlns:a="http://schemas.openxmlformats.org/drawingml/2006/main">
            <a:off x="1132574" y="4537674"/>
            <a:ext cx="104775" cy="104774"/>
          </a:xfrm>
          <a:prstGeom xmlns:a="http://schemas.openxmlformats.org/drawingml/2006/main" prst="rect">
            <a:avLst/>
          </a:prstGeom>
        </p:spPr>
      </p:pic>
      <p:pic>
        <p:nvPicPr>
          <p:cNvPr id="30" name="object 10"/>
          <p:cNvPicPr>
            <a:picLocks xmlns:a="http://schemas.openxmlformats.org/drawingml/2006/main" noChangeAspect="1"/>
          </p:cNvPicPr>
          <p:nvPr/>
        </p:nvPicPr>
        <p:blipFill>
          <a:blip xmlns:r="http://schemas.openxmlformats.org/officeDocument/2006/relationships" xmlns:a="http://schemas.openxmlformats.org/drawingml/2006/main" r:embed="R31d150ae0a814296"/>
          <a:stretch xmlns:a="http://schemas.openxmlformats.org/drawingml/2006/main">
            <a:fillRect l="0" t="0" r="0" b="0"/>
          </a:stretch>
        </p:blipFill>
        <p:spPr>
          <a:xfrm xmlns:a="http://schemas.openxmlformats.org/drawingml/2006/main">
            <a:off x="1132574" y="4956774"/>
            <a:ext cx="104775" cy="104774"/>
          </a:xfrm>
          <a:prstGeom xmlns:a="http://schemas.openxmlformats.org/drawingml/2006/main" prst="rect">
            <a:avLst/>
          </a:prstGeom>
        </p:spPr>
      </p:pic>
      <p:pic>
        <p:nvPicPr>
          <p:cNvPr id="31" name="object 11"/>
          <p:cNvPicPr>
            <a:picLocks xmlns:a="http://schemas.openxmlformats.org/drawingml/2006/main" noChangeAspect="1"/>
          </p:cNvPicPr>
          <p:nvPr/>
        </p:nvPicPr>
        <p:blipFill>
          <a:blip xmlns:r="http://schemas.openxmlformats.org/officeDocument/2006/relationships" xmlns:a="http://schemas.openxmlformats.org/drawingml/2006/main" r:embed="R31d150ae0a814296"/>
          <a:stretch xmlns:a="http://schemas.openxmlformats.org/drawingml/2006/main">
            <a:fillRect l="0" t="0" r="0" b="0"/>
          </a:stretch>
        </p:blipFill>
        <p:spPr>
          <a:xfrm xmlns:a="http://schemas.openxmlformats.org/drawingml/2006/main">
            <a:off x="1132574" y="5375874"/>
            <a:ext cx="104775" cy="104774"/>
          </a:xfrm>
          <a:prstGeom xmlns:a="http://schemas.openxmlformats.org/drawingml/2006/main" prst="rect">
            <a:avLst/>
          </a:prstGeom>
        </p:spPr>
      </p:pic>
      <p:sp>
        <p:nvSpPr>
          <p:cNvPr id="12" name="object 12">
            <a:extLst xmlns:a="http://schemas.openxmlformats.org/drawingml/2006/main">
              <a:ext uri="{FF2B5EF4-FFF2-40B4-BE49-F238E27FC236}">
                <a16:creationId xmlns:a16="http://schemas.microsoft.com/office/drawing/2014/main" id="{6B3CBC2F-9ACC-4C09-9B25-5352A20B2575}"/>
              </a:ext>
            </a:extLst>
          </p:cNvPr>
          <p:cNvSpPr>
            <a:spLocks xmlns:a="http://schemas.openxmlformats.org/drawingml/2006/main" noGrp="1"/>
          </p:cNvSpPr>
          <p:nvPr/>
        </p:nvSpPr>
        <p:spPr>
          <a:xfrm xmlns:a="http://schemas.openxmlformats.org/drawingml/2006/main">
            <a:off x="1428750" y="3505200"/>
            <a:ext cx="5095875" cy="2495550"/>
          </a:xfrm>
          <a:prstGeom xmlns:a="http://schemas.openxmlformats.org/drawingml/2006/main" prst="rect">
            <a:avLst/>
          </a:prstGeom>
        </p:spPr>
        <p:txBody>
          <a:bodyPr xmlns:a="http://schemas.openxmlformats.org/drawingml/2006/main" vert="horz" wrap="square" lIns="0" tIns="16510" rIns="0" bIns="0">
            <a:spAutoFit/>
          </a:bodyPr>
          <a:lstStyle xmlns:a="http://schemas.openxmlformats.org/drawingml/2006/main"/>
          <a:p xmlns:a="http://schemas.openxmlformats.org/drawingml/2006/main">
            <a:pPr marL="12700" marR="787400" algn="l">
              <a:lnSpc>
                <a:spcPct val="100000"/>
              </a:lnSpc>
              <a:spcBef>
                <a:spcPts val="130"/>
              </a:spcBef>
              <a:buNone/>
            </a:pPr>
            <a:r>
              <a:rPr sz="2550">
                <a:solidFill>
                  <a:srgbClr val="FFFFFF"/>
                </a:solidFill>
                <a:latin typeface="Trebuchet MS"/>
                <a:ea typeface="Trebuchet MS"/>
                <a:cs typeface="Trebuchet MS"/>
              </a:rPr>
              <a:t>One live digital twin</a:t>
            </a:r>
          </a:p>
          <a:p xmlns:a="http://schemas.openxmlformats.org/drawingml/2006/main">
            <a:pPr marL="12700" marR="5080" algn="l">
              <a:lnSpc>
                <a:spcPct val="100000"/>
              </a:lnSpc>
              <a:buNone/>
            </a:pPr>
            <a:r>
              <a:rPr sz="2550">
                <a:solidFill>
                  <a:srgbClr val="FFFFFF"/>
                </a:solidFill>
                <a:latin typeface="Trebuchet MS"/>
                <a:ea typeface="Trebuchet MS"/>
                <a:cs typeface="Trebuchet MS"/>
              </a:rPr>
              <a:t>Recipe-aware availability</a:t>
            </a:r>
          </a:p>
          <a:p xmlns:a="http://schemas.openxmlformats.org/drawingml/2006/main">
            <a:pPr marL="12700" marR="5080" algn="l">
              <a:lnSpc>
                <a:spcPct val="100000"/>
              </a:lnSpc>
              <a:buNone/>
            </a:pPr>
            <a:r>
              <a:rPr sz="2550">
                <a:solidFill>
                  <a:srgbClr val="FFFFFF"/>
                </a:solidFill>
                <a:latin typeface="Trebuchet MS"/>
                <a:ea typeface="Trebuchet MS"/>
                <a:cs typeface="Trebuchet MS"/>
              </a:rPr>
              <a:t>Connected role workflows</a:t>
            </a:r>
          </a:p>
          <a:p xmlns:a="http://schemas.openxmlformats.org/drawingml/2006/main">
            <a:pPr marL="12700" marR="5080" algn="l">
              <a:lnSpc>
                <a:spcPct val="100000"/>
              </a:lnSpc>
              <a:buNone/>
            </a:pPr>
            <a:r>
              <a:rPr sz="2550">
                <a:solidFill>
                  <a:srgbClr val="FFFFFF"/>
                </a:solidFill>
                <a:latin typeface="Trebuchet MS"/>
                <a:ea typeface="Trebuchet MS"/>
                <a:cs typeface="Trebuchet MS"/>
              </a:rPr>
              <a:t>Queue, table &amp; billing</a:t>
            </a:r>
          </a:p>
          <a:p xmlns:a="http://schemas.openxmlformats.org/drawingml/2006/main">
            <a:pPr marL="12700" marR="5080" algn="l">
              <a:lnSpc>
                <a:spcPct val="100000"/>
              </a:lnSpc>
              <a:buNone/>
            </a:pPr>
            <a:r>
              <a:rPr sz="2550">
                <a:solidFill>
                  <a:srgbClr val="FFFFFF"/>
                </a:solidFill>
                <a:latin typeface="Trebuchet MS"/>
                <a:ea typeface="Trebuchet MS"/>
                <a:cs typeface="Trebuchet MS"/>
              </a:rPr>
              <a:t>Forecasts + AI copilot</a:t>
            </a:r>
          </a:p>
        </p:txBody>
      </p:sp>
      <p:pic>
        <p:nvPicPr>
          <p:cNvPr id="33" name="object 13"/>
          <p:cNvPicPr>
            <a:picLocks xmlns:a="http://schemas.openxmlformats.org/drawingml/2006/main" noChangeAspect="1"/>
          </p:cNvPicPr>
          <p:nvPr/>
        </p:nvPicPr>
        <p:blipFill>
          <a:blip xmlns:r="http://schemas.openxmlformats.org/officeDocument/2006/relationships" xmlns:a="http://schemas.openxmlformats.org/drawingml/2006/main" r:embed="R73d1d9ef90674f41"/>
          <a:stretch xmlns:a="http://schemas.openxmlformats.org/drawingml/2006/main">
            <a:fillRect l="0" t="0" r="0" b="0"/>
          </a:stretch>
        </p:blipFill>
        <p:spPr>
          <a:xfrm xmlns:a="http://schemas.openxmlformats.org/drawingml/2006/main">
            <a:off x="7477125" y="1809750"/>
            <a:ext cx="3905250" cy="4095750"/>
          </a:xfrm>
          <a:prstGeom xmlns:a="http://schemas.openxmlformats.org/drawingml/2006/main" prst="rect">
            <a:avLst/>
          </a:prstGeom>
        </p:spPr>
      </p:pic>
    </p:spTree>
    <p:extLst>
      <p:ext uri="{BB962C8B-B14F-4D97-AF65-F5344CB8AC3E}">
        <p14:creationId xmlns:p14="http://schemas.microsoft.com/office/powerpoint/2010/main" val="82224427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0" name="object 2"/>
          <p:cNvPicPr>
            <a:picLocks xmlns:a="http://schemas.openxmlformats.org/drawingml/2006/main" noChangeAspect="1"/>
          </p:cNvPicPr>
          <p:nvPr/>
        </p:nvPicPr>
        <p:blipFill>
          <a:blip xmlns:r="http://schemas.openxmlformats.org/officeDocument/2006/relationships" xmlns:a="http://schemas.openxmlformats.org/drawingml/2006/main" r:embed="Rd7eb82ecf62b467a"/>
          <a:stretch xmlns:a="http://schemas.openxmlformats.org/drawingml/2006/main">
            <a:fillRect l="0" t="0" r="0" b="0"/>
          </a:stretch>
        </p:blipFill>
        <p:spPr>
          <a:xfrm xmlns:a="http://schemas.openxmlformats.org/drawingml/2006/main">
            <a:off x="11277599" y="0"/>
            <a:ext cx="914399" cy="989409"/>
          </a:xfrm>
          <a:prstGeom xmlns:a="http://schemas.openxmlformats.org/drawingml/2006/main" prst="rect">
            <a:avLst/>
          </a:prstGeom>
        </p:spPr>
      </p:pic>
      <p:sp>
        <p:nvSpPr>
          <p:cNvPr id="3" name="object 3">
            <a:extLst xmlns:a="http://schemas.openxmlformats.org/drawingml/2006/main">
              <a:ext uri="{FF2B5EF4-FFF2-40B4-BE49-F238E27FC236}">
                <a16:creationId xmlns:a16="http://schemas.microsoft.com/office/drawing/2014/main" id="{B6F10AE0-F08B-419E-9B7E-F718BF077290}"/>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vert="horz" wrap="square" lIns="0" tIns="16510" rIns="0" bIns="0">
            <a:spAutoFit/>
          </a:bodyPr>
          <a:lstStyle xmlns:a="http://schemas.openxmlformats.org/drawingml/2006/main"/>
          <a:p xmlns:a="http://schemas.openxmlformats.org/drawingml/2006/main">
            <a:pPr marL="1871345">
              <a:lnSpc>
                <a:spcPct val="100000"/>
              </a:lnSpc>
              <a:spcBef>
                <a:spcPts val="130"/>
              </a:spcBef>
              <a:buNone/>
            </a:pPr>
            <a:r>
              <a:t>TECHNICAL</a:t>
            </a:r>
            <a:r>
              <a:t> </a:t>
            </a:r>
            <a:r>
              <a:t>APPROACH</a:t>
            </a:r>
          </a:p>
        </p:txBody>
      </p:sp>
      <p:pic>
        <p:nvPicPr>
          <p:cNvPr id="22" name="object 4"/>
          <p:cNvPicPr>
            <a:picLocks xmlns:a="http://schemas.openxmlformats.org/drawingml/2006/main" noChangeAspect="1"/>
          </p:cNvPicPr>
          <p:nvPr/>
        </p:nvPicPr>
        <p:blipFill>
          <a:blip xmlns:r="http://schemas.openxmlformats.org/officeDocument/2006/relationships" xmlns:a="http://schemas.openxmlformats.org/drawingml/2006/main" r:embed="Rd4d5fd95c044485d"/>
          <a:stretch xmlns:a="http://schemas.openxmlformats.org/drawingml/2006/main">
            <a:fillRect l="0" t="0" r="0" b="0"/>
          </a:stretch>
        </p:blipFill>
        <p:spPr>
          <a:xfrm xmlns:a="http://schemas.openxmlformats.org/drawingml/2006/main">
            <a:off x="41271" y="3171"/>
            <a:ext cx="1485899" cy="1057274"/>
          </a:xfrm>
          <a:prstGeom xmlns:a="http://schemas.openxmlformats.org/drawingml/2006/main" prst="rect">
            <a:avLst/>
          </a:prstGeom>
        </p:spPr>
      </p:pic>
      <p:sp>
        <p:nvSpPr>
          <p:cNvPr id="5" name="object 5">
            <a:extLst xmlns:a="http://schemas.openxmlformats.org/drawingml/2006/main">
              <a:ext uri="{FF2B5EF4-FFF2-40B4-BE49-F238E27FC236}">
                <a16:creationId xmlns:a16="http://schemas.microsoft.com/office/drawing/2014/main" id="{DF138370-CC1A-4562-BBAD-7BEE8AF6827C}"/>
              </a:ext>
            </a:extLst>
          </p:cNvPr>
          <p:cNvSpPr>
            <a:spLocks xmlns:a="http://schemas.openxmlformats.org/drawingml/2006/main" noGrp="1"/>
          </p:cNvSpPr>
          <p:nvPr/>
        </p:nvSpPr>
        <p:spPr>
          <a:xfrm xmlns:a="http://schemas.openxmlformats.org/drawingml/2006/main">
            <a:off x="412114" y="301631"/>
            <a:ext cx="793750" cy="425450"/>
          </a:xfrm>
          <a:prstGeom xmlns:a="http://schemas.openxmlformats.org/drawingml/2006/main" prst="rect">
            <a:avLst/>
          </a:prstGeom>
        </p:spPr>
        <p:txBody>
          <a:bodyPr xmlns:a="http://schemas.openxmlformats.org/drawingml/2006/main" vert="horz" wrap="square" lIns="0" tIns="44450" rIns="0" bIns="0">
            <a:spAutoFit/>
          </a:bodyPr>
          <a:lstStyle xmlns:a="http://schemas.openxmlformats.org/drawingml/2006/main"/>
          <a:p xmlns:a="http://schemas.openxmlformats.org/drawingml/2006/main">
            <a:pPr marL="12700">
              <a:lnSpc>
                <a:spcPct val="100000"/>
              </a:lnSpc>
              <a:spcBef>
                <a:spcPts val="350"/>
              </a:spcBef>
              <a:buNone/>
            </a:pPr>
            <a:r>
              <a:rPr sz="1100">
                <a:solidFill>
                  <a:srgbClr val="FFFFFF"/>
                </a:solidFill>
                <a:latin typeface="Trebuchet MS"/>
                <a:ea typeface="Trebuchet MS"/>
                <a:cs typeface="Trebuchet MS"/>
              </a:rPr>
              <a:t>FlowDine</a:t>
            </a:r>
          </a:p>
          <a:p xmlns:a="http://schemas.openxmlformats.org/drawingml/2006/main">
            <a:pPr marL="12700">
              <a:lnSpc>
                <a:spcPct val="100000"/>
              </a:lnSpc>
              <a:spcBef>
                <a:spcPts val="255"/>
              </a:spcBef>
              <a:buNone/>
            </a:pPr>
            <a:r>
              <a:rPr sz="1100">
                <a:solidFill>
                  <a:srgbClr val="FFFFFF"/>
                </a:solidFill>
                <a:latin typeface="Trebuchet MS"/>
                <a:ea typeface="Trebuchet MS"/>
                <a:cs typeface="Trebuchet MS"/>
              </a:rPr>
              <a:t>AI</a:t>
            </a:r>
          </a:p>
        </p:txBody>
      </p:sp>
      <p:pic>
        <p:nvPicPr>
          <p:cNvPr id="24" name="object 6"/>
          <p:cNvPicPr>
            <a:picLocks xmlns:a="http://schemas.openxmlformats.org/drawingml/2006/main" noChangeAspect="1"/>
          </p:cNvPicPr>
          <p:nvPr/>
        </p:nvPicPr>
        <p:blipFill>
          <a:blip xmlns:r="http://schemas.openxmlformats.org/officeDocument/2006/relationships" xmlns:a="http://schemas.openxmlformats.org/drawingml/2006/main" r:embed="Rce6569957f274bec"/>
          <a:stretch xmlns:a="http://schemas.openxmlformats.org/drawingml/2006/main">
            <a:fillRect l="0" t="0" r="0" b="0"/>
          </a:stretch>
        </p:blipFill>
        <p:spPr>
          <a:xfrm xmlns:a="http://schemas.openxmlformats.org/drawingml/2006/main">
            <a:off x="1554873" y="2797731"/>
            <a:ext cx="104775" cy="104774"/>
          </a:xfrm>
          <a:prstGeom xmlns:a="http://schemas.openxmlformats.org/drawingml/2006/main" prst="rect">
            <a:avLst/>
          </a:prstGeom>
        </p:spPr>
      </p:pic>
      <p:pic>
        <p:nvPicPr>
          <p:cNvPr id="25" name="object 7"/>
          <p:cNvPicPr>
            <a:picLocks xmlns:a="http://schemas.openxmlformats.org/drawingml/2006/main" noChangeAspect="1"/>
          </p:cNvPicPr>
          <p:nvPr/>
        </p:nvPicPr>
        <p:blipFill>
          <a:blip xmlns:r="http://schemas.openxmlformats.org/officeDocument/2006/relationships" xmlns:a="http://schemas.openxmlformats.org/drawingml/2006/main" r:embed="Rce6569957f274bec"/>
          <a:stretch xmlns:a="http://schemas.openxmlformats.org/drawingml/2006/main">
            <a:fillRect l="0" t="0" r="0" b="0"/>
          </a:stretch>
        </p:blipFill>
        <p:spPr>
          <a:xfrm xmlns:a="http://schemas.openxmlformats.org/drawingml/2006/main">
            <a:off x="1554873" y="3216831"/>
            <a:ext cx="104775" cy="104774"/>
          </a:xfrm>
          <a:prstGeom xmlns:a="http://schemas.openxmlformats.org/drawingml/2006/main" prst="rect">
            <a:avLst/>
          </a:prstGeom>
        </p:spPr>
      </p:pic>
      <p:pic>
        <p:nvPicPr>
          <p:cNvPr id="26" name="object 8"/>
          <p:cNvPicPr>
            <a:picLocks xmlns:a="http://schemas.openxmlformats.org/drawingml/2006/main" noChangeAspect="1"/>
          </p:cNvPicPr>
          <p:nvPr/>
        </p:nvPicPr>
        <p:blipFill>
          <a:blip xmlns:r="http://schemas.openxmlformats.org/officeDocument/2006/relationships" xmlns:a="http://schemas.openxmlformats.org/drawingml/2006/main" r:embed="Rce6569957f274bec"/>
          <a:stretch xmlns:a="http://schemas.openxmlformats.org/drawingml/2006/main">
            <a:fillRect l="0" t="0" r="0" b="0"/>
          </a:stretch>
        </p:blipFill>
        <p:spPr>
          <a:xfrm xmlns:a="http://schemas.openxmlformats.org/drawingml/2006/main">
            <a:off x="1554873" y="3635931"/>
            <a:ext cx="104775" cy="104774"/>
          </a:xfrm>
          <a:prstGeom xmlns:a="http://schemas.openxmlformats.org/drawingml/2006/main" prst="rect">
            <a:avLst/>
          </a:prstGeom>
        </p:spPr>
      </p:pic>
      <p:pic>
        <p:nvPicPr>
          <p:cNvPr id="27" name="object 9"/>
          <p:cNvPicPr>
            <a:picLocks xmlns:a="http://schemas.openxmlformats.org/drawingml/2006/main" noChangeAspect="1"/>
          </p:cNvPicPr>
          <p:nvPr/>
        </p:nvPicPr>
        <p:blipFill>
          <a:blip xmlns:r="http://schemas.openxmlformats.org/officeDocument/2006/relationships" xmlns:a="http://schemas.openxmlformats.org/drawingml/2006/main" r:embed="Rce6569957f274bec"/>
          <a:stretch xmlns:a="http://schemas.openxmlformats.org/drawingml/2006/main">
            <a:fillRect l="0" t="0" r="0" b="0"/>
          </a:stretch>
        </p:blipFill>
        <p:spPr>
          <a:xfrm xmlns:a="http://schemas.openxmlformats.org/drawingml/2006/main">
            <a:off x="1554873" y="4055031"/>
            <a:ext cx="104775" cy="104774"/>
          </a:xfrm>
          <a:prstGeom xmlns:a="http://schemas.openxmlformats.org/drawingml/2006/main" prst="rect">
            <a:avLst/>
          </a:prstGeom>
        </p:spPr>
      </p:pic>
      <p:pic>
        <p:nvPicPr>
          <p:cNvPr id="28" name="object 10"/>
          <p:cNvPicPr>
            <a:picLocks xmlns:a="http://schemas.openxmlformats.org/drawingml/2006/main" noChangeAspect="1"/>
          </p:cNvPicPr>
          <p:nvPr/>
        </p:nvPicPr>
        <p:blipFill>
          <a:blip xmlns:r="http://schemas.openxmlformats.org/officeDocument/2006/relationships" xmlns:a="http://schemas.openxmlformats.org/drawingml/2006/main" r:embed="Rce6569957f274bec"/>
          <a:stretch xmlns:a="http://schemas.openxmlformats.org/drawingml/2006/main">
            <a:fillRect l="0" t="0" r="0" b="0"/>
          </a:stretch>
        </p:blipFill>
        <p:spPr>
          <a:xfrm xmlns:a="http://schemas.openxmlformats.org/drawingml/2006/main">
            <a:off x="1554873" y="4474131"/>
            <a:ext cx="104775" cy="104774"/>
          </a:xfrm>
          <a:prstGeom xmlns:a="http://schemas.openxmlformats.org/drawingml/2006/main" prst="rect">
            <a:avLst/>
          </a:prstGeom>
        </p:spPr>
      </p:pic>
      <p:sp>
        <p:nvSpPr>
          <p:cNvPr id="11" name="object 11">
            <a:extLst xmlns:a="http://schemas.openxmlformats.org/drawingml/2006/main">
              <a:ext uri="{FF2B5EF4-FFF2-40B4-BE49-F238E27FC236}">
                <a16:creationId xmlns:a16="http://schemas.microsoft.com/office/drawing/2014/main" id="{1084774A-00AD-45D3-B675-CF04282C22CC}"/>
              </a:ext>
            </a:extLst>
          </p:cNvPr>
          <p:cNvSpPr>
            <a:spLocks xmlns:a="http://schemas.openxmlformats.org/drawingml/2006/main" noGrp="1"/>
          </p:cNvSpPr>
          <p:nvPr/>
        </p:nvSpPr>
        <p:spPr>
          <a:xfrm xmlns:a="http://schemas.openxmlformats.org/drawingml/2006/main">
            <a:off x="1857375" y="2667000"/>
            <a:ext cx="4762500" cy="2857500"/>
          </a:xfrm>
          <a:prstGeom xmlns:a="http://schemas.openxmlformats.org/drawingml/2006/main" prst="rect">
            <a:avLst/>
          </a:prstGeom>
        </p:spPr>
        <p:txBody>
          <a:bodyPr xmlns:a="http://schemas.openxmlformats.org/drawingml/2006/main" vert="horz" wrap="square" lIns="0" tIns="16510" rIns="0" bIns="0">
            <a:spAutoFit/>
          </a:bodyPr>
          <a:lstStyle xmlns:a="http://schemas.openxmlformats.org/drawingml/2006/main"/>
          <a:p xmlns:a="http://schemas.openxmlformats.org/drawingml/2006/main">
            <a:pPr marL="12700" marR="5080" algn="l">
              <a:lnSpc>
                <a:spcPct val="100000"/>
              </a:lnSpc>
              <a:spcBef>
                <a:spcPts val="130"/>
              </a:spcBef>
              <a:buNone/>
            </a:pPr>
            <a:r>
              <a:rPr sz="2550">
                <a:solidFill>
                  <a:srgbClr val="FFFFFF"/>
                </a:solidFill>
                <a:latin typeface="Trebuchet MS"/>
                <a:ea typeface="Trebuchet MS"/>
                <a:cs typeface="Trebuchet MS"/>
              </a:rPr>
              <a:t>Next.js + React + TS</a:t>
            </a:r>
          </a:p>
          <a:p xmlns:a="http://schemas.openxmlformats.org/drawingml/2006/main">
            <a:pPr marL="12700" marR="5080" algn="l">
              <a:lnSpc>
                <a:spcPct val="100000"/>
              </a:lnSpc>
              <a:spcBef>
                <a:spcPts val="130"/>
              </a:spcBef>
              <a:buNone/>
            </a:pPr>
            <a:r>
              <a:rPr sz="2550">
                <a:solidFill>
                  <a:srgbClr val="FFFFFF"/>
                </a:solidFill>
                <a:latin typeface="Trebuchet MS"/>
                <a:ea typeface="Trebuchet MS"/>
                <a:cs typeface="Trebuchet MS"/>
              </a:rPr>
              <a:t>Server role permissions</a:t>
            </a:r>
          </a:p>
          <a:p xmlns:a="http://schemas.openxmlformats.org/drawingml/2006/main">
            <a:pPr marL="12700" marR="5080" algn="l">
              <a:lnSpc>
                <a:spcPct val="100000"/>
              </a:lnSpc>
              <a:spcBef>
                <a:spcPts val="130"/>
              </a:spcBef>
              <a:buNone/>
            </a:pPr>
            <a:r>
              <a:rPr sz="2550">
                <a:solidFill>
                  <a:srgbClr val="FFFFFF"/>
                </a:solidFill>
                <a:latin typeface="Trebuchet MS"/>
                <a:ea typeface="Trebuchet MS"/>
                <a:cs typeface="Trebuchet MS"/>
              </a:rPr>
              <a:t>Recipe-order engine</a:t>
            </a:r>
          </a:p>
          <a:p xmlns:a="http://schemas.openxmlformats.org/drawingml/2006/main">
            <a:pPr marL="12700" marR="5080" algn="l">
              <a:lnSpc>
                <a:spcPct val="100000"/>
              </a:lnSpc>
              <a:spcBef>
                <a:spcPts val="130"/>
              </a:spcBef>
              <a:buNone/>
            </a:pPr>
            <a:r>
              <a:rPr sz="2550">
                <a:solidFill>
                  <a:srgbClr val="FFFFFF"/>
                </a:solidFill>
                <a:latin typeface="Trebuchet MS"/>
                <a:ea typeface="Trebuchet MS"/>
                <a:cs typeface="Trebuchet MS"/>
              </a:rPr>
              <a:t>D1 state + audit log</a:t>
            </a:r>
          </a:p>
          <a:p xmlns:a="http://schemas.openxmlformats.org/drawingml/2006/main">
            <a:pPr marL="12700" marR="5080" algn="l">
              <a:lnSpc>
                <a:spcPct val="100000"/>
              </a:lnSpc>
              <a:spcBef>
                <a:spcPts val="130"/>
              </a:spcBef>
              <a:buNone/>
            </a:pPr>
            <a:r>
              <a:rPr sz="2550">
                <a:solidFill>
                  <a:srgbClr val="FFFFFF"/>
                </a:solidFill>
                <a:latin typeface="Trebuchet MS"/>
                <a:ea typeface="Trebuchet MS"/>
                <a:cs typeface="Trebuchet MS"/>
              </a:rPr>
              <a:t>Gemini + local fallback</a:t>
            </a:r>
          </a:p>
        </p:txBody>
      </p:sp>
      <p:pic>
        <p:nvPicPr>
          <p:cNvPr id="30" name="object 12"/>
          <p:cNvPicPr>
            <a:picLocks xmlns:a="http://schemas.openxmlformats.org/drawingml/2006/main" noChangeAspect="1"/>
          </p:cNvPicPr>
          <p:nvPr/>
        </p:nvPicPr>
        <p:blipFill>
          <a:blip xmlns:r="http://schemas.openxmlformats.org/officeDocument/2006/relationships" xmlns:a="http://schemas.openxmlformats.org/drawingml/2006/main" r:embed="R9acef52bedae4733"/>
          <a:stretch xmlns:a="http://schemas.openxmlformats.org/drawingml/2006/main">
            <a:fillRect l="0" t="0" r="0" b="0"/>
          </a:stretch>
        </p:blipFill>
        <p:spPr>
          <a:xfrm xmlns:a="http://schemas.openxmlformats.org/drawingml/2006/main">
            <a:off x="7477125" y="1809750"/>
            <a:ext cx="3905250" cy="4095750"/>
          </a:xfrm>
          <a:prstGeom xmlns:a="http://schemas.openxmlformats.org/drawingml/2006/main" prst="rect">
            <a:avLst/>
          </a:prstGeom>
        </p:spPr>
      </p:pic>
    </p:spTree>
    <p:extLst>
      <p:ext uri="{BB962C8B-B14F-4D97-AF65-F5344CB8AC3E}">
        <p14:creationId xmlns:p14="http://schemas.microsoft.com/office/powerpoint/2010/main" val="125920049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0" name="object 2"/>
          <p:cNvPicPr>
            <a:picLocks xmlns:a="http://schemas.openxmlformats.org/drawingml/2006/main" noChangeAspect="1"/>
          </p:cNvPicPr>
          <p:nvPr/>
        </p:nvPicPr>
        <p:blipFill>
          <a:blip xmlns:r="http://schemas.openxmlformats.org/officeDocument/2006/relationships" xmlns:a="http://schemas.openxmlformats.org/drawingml/2006/main" r:embed="R2027f7f03a374670"/>
          <a:stretch xmlns:a="http://schemas.openxmlformats.org/drawingml/2006/main">
            <a:fillRect l="0" t="0" r="0" b="0"/>
          </a:stretch>
        </p:blipFill>
        <p:spPr>
          <a:xfrm xmlns:a="http://schemas.openxmlformats.org/drawingml/2006/main">
            <a:off x="11277599" y="0"/>
            <a:ext cx="914399" cy="989409"/>
          </a:xfrm>
          <a:prstGeom xmlns:a="http://schemas.openxmlformats.org/drawingml/2006/main" prst="rect">
            <a:avLst/>
          </a:prstGeom>
        </p:spPr>
      </p:pic>
      <p:sp>
        <p:nvSpPr>
          <p:cNvPr id="3" name="object 3">
            <a:extLst xmlns:a="http://schemas.openxmlformats.org/drawingml/2006/main">
              <a:ext uri="{FF2B5EF4-FFF2-40B4-BE49-F238E27FC236}">
                <a16:creationId xmlns:a16="http://schemas.microsoft.com/office/drawing/2014/main" id="{2431DCC5-AEA4-442C-8B11-7DF26828762E}"/>
              </a:ext>
            </a:extLst>
          </p:cNvPr>
          <p:cNvSpPr>
            <a:spLocks xmlns:a="http://schemas.openxmlformats.org/drawingml/2006/main" noGrp="1"/>
          </p:cNvSpPr>
          <p:nvPr>
            <p:ph type="title" idx="0"/>
          </p:nvPr>
        </p:nvSpPr>
        <p:spPr>
          <a:xfrm xmlns:a="http://schemas.openxmlformats.org/drawingml/2006/main">
            <a:off x="1796975" y="57702"/>
            <a:ext cx="8805545" cy="624205"/>
          </a:xfrm>
          <a:prstGeom xmlns:a="http://schemas.openxmlformats.org/drawingml/2006/main" prst="rect">
            <a:avLst/>
          </a:prstGeom>
        </p:spPr>
        <p:txBody>
          <a:bodyPr xmlns:a="http://schemas.openxmlformats.org/drawingml/2006/main" vert="horz" wrap="square" lIns="0" tIns="16510" rIns="0" bIns="0">
            <a:spAutoFit/>
          </a:bodyPr>
          <a:lstStyle xmlns:a="http://schemas.openxmlformats.org/drawingml/2006/main"/>
          <a:p xmlns:a="http://schemas.openxmlformats.org/drawingml/2006/main">
            <a:pPr marL="1797685">
              <a:lnSpc>
                <a:spcPct val="100000"/>
              </a:lnSpc>
              <a:spcBef>
                <a:spcPts val="130"/>
              </a:spcBef>
              <a:buNone/>
            </a:pPr>
            <a:r>
              <a:t>Use</a:t>
            </a:r>
            <a:r>
              <a:t> </a:t>
            </a:r>
            <a:r>
              <a:t>Cases</a:t>
            </a:r>
            <a:r>
              <a:t> </a:t>
            </a:r>
            <a:r>
              <a:t>&amp;</a:t>
            </a:r>
            <a:r>
              <a:t> </a:t>
            </a:r>
            <a:r>
              <a:t>Impact</a:t>
            </a:r>
          </a:p>
        </p:txBody>
      </p:sp>
      <p:pic>
        <p:nvPicPr>
          <p:cNvPr id="22" name="object 4"/>
          <p:cNvPicPr>
            <a:picLocks xmlns:a="http://schemas.openxmlformats.org/drawingml/2006/main" noChangeAspect="1"/>
          </p:cNvPicPr>
          <p:nvPr/>
        </p:nvPicPr>
        <p:blipFill>
          <a:blip xmlns:r="http://schemas.openxmlformats.org/officeDocument/2006/relationships" xmlns:a="http://schemas.openxmlformats.org/drawingml/2006/main" r:embed="Rf4b699579def4231"/>
          <a:stretch xmlns:a="http://schemas.openxmlformats.org/drawingml/2006/main">
            <a:fillRect l="0" t="0" r="0" b="0"/>
          </a:stretch>
        </p:blipFill>
        <p:spPr>
          <a:xfrm xmlns:a="http://schemas.openxmlformats.org/drawingml/2006/main">
            <a:off x="1912610" y="2816046"/>
            <a:ext cx="104775" cy="104774"/>
          </a:xfrm>
          <a:prstGeom xmlns:a="http://schemas.openxmlformats.org/drawingml/2006/main" prst="rect">
            <a:avLst/>
          </a:prstGeom>
        </p:spPr>
      </p:pic>
      <p:pic>
        <p:nvPicPr>
          <p:cNvPr id="23" name="object 5"/>
          <p:cNvPicPr>
            <a:picLocks xmlns:a="http://schemas.openxmlformats.org/drawingml/2006/main" noChangeAspect="1"/>
          </p:cNvPicPr>
          <p:nvPr/>
        </p:nvPicPr>
        <p:blipFill>
          <a:blip xmlns:r="http://schemas.openxmlformats.org/officeDocument/2006/relationships" xmlns:a="http://schemas.openxmlformats.org/drawingml/2006/main" r:embed="Rf4b699579def4231"/>
          <a:stretch xmlns:a="http://schemas.openxmlformats.org/drawingml/2006/main">
            <a:fillRect l="0" t="0" r="0" b="0"/>
          </a:stretch>
        </p:blipFill>
        <p:spPr>
          <a:xfrm xmlns:a="http://schemas.openxmlformats.org/drawingml/2006/main">
            <a:off x="1912610" y="3235146"/>
            <a:ext cx="104775" cy="104774"/>
          </a:xfrm>
          <a:prstGeom xmlns:a="http://schemas.openxmlformats.org/drawingml/2006/main" prst="rect">
            <a:avLst/>
          </a:prstGeom>
        </p:spPr>
      </p:pic>
      <p:pic>
        <p:nvPicPr>
          <p:cNvPr id="24" name="object 6"/>
          <p:cNvPicPr>
            <a:picLocks xmlns:a="http://schemas.openxmlformats.org/drawingml/2006/main" noChangeAspect="1"/>
          </p:cNvPicPr>
          <p:nvPr/>
        </p:nvPicPr>
        <p:blipFill>
          <a:blip xmlns:r="http://schemas.openxmlformats.org/officeDocument/2006/relationships" xmlns:a="http://schemas.openxmlformats.org/drawingml/2006/main" r:embed="Rf4b699579def4231"/>
          <a:stretch xmlns:a="http://schemas.openxmlformats.org/drawingml/2006/main">
            <a:fillRect l="0" t="0" r="0" b="0"/>
          </a:stretch>
        </p:blipFill>
        <p:spPr>
          <a:xfrm xmlns:a="http://schemas.openxmlformats.org/drawingml/2006/main">
            <a:off x="1912610" y="3654245"/>
            <a:ext cx="104775" cy="104774"/>
          </a:xfrm>
          <a:prstGeom xmlns:a="http://schemas.openxmlformats.org/drawingml/2006/main" prst="rect">
            <a:avLst/>
          </a:prstGeom>
        </p:spPr>
      </p:pic>
      <p:pic>
        <p:nvPicPr>
          <p:cNvPr id="25" name="object 7"/>
          <p:cNvPicPr>
            <a:picLocks xmlns:a="http://schemas.openxmlformats.org/drawingml/2006/main" noChangeAspect="1"/>
          </p:cNvPicPr>
          <p:nvPr/>
        </p:nvPicPr>
        <p:blipFill>
          <a:blip xmlns:r="http://schemas.openxmlformats.org/officeDocument/2006/relationships" xmlns:a="http://schemas.openxmlformats.org/drawingml/2006/main" r:embed="Rf4b699579def4231"/>
          <a:stretch xmlns:a="http://schemas.openxmlformats.org/drawingml/2006/main">
            <a:fillRect l="0" t="0" r="0" b="0"/>
          </a:stretch>
        </p:blipFill>
        <p:spPr>
          <a:xfrm xmlns:a="http://schemas.openxmlformats.org/drawingml/2006/main">
            <a:off x="1912610" y="4073345"/>
            <a:ext cx="104775" cy="104774"/>
          </a:xfrm>
          <a:prstGeom xmlns:a="http://schemas.openxmlformats.org/drawingml/2006/main" prst="rect">
            <a:avLst/>
          </a:prstGeom>
        </p:spPr>
      </p:pic>
      <p:pic>
        <p:nvPicPr>
          <p:cNvPr id="26" name="object 8"/>
          <p:cNvPicPr>
            <a:picLocks xmlns:a="http://schemas.openxmlformats.org/drawingml/2006/main" noChangeAspect="1"/>
          </p:cNvPicPr>
          <p:nvPr/>
        </p:nvPicPr>
        <p:blipFill>
          <a:blip xmlns:r="http://schemas.openxmlformats.org/officeDocument/2006/relationships" xmlns:a="http://schemas.openxmlformats.org/drawingml/2006/main" r:embed="Rf4b699579def4231"/>
          <a:stretch xmlns:a="http://schemas.openxmlformats.org/drawingml/2006/main">
            <a:fillRect l="0" t="0" r="0" b="0"/>
          </a:stretch>
        </p:blipFill>
        <p:spPr>
          <a:xfrm xmlns:a="http://schemas.openxmlformats.org/drawingml/2006/main">
            <a:off x="1912610" y="4492445"/>
            <a:ext cx="104775" cy="104774"/>
          </a:xfrm>
          <a:prstGeom xmlns:a="http://schemas.openxmlformats.org/drawingml/2006/main" prst="rect">
            <a:avLst/>
          </a:prstGeom>
        </p:spPr>
      </p:pic>
      <p:sp>
        <p:nvSpPr>
          <p:cNvPr id="9" name="object 9">
            <a:extLst xmlns:a="http://schemas.openxmlformats.org/drawingml/2006/main">
              <a:ext uri="{FF2B5EF4-FFF2-40B4-BE49-F238E27FC236}">
                <a16:creationId xmlns:a16="http://schemas.microsoft.com/office/drawing/2014/main" id="{4A0D5083-3D48-4F59-AF04-96BD35A5991B}"/>
              </a:ext>
            </a:extLst>
          </p:cNvPr>
          <p:cNvSpPr>
            <a:spLocks xmlns:a="http://schemas.openxmlformats.org/drawingml/2006/main" noGrp="1"/>
          </p:cNvSpPr>
          <p:nvPr/>
        </p:nvSpPr>
        <p:spPr>
          <a:xfrm xmlns:a="http://schemas.openxmlformats.org/drawingml/2006/main">
            <a:off x="2143125" y="2667000"/>
            <a:ext cx="4476750" cy="2857500"/>
          </a:xfrm>
          <a:prstGeom xmlns:a="http://schemas.openxmlformats.org/drawingml/2006/main" prst="rect">
            <a:avLst/>
          </a:prstGeom>
        </p:spPr>
        <p:txBody>
          <a:bodyPr xmlns:a="http://schemas.openxmlformats.org/drawingml/2006/main" vert="horz" wrap="square" lIns="0" tIns="16510" rIns="0" bIns="0">
            <a:spAutoFit/>
          </a:bodyPr>
          <a:lstStyle xmlns:a="http://schemas.openxmlformats.org/drawingml/2006/main"/>
          <a:p xmlns:a="http://schemas.openxmlformats.org/drawingml/2006/main">
            <a:pPr marL="12700" algn="l">
              <a:lnSpc>
                <a:spcPct val="100000"/>
              </a:lnSpc>
              <a:spcBef>
                <a:spcPts val="130"/>
              </a:spcBef>
              <a:buNone/>
            </a:pPr>
            <a:r>
              <a:rPr sz="2550">
                <a:solidFill>
                  <a:srgbClr val="FFFFFF"/>
                </a:solidFill>
                <a:latin typeface="Trebuchet MS"/>
                <a:ea typeface="Trebuchet MS"/>
                <a:cs typeface="Trebuchet MS"/>
              </a:rPr>
              <a:t>Guests: truthful menu</a:t>
            </a:r>
          </a:p>
          <a:p xmlns:a="http://schemas.openxmlformats.org/drawingml/2006/main">
            <a:pPr marL="12700" marR="5080" algn="l">
              <a:lnSpc>
                <a:spcPct val="100000"/>
              </a:lnSpc>
              <a:buNone/>
            </a:pPr>
            <a:r>
              <a:rPr sz="2550">
                <a:solidFill>
                  <a:srgbClr val="FFFFFF"/>
                </a:solidFill>
                <a:latin typeface="Trebuchet MS"/>
                <a:ea typeface="Trebuchet MS"/>
                <a:cs typeface="Trebuchet MS"/>
              </a:rPr>
              <a:t>Kitchen: safer tickets</a:t>
            </a:r>
          </a:p>
          <a:p xmlns:a="http://schemas.openxmlformats.org/drawingml/2006/main">
            <a:pPr marL="12700" marR="5080" algn="l">
              <a:lnSpc>
                <a:spcPct val="100000"/>
              </a:lnSpc>
              <a:buNone/>
            </a:pPr>
            <a:r>
              <a:rPr sz="2550">
                <a:solidFill>
                  <a:srgbClr val="FFFFFF"/>
                </a:solidFill>
                <a:latin typeface="Trebuchet MS"/>
                <a:ea typeface="Trebuchet MS"/>
                <a:cs typeface="Trebuchet MS"/>
              </a:rPr>
              <a:t>Waiters: next action</a:t>
            </a:r>
          </a:p>
          <a:p xmlns:a="http://schemas.openxmlformats.org/drawingml/2006/main">
            <a:pPr marL="12700" marR="5080" algn="l">
              <a:lnSpc>
                <a:spcPct val="100000"/>
              </a:lnSpc>
              <a:buNone/>
            </a:pPr>
            <a:r>
              <a:rPr sz="2550">
                <a:solidFill>
                  <a:srgbClr val="FFFFFF"/>
                </a:solidFill>
                <a:latin typeface="Trebuchet MS"/>
                <a:ea typeface="Trebuchet MS"/>
                <a:cs typeface="Trebuchet MS"/>
              </a:rPr>
              <a:t>Managers: live control</a:t>
            </a:r>
          </a:p>
          <a:p xmlns:a="http://schemas.openxmlformats.org/drawingml/2006/main">
            <a:pPr marL="12700" marR="5080" algn="l">
              <a:lnSpc>
                <a:spcPct val="100000"/>
              </a:lnSpc>
              <a:buNone/>
            </a:pPr>
            <a:r>
              <a:rPr sz="2550">
                <a:solidFill>
                  <a:srgbClr val="FFFFFF"/>
                </a:solidFill>
                <a:latin typeface="Trebuchet MS"/>
                <a:ea typeface="Trebuchet MS"/>
                <a:cs typeface="Trebuchet MS"/>
              </a:rPr>
              <a:t>Fewer broken promises</a:t>
            </a:r>
          </a:p>
        </p:txBody>
      </p:sp>
      <p:pic>
        <p:nvPicPr>
          <p:cNvPr id="28" name="object 10"/>
          <p:cNvPicPr>
            <a:picLocks xmlns:a="http://schemas.openxmlformats.org/drawingml/2006/main" noChangeAspect="1"/>
          </p:cNvPicPr>
          <p:nvPr/>
        </p:nvPicPr>
        <p:blipFill>
          <a:blip xmlns:r="http://schemas.openxmlformats.org/officeDocument/2006/relationships" xmlns:a="http://schemas.openxmlformats.org/drawingml/2006/main" r:embed="Rd299cdce51044415"/>
          <a:stretch xmlns:a="http://schemas.openxmlformats.org/drawingml/2006/main">
            <a:fillRect l="0" t="0" r="0" b="0"/>
          </a:stretch>
        </p:blipFill>
        <p:spPr>
          <a:xfrm xmlns:a="http://schemas.openxmlformats.org/drawingml/2006/main">
            <a:off x="99688" y="0"/>
            <a:ext cx="1485899" cy="1057274"/>
          </a:xfrm>
          <a:prstGeom xmlns:a="http://schemas.openxmlformats.org/drawingml/2006/main" prst="rect">
            <a:avLst/>
          </a:prstGeom>
        </p:spPr>
      </p:pic>
      <p:sp>
        <p:nvSpPr>
          <p:cNvPr id="11" name="object 11">
            <a:extLst xmlns:a="http://schemas.openxmlformats.org/drawingml/2006/main">
              <a:ext uri="{FF2B5EF4-FFF2-40B4-BE49-F238E27FC236}">
                <a16:creationId xmlns:a16="http://schemas.microsoft.com/office/drawing/2014/main" id="{877623E7-BA2E-4C1F-BBCC-C693A475584E}"/>
              </a:ext>
            </a:extLst>
          </p:cNvPr>
          <p:cNvSpPr>
            <a:spLocks xmlns:a="http://schemas.openxmlformats.org/drawingml/2006/main" noGrp="1"/>
          </p:cNvSpPr>
          <p:nvPr/>
        </p:nvSpPr>
        <p:spPr>
          <a:xfrm xmlns:a="http://schemas.openxmlformats.org/drawingml/2006/main">
            <a:off x="447614" y="244532"/>
            <a:ext cx="793750" cy="425450"/>
          </a:xfrm>
          <a:prstGeom xmlns:a="http://schemas.openxmlformats.org/drawingml/2006/main" prst="rect">
            <a:avLst/>
          </a:prstGeom>
        </p:spPr>
        <p:txBody>
          <a:bodyPr xmlns:a="http://schemas.openxmlformats.org/drawingml/2006/main" vert="horz" wrap="square" lIns="0" tIns="44450" rIns="0" bIns="0">
            <a:spAutoFit/>
          </a:bodyPr>
          <a:lstStyle xmlns:a="http://schemas.openxmlformats.org/drawingml/2006/main"/>
          <a:p xmlns:a="http://schemas.openxmlformats.org/drawingml/2006/main">
            <a:pPr marL="12700">
              <a:lnSpc>
                <a:spcPct val="100000"/>
              </a:lnSpc>
              <a:spcBef>
                <a:spcPts val="350"/>
              </a:spcBef>
              <a:buNone/>
            </a:pPr>
            <a:r>
              <a:rPr sz="1100">
                <a:solidFill>
                  <a:srgbClr val="FFFFFF"/>
                </a:solidFill>
                <a:latin typeface="Trebuchet MS"/>
                <a:ea typeface="Trebuchet MS"/>
                <a:cs typeface="Trebuchet MS"/>
              </a:rPr>
              <a:t>FlowDine</a:t>
            </a:r>
          </a:p>
          <a:p xmlns:a="http://schemas.openxmlformats.org/drawingml/2006/main">
            <a:pPr marL="12700">
              <a:lnSpc>
                <a:spcPct val="100000"/>
              </a:lnSpc>
              <a:spcBef>
                <a:spcPts val="255"/>
              </a:spcBef>
              <a:buNone/>
            </a:pPr>
            <a:r>
              <a:rPr sz="1100">
                <a:solidFill>
                  <a:srgbClr val="FFFFFF"/>
                </a:solidFill>
                <a:latin typeface="Trebuchet MS"/>
                <a:ea typeface="Trebuchet MS"/>
                <a:cs typeface="Trebuchet MS"/>
              </a:rPr>
              <a:t>AI</a:t>
            </a:r>
          </a:p>
        </p:txBody>
      </p:sp>
      <p:pic>
        <p:nvPicPr>
          <p:cNvPr id="30" name="object 12"/>
          <p:cNvPicPr>
            <a:picLocks xmlns:a="http://schemas.openxmlformats.org/drawingml/2006/main" noChangeAspect="1"/>
          </p:cNvPicPr>
          <p:nvPr/>
        </p:nvPicPr>
        <p:blipFill>
          <a:blip xmlns:r="http://schemas.openxmlformats.org/officeDocument/2006/relationships" xmlns:a="http://schemas.openxmlformats.org/drawingml/2006/main" r:embed="R7973b379d4e94ba3"/>
          <a:stretch xmlns:a="http://schemas.openxmlformats.org/drawingml/2006/main">
            <a:fillRect l="0" t="0" r="0" b="0"/>
          </a:stretch>
        </p:blipFill>
        <p:spPr>
          <a:xfrm xmlns:a="http://schemas.openxmlformats.org/drawingml/2006/main">
            <a:off x="7477125" y="1809750"/>
            <a:ext cx="3905250" cy="4095750"/>
          </a:xfrm>
          <a:prstGeom xmlns:a="http://schemas.openxmlformats.org/drawingml/2006/main" prst="rect">
            <a:avLst/>
          </a:prstGeom>
        </p:spPr>
      </p:pic>
    </p:spTree>
    <p:extLst>
      <p:ext uri="{BB962C8B-B14F-4D97-AF65-F5344CB8AC3E}">
        <p14:creationId xmlns:p14="http://schemas.microsoft.com/office/powerpoint/2010/main" val="185645392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0" name="object 2"/>
          <p:cNvPicPr>
            <a:picLocks xmlns:a="http://schemas.openxmlformats.org/drawingml/2006/main" noChangeAspect="1"/>
          </p:cNvPicPr>
          <p:nvPr/>
        </p:nvPicPr>
        <p:blipFill>
          <a:blip xmlns:r="http://schemas.openxmlformats.org/officeDocument/2006/relationships" xmlns:a="http://schemas.openxmlformats.org/drawingml/2006/main" r:embed="R62b3eccfc6bd44ae"/>
          <a:stretch xmlns:a="http://schemas.openxmlformats.org/drawingml/2006/main">
            <a:fillRect l="0" t="0" r="0" b="0"/>
          </a:stretch>
        </p:blipFill>
        <p:spPr>
          <a:xfrm xmlns:a="http://schemas.openxmlformats.org/drawingml/2006/main">
            <a:off x="11277599" y="0"/>
            <a:ext cx="914399" cy="989409"/>
          </a:xfrm>
          <a:prstGeom xmlns:a="http://schemas.openxmlformats.org/drawingml/2006/main" prst="rect">
            <a:avLst/>
          </a:prstGeom>
        </p:spPr>
      </p:pic>
      <p:pic>
        <p:nvPicPr>
          <p:cNvPr id="21" name="object 3"/>
          <p:cNvPicPr>
            <a:picLocks xmlns:a="http://schemas.openxmlformats.org/drawingml/2006/main" noChangeAspect="1"/>
          </p:cNvPicPr>
          <p:nvPr/>
        </p:nvPicPr>
        <p:blipFill>
          <a:blip xmlns:r="http://schemas.openxmlformats.org/officeDocument/2006/relationships" xmlns:a="http://schemas.openxmlformats.org/drawingml/2006/main" r:embed="Ra2f52edb93304154"/>
          <a:stretch xmlns:a="http://schemas.openxmlformats.org/drawingml/2006/main">
            <a:fillRect l="0" t="0" r="0" b="0"/>
          </a:stretch>
        </p:blipFill>
        <p:spPr>
          <a:xfrm xmlns:a="http://schemas.openxmlformats.org/drawingml/2006/main">
            <a:off x="41271" y="3171"/>
            <a:ext cx="1485899" cy="1057274"/>
          </a:xfrm>
          <a:prstGeom xmlns:a="http://schemas.openxmlformats.org/drawingml/2006/main" prst="rect">
            <a:avLst/>
          </a:prstGeom>
        </p:spPr>
      </p:pic>
      <p:sp>
        <p:nvSpPr>
          <p:cNvPr id="4" name="object 4">
            <a:extLst xmlns:a="http://schemas.openxmlformats.org/drawingml/2006/main">
              <a:ext uri="{FF2B5EF4-FFF2-40B4-BE49-F238E27FC236}">
                <a16:creationId xmlns:a16="http://schemas.microsoft.com/office/drawing/2014/main" id="{DF941658-4F64-4F68-A256-0DB632AB7AB9}"/>
              </a:ext>
            </a:extLst>
          </p:cNvPr>
          <p:cNvSpPr>
            <a:spLocks xmlns:a="http://schemas.openxmlformats.org/drawingml/2006/main" noGrp="1"/>
          </p:cNvSpPr>
          <p:nvPr/>
        </p:nvSpPr>
        <p:spPr>
          <a:xfrm xmlns:a="http://schemas.openxmlformats.org/drawingml/2006/main">
            <a:off x="423425" y="301631"/>
            <a:ext cx="770890" cy="425450"/>
          </a:xfrm>
          <a:prstGeom xmlns:a="http://schemas.openxmlformats.org/drawingml/2006/main" prst="rect">
            <a:avLst/>
          </a:prstGeom>
        </p:spPr>
        <p:txBody>
          <a:bodyPr xmlns:a="http://schemas.openxmlformats.org/drawingml/2006/main" vert="horz" wrap="square" lIns="0" tIns="44450" rIns="0" bIns="0">
            <a:spAutoFit/>
          </a:bodyPr>
          <a:lstStyle xmlns:a="http://schemas.openxmlformats.org/drawingml/2006/main"/>
          <a:p xmlns:a="http://schemas.openxmlformats.org/drawingml/2006/main">
            <a:pPr algn="ctr">
              <a:lnSpc>
                <a:spcPct val="100000"/>
              </a:lnSpc>
              <a:spcBef>
                <a:spcPts val="350"/>
              </a:spcBef>
              <a:buNone/>
            </a:pPr>
            <a:r>
              <a:rPr sz="1100">
                <a:solidFill>
                  <a:srgbClr val="FFFFFF"/>
                </a:solidFill>
                <a:latin typeface="Trebuchet MS"/>
                <a:ea typeface="Trebuchet MS"/>
                <a:cs typeface="Trebuchet MS"/>
              </a:rPr>
              <a:t>FlowDine</a:t>
            </a:r>
          </a:p>
          <a:p xmlns:a="http://schemas.openxmlformats.org/drawingml/2006/main">
            <a:pPr algn="ctr">
              <a:lnSpc>
                <a:spcPct val="100000"/>
              </a:lnSpc>
              <a:spcBef>
                <a:spcPts val="255"/>
              </a:spcBef>
              <a:buNone/>
            </a:pPr>
            <a:r>
              <a:rPr sz="1100">
                <a:solidFill>
                  <a:srgbClr val="FFFFFF"/>
                </a:solidFill>
                <a:latin typeface="Trebuchet MS"/>
                <a:ea typeface="Trebuchet MS"/>
                <a:cs typeface="Trebuchet MS"/>
              </a:rPr>
              <a:t>AI</a:t>
            </a:r>
          </a:p>
        </p:txBody>
      </p:sp>
      <p:sp>
        <p:nvSpPr>
          <p:cNvPr id="5" name="object 5">
            <a:extLst xmlns:a="http://schemas.openxmlformats.org/drawingml/2006/main">
              <a:ext uri="{FF2B5EF4-FFF2-40B4-BE49-F238E27FC236}">
                <a16:creationId xmlns:a16="http://schemas.microsoft.com/office/drawing/2014/main" id="{79DDC851-B323-43D7-A465-0B32341DA653}"/>
              </a:ext>
            </a:extLst>
          </p:cNvPr>
          <p:cNvSpPr>
            <a:spLocks xmlns:a="http://schemas.openxmlformats.org/drawingml/2006/main" noGrp="1"/>
          </p:cNvSpPr>
          <p:nvPr>
            <p:ph type="title" idx="0"/>
          </p:nvPr>
        </p:nvSpPr>
        <p:spPr>
          <a:xfrm xmlns:a="http://schemas.openxmlformats.org/drawingml/2006/main">
            <a:off x="1796975" y="57702"/>
            <a:ext cx="8805545" cy="624205"/>
          </a:xfrm>
          <a:prstGeom xmlns:a="http://schemas.openxmlformats.org/drawingml/2006/main" prst="rect">
            <a:avLst/>
          </a:prstGeom>
        </p:spPr>
        <p:txBody>
          <a:bodyPr xmlns:a="http://schemas.openxmlformats.org/drawingml/2006/main" vert="horz" wrap="square" lIns="0" tIns="16510" rIns="0" bIns="0">
            <a:spAutoFit/>
          </a:bodyPr>
          <a:lstStyle xmlns:a="http://schemas.openxmlformats.org/drawingml/2006/main"/>
          <a:p xmlns:a="http://schemas.openxmlformats.org/drawingml/2006/main">
            <a:pPr marL="1360170">
              <a:lnSpc>
                <a:spcPct val="100000"/>
              </a:lnSpc>
              <a:spcBef>
                <a:spcPts val="130"/>
              </a:spcBef>
              <a:buNone/>
            </a:pPr>
            <a:r>
              <a:t>Future</a:t>
            </a:r>
            <a:r>
              <a:t> </a:t>
            </a:r>
            <a:r>
              <a:t>Scope</a:t>
            </a:r>
            <a:r>
              <a:t> </a:t>
            </a:r>
            <a:r>
              <a:t>&amp; </a:t>
            </a:r>
            <a:r>
              <a:t>Conclusion</a:t>
            </a:r>
          </a:p>
        </p:txBody>
      </p:sp>
      <p:pic>
        <p:nvPicPr>
          <p:cNvPr id="24" name="object 6"/>
          <p:cNvPicPr>
            <a:picLocks xmlns:a="http://schemas.openxmlformats.org/drawingml/2006/main" noChangeAspect="1"/>
          </p:cNvPicPr>
          <p:nvPr/>
        </p:nvPicPr>
        <p:blipFill>
          <a:blip xmlns:r="http://schemas.openxmlformats.org/officeDocument/2006/relationships" xmlns:a="http://schemas.openxmlformats.org/drawingml/2006/main" r:embed="R558fc2d24844479f"/>
          <a:stretch xmlns:a="http://schemas.openxmlformats.org/drawingml/2006/main">
            <a:fillRect l="0" t="0" r="0" b="0"/>
          </a:stretch>
        </p:blipFill>
        <p:spPr>
          <a:xfrm xmlns:a="http://schemas.openxmlformats.org/drawingml/2006/main">
            <a:off x="1854193" y="2433887"/>
            <a:ext cx="104775" cy="104774"/>
          </a:xfrm>
          <a:prstGeom xmlns:a="http://schemas.openxmlformats.org/drawingml/2006/main" prst="rect">
            <a:avLst/>
          </a:prstGeom>
        </p:spPr>
      </p:pic>
      <p:pic>
        <p:nvPicPr>
          <p:cNvPr id="25" name="object 7"/>
          <p:cNvPicPr>
            <a:picLocks xmlns:a="http://schemas.openxmlformats.org/drawingml/2006/main" noChangeAspect="1"/>
          </p:cNvPicPr>
          <p:nvPr/>
        </p:nvPicPr>
        <p:blipFill>
          <a:blip xmlns:r="http://schemas.openxmlformats.org/officeDocument/2006/relationships" xmlns:a="http://schemas.openxmlformats.org/drawingml/2006/main" r:embed="R558fc2d24844479f"/>
          <a:stretch xmlns:a="http://schemas.openxmlformats.org/drawingml/2006/main">
            <a:fillRect l="0" t="0" r="0" b="0"/>
          </a:stretch>
        </p:blipFill>
        <p:spPr>
          <a:xfrm xmlns:a="http://schemas.openxmlformats.org/drawingml/2006/main">
            <a:off x="1854193" y="2852987"/>
            <a:ext cx="104775" cy="104774"/>
          </a:xfrm>
          <a:prstGeom xmlns:a="http://schemas.openxmlformats.org/drawingml/2006/main" prst="rect">
            <a:avLst/>
          </a:prstGeom>
        </p:spPr>
      </p:pic>
      <p:pic>
        <p:nvPicPr>
          <p:cNvPr id="26" name="object 8"/>
          <p:cNvPicPr>
            <a:picLocks xmlns:a="http://schemas.openxmlformats.org/drawingml/2006/main" noChangeAspect="1"/>
          </p:cNvPicPr>
          <p:nvPr/>
        </p:nvPicPr>
        <p:blipFill>
          <a:blip xmlns:r="http://schemas.openxmlformats.org/officeDocument/2006/relationships" xmlns:a="http://schemas.openxmlformats.org/drawingml/2006/main" r:embed="R558fc2d24844479f"/>
          <a:stretch xmlns:a="http://schemas.openxmlformats.org/drawingml/2006/main">
            <a:fillRect l="0" t="0" r="0" b="0"/>
          </a:stretch>
        </p:blipFill>
        <p:spPr>
          <a:xfrm xmlns:a="http://schemas.openxmlformats.org/drawingml/2006/main">
            <a:off x="1854193" y="3272087"/>
            <a:ext cx="104775" cy="104774"/>
          </a:xfrm>
          <a:prstGeom xmlns:a="http://schemas.openxmlformats.org/drawingml/2006/main" prst="rect">
            <a:avLst/>
          </a:prstGeom>
        </p:spPr>
      </p:pic>
      <p:pic>
        <p:nvPicPr>
          <p:cNvPr id="27" name="object 9"/>
          <p:cNvPicPr>
            <a:picLocks xmlns:a="http://schemas.openxmlformats.org/drawingml/2006/main" noChangeAspect="1"/>
          </p:cNvPicPr>
          <p:nvPr/>
        </p:nvPicPr>
        <p:blipFill>
          <a:blip xmlns:r="http://schemas.openxmlformats.org/officeDocument/2006/relationships" xmlns:a="http://schemas.openxmlformats.org/drawingml/2006/main" r:embed="R558fc2d24844479f"/>
          <a:stretch xmlns:a="http://schemas.openxmlformats.org/drawingml/2006/main">
            <a:fillRect l="0" t="0" r="0" b="0"/>
          </a:stretch>
        </p:blipFill>
        <p:spPr>
          <a:xfrm xmlns:a="http://schemas.openxmlformats.org/drawingml/2006/main">
            <a:off x="1854193" y="3691187"/>
            <a:ext cx="104775" cy="104774"/>
          </a:xfrm>
          <a:prstGeom xmlns:a="http://schemas.openxmlformats.org/drawingml/2006/main" prst="rect">
            <a:avLst/>
          </a:prstGeom>
        </p:spPr>
      </p:pic>
      <p:pic>
        <p:nvPicPr>
          <p:cNvPr id="28" name="object 10"/>
          <p:cNvPicPr>
            <a:picLocks xmlns:a="http://schemas.openxmlformats.org/drawingml/2006/main" noChangeAspect="1"/>
          </p:cNvPicPr>
          <p:nvPr/>
        </p:nvPicPr>
        <p:blipFill>
          <a:blip xmlns:r="http://schemas.openxmlformats.org/officeDocument/2006/relationships" xmlns:a="http://schemas.openxmlformats.org/drawingml/2006/main" r:embed="R558fc2d24844479f"/>
          <a:stretch xmlns:a="http://schemas.openxmlformats.org/drawingml/2006/main">
            <a:fillRect l="0" t="0" r="0" b="0"/>
          </a:stretch>
        </p:blipFill>
        <p:spPr>
          <a:xfrm xmlns:a="http://schemas.openxmlformats.org/drawingml/2006/main">
            <a:off x="1854193" y="4110287"/>
            <a:ext cx="104775" cy="104774"/>
          </a:xfrm>
          <a:prstGeom xmlns:a="http://schemas.openxmlformats.org/drawingml/2006/main" prst="rect">
            <a:avLst/>
          </a:prstGeom>
        </p:spPr>
      </p:pic>
      <p:sp>
        <p:nvSpPr>
          <p:cNvPr id="11" name="object 11">
            <a:extLst xmlns:a="http://schemas.openxmlformats.org/drawingml/2006/main">
              <a:ext uri="{FF2B5EF4-FFF2-40B4-BE49-F238E27FC236}">
                <a16:creationId xmlns:a16="http://schemas.microsoft.com/office/drawing/2014/main" id="{DA2EE10E-FDF6-484A-8E97-0C8AC5EA5D5A}"/>
              </a:ext>
            </a:extLst>
          </p:cNvPr>
          <p:cNvSpPr>
            <a:spLocks xmlns:a="http://schemas.openxmlformats.org/drawingml/2006/main" noGrp="1"/>
          </p:cNvSpPr>
          <p:nvPr/>
        </p:nvSpPr>
        <p:spPr>
          <a:xfrm xmlns:a="http://schemas.openxmlformats.org/drawingml/2006/main">
            <a:off x="2095500" y="2286000"/>
            <a:ext cx="4524375" cy="2857500"/>
          </a:xfrm>
          <a:prstGeom xmlns:a="http://schemas.openxmlformats.org/drawingml/2006/main" prst="rect">
            <a:avLst/>
          </a:prstGeom>
        </p:spPr>
        <p:txBody>
          <a:bodyPr xmlns:a="http://schemas.openxmlformats.org/drawingml/2006/main" vert="horz" wrap="square" lIns="0" tIns="16510" rIns="0" bIns="0">
            <a:spAutoFit/>
          </a:bodyPr>
          <a:lstStyle xmlns:a="http://schemas.openxmlformats.org/drawingml/2006/main"/>
          <a:p xmlns:a="http://schemas.openxmlformats.org/drawingml/2006/main">
            <a:pPr marL="12700" marR="5080" algn="l">
              <a:lnSpc>
                <a:spcPct val="100000"/>
              </a:lnSpc>
              <a:spcBef>
                <a:spcPts val="130"/>
              </a:spcBef>
              <a:buNone/>
            </a:pPr>
            <a:r>
              <a:rPr sz="2550">
                <a:solidFill>
                  <a:srgbClr val="FFFFFF"/>
                </a:solidFill>
                <a:latin typeface="Trebuchet MS"/>
                <a:ea typeface="Trebuchet MS"/>
                <a:cs typeface="Trebuchet MS"/>
              </a:rPr>
              <a:t>Email / Google auth</a:t>
            </a:r>
          </a:p>
          <a:p xmlns:a="http://schemas.openxmlformats.org/drawingml/2006/main">
            <a:pPr marL="12700" marR="5080" algn="l">
              <a:lnSpc>
                <a:spcPct val="100000"/>
              </a:lnSpc>
              <a:spcBef>
                <a:spcPts val="130"/>
              </a:spcBef>
              <a:buNone/>
            </a:pPr>
            <a:r>
              <a:rPr sz="2550">
                <a:solidFill>
                  <a:srgbClr val="FFFFFF"/>
                </a:solidFill>
                <a:latin typeface="Trebuchet MS"/>
                <a:ea typeface="Trebuchet MS"/>
                <a:cs typeface="Trebuchet MS"/>
              </a:rPr>
              <a:t>Multi-tenant onboarding</a:t>
            </a:r>
          </a:p>
          <a:p xmlns:a="http://schemas.openxmlformats.org/drawingml/2006/main">
            <a:pPr marL="12700" marR="5080" algn="l">
              <a:lnSpc>
                <a:spcPct val="100000"/>
              </a:lnSpc>
              <a:spcBef>
                <a:spcPts val="130"/>
              </a:spcBef>
              <a:buNone/>
            </a:pPr>
            <a:r>
              <a:rPr sz="2550">
                <a:solidFill>
                  <a:srgbClr val="FFFFFF"/>
                </a:solidFill>
                <a:latin typeface="Trebuchet MS"/>
                <a:ea typeface="Trebuchet MS"/>
                <a:cs typeface="Trebuchet MS"/>
              </a:rPr>
              <a:t>Realtime + payments</a:t>
            </a:r>
          </a:p>
          <a:p xmlns:a="http://schemas.openxmlformats.org/drawingml/2006/main">
            <a:pPr marL="12700" marR="5080" algn="l">
              <a:lnSpc>
                <a:spcPct val="100000"/>
              </a:lnSpc>
              <a:spcBef>
                <a:spcPts val="130"/>
              </a:spcBef>
              <a:buNone/>
            </a:pPr>
            <a:r>
              <a:rPr sz="2550">
                <a:solidFill>
                  <a:srgbClr val="FFFFFF"/>
                </a:solidFill>
                <a:latin typeface="Trebuchet MS"/>
                <a:ea typeface="Trebuchet MS"/>
                <a:cs typeface="Trebuchet MS"/>
              </a:rPr>
              <a:t>Multi-location analytics</a:t>
            </a:r>
          </a:p>
          <a:p xmlns:a="http://schemas.openxmlformats.org/drawingml/2006/main">
            <a:pPr marL="12700" marR="5080" algn="l">
              <a:lnSpc>
                <a:spcPct val="100000"/>
              </a:lnSpc>
              <a:spcBef>
                <a:spcPts val="130"/>
              </a:spcBef>
              <a:buNone/>
            </a:pPr>
            <a:r>
              <a:rPr sz="2550">
                <a:solidFill>
                  <a:srgbClr val="FFFFFF"/>
                </a:solidFill>
                <a:latin typeface="Trebuchet MS"/>
                <a:ea typeface="Trebuchet MS"/>
                <a:cs typeface="Trebuchet MS"/>
              </a:rPr>
              <a:t>Live demo today</a:t>
            </a:r>
          </a:p>
        </p:txBody>
      </p:sp>
      <p:pic>
        <p:nvPicPr>
          <p:cNvPr id="30" name="object 12"/>
          <p:cNvPicPr>
            <a:picLocks xmlns:a="http://schemas.openxmlformats.org/drawingml/2006/main" noChangeAspect="1"/>
          </p:cNvPicPr>
          <p:nvPr/>
        </p:nvPicPr>
        <p:blipFill>
          <a:blip xmlns:r="http://schemas.openxmlformats.org/officeDocument/2006/relationships" xmlns:a="http://schemas.openxmlformats.org/drawingml/2006/main" r:embed="R6c2428cb3b874663"/>
          <a:stretch xmlns:a="http://schemas.openxmlformats.org/drawingml/2006/main">
            <a:fillRect l="0" t="0" r="0" b="0"/>
          </a:stretch>
        </p:blipFill>
        <p:spPr>
          <a:xfrm xmlns:a="http://schemas.openxmlformats.org/drawingml/2006/main">
            <a:off x="7477125" y="1809750"/>
            <a:ext cx="3905250" cy="4095750"/>
          </a:xfrm>
          <a:prstGeom xmlns:a="http://schemas.openxmlformats.org/drawingml/2006/main" prst="rect">
            <a:avLst/>
          </a:prstGeom>
        </p:spPr>
      </p:pic>
    </p:spTree>
    <p:extLst>
      <p:ext uri="{BB962C8B-B14F-4D97-AF65-F5344CB8AC3E}">
        <p14:creationId xmlns:p14="http://schemas.microsoft.com/office/powerpoint/2010/main" val="30413527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2026-07-27T05:28:27.1150000Z</dcterms:created>
  <dcterms:modified xsi:type="dcterms:W3CDTF">2026-07-27T05:28:27.1150000Z</dcterms:modified>
</coreProperties>
</file>