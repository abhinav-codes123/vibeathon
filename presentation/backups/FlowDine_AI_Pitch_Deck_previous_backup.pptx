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1.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0251760f5b64cd7" /><Relationship Type="http://schemas.openxmlformats.org/officeDocument/2006/relationships/extended-properties" Target="/docProps/app.xml" Id="R883d413266d04afd" /><Relationship Type="http://schemas.openxmlformats.org/officeDocument/2006/relationships/officeDocument" Target="/ppt/presentation.xml" Id="R336c71fef4944f08" /></Relationships>
</file>

<file path=ppt/presentation.xml><?xml version="1.0" encoding="utf-8"?>
<p:presentation xmlns:p="http://schemas.openxmlformats.org/presentationml/2006/main">
  <p:sldMasterIdLst>
    <p:sldMasterId xmlns:r="http://schemas.openxmlformats.org/officeDocument/2006/relationships" id="2147483648" r:id="Rbcd5e15b056c4b2e"/>
  </p:sldMasterIdLst>
  <p:notesMasterIdLst>
    <p:notesMasterId xmlns:r="http://schemas.openxmlformats.org/officeDocument/2006/relationships" r:id="R609a7182210b4c89"/>
  </p:notesMasterIdLst>
  <p:sldIdLst>
    <p:sldId xmlns:r="http://schemas.openxmlformats.org/officeDocument/2006/relationships" id="256" r:id="R163dc1690c924008"/>
    <p:sldId xmlns:r="http://schemas.openxmlformats.org/officeDocument/2006/relationships" id="257" r:id="R338e556a80794752"/>
    <p:sldId xmlns:r="http://schemas.openxmlformats.org/officeDocument/2006/relationships" id="258" r:id="Rad06268586b241bb"/>
    <p:sldId xmlns:r="http://schemas.openxmlformats.org/officeDocument/2006/relationships" id="259" r:id="Ra4324a5dbc094ab0"/>
    <p:sldId xmlns:r="http://schemas.openxmlformats.org/officeDocument/2006/relationships" id="260" r:id="R1210ee4faa2540b9"/>
    <p:sldId xmlns:r="http://schemas.openxmlformats.org/officeDocument/2006/relationships" id="261" r:id="Rb66a125981cd4745"/>
    <p:sldId xmlns:r="http://schemas.openxmlformats.org/officeDocument/2006/relationships" id="262" r:id="R9abcfbd3a8f64c78"/>
    <p:sldId xmlns:r="http://schemas.openxmlformats.org/officeDocument/2006/relationships" id="263" r:id="Rebdffc0d86274e2f"/>
    <p:sldId xmlns:r="http://schemas.openxmlformats.org/officeDocument/2006/relationships" id="264" r:id="R1a6aea19224b411c"/>
    <p:sldId xmlns:r="http://schemas.openxmlformats.org/officeDocument/2006/relationships" id="265" r:id="R9c07aefbb06a413c"/>
    <p:sldId xmlns:r="http://schemas.openxmlformats.org/officeDocument/2006/relationships" id="266" r:id="R0a8e278f4bff4dd6"/>
    <p:sldId xmlns:r="http://schemas.openxmlformats.org/officeDocument/2006/relationships" id="267" r:id="R4fc0aab38f834da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954af1cbb814d50" /><Relationship Type="http://schemas.openxmlformats.org/officeDocument/2006/relationships/slideMaster" Target="/ppt/slideMasters/slideMaster1.xml" Id="Rbcd5e15b056c4b2e" /><Relationship Type="http://schemas.openxmlformats.org/officeDocument/2006/relationships/notesMaster" Target="/ppt/notesMasters/notesMaster1.xml" Id="R609a7182210b4c89" /><Relationship Type="http://schemas.openxmlformats.org/officeDocument/2006/relationships/presProps" Target="/ppt/presProps.xml" Id="R3496aa93bd63433b" /><Relationship Type="http://schemas.openxmlformats.org/officeDocument/2006/relationships/tableStyles" Target="/ppt/tableStyles.xml" Id="Re1b1beec1c7c4ede" /><Relationship Type="http://schemas.openxmlformats.org/officeDocument/2006/relationships/slide" Target="/ppt/slides/slide1.xml" Id="R163dc1690c924008" /><Relationship Type="http://schemas.openxmlformats.org/officeDocument/2006/relationships/slide" Target="/ppt/slides/slide2.xml" Id="R338e556a80794752" /><Relationship Type="http://schemas.openxmlformats.org/officeDocument/2006/relationships/slide" Target="/ppt/slides/slide3.xml" Id="Rad06268586b241bb" /><Relationship Type="http://schemas.openxmlformats.org/officeDocument/2006/relationships/slide" Target="/ppt/slides/slide4.xml" Id="Ra4324a5dbc094ab0" /><Relationship Type="http://schemas.openxmlformats.org/officeDocument/2006/relationships/slide" Target="/ppt/slides/slide5.xml" Id="R1210ee4faa2540b9" /><Relationship Type="http://schemas.openxmlformats.org/officeDocument/2006/relationships/slide" Target="/ppt/slides/slide6.xml" Id="Rb66a125981cd4745" /><Relationship Type="http://schemas.openxmlformats.org/officeDocument/2006/relationships/slide" Target="/ppt/slides/slide7.xml" Id="R9abcfbd3a8f64c78" /><Relationship Type="http://schemas.openxmlformats.org/officeDocument/2006/relationships/slide" Target="/ppt/slides/slide8.xml" Id="Rebdffc0d86274e2f" /><Relationship Type="http://schemas.openxmlformats.org/officeDocument/2006/relationships/slide" Target="/ppt/slides/slide9.xml" Id="R1a6aea19224b411c" /><Relationship Type="http://schemas.openxmlformats.org/officeDocument/2006/relationships/slide" Target="/ppt/slides/slide10.xml" Id="R9c07aefbb06a413c" /><Relationship Type="http://schemas.openxmlformats.org/officeDocument/2006/relationships/slide" Target="/ppt/slides/slide11.xml" Id="R0a8e278f4bff4dd6" /><Relationship Type="http://schemas.openxmlformats.org/officeDocument/2006/relationships/slide" Target="/ppt/slides/slide12.xml" Id="R4fc0aab38f834da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897282e0025400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00687283b904ce3" /><Relationship Type="http://schemas.openxmlformats.org/officeDocument/2006/relationships/notesMaster" Target="/ppt/notesMasters/notesMaster1.xml" Id="Rabb54b81f4424abf" /></Relationships>
</file>

<file path=ppt/notesSlides/_rels/notesSlide2.xml.rels>&#65279;<?xml version="1.0" encoding="utf-8"?><Relationships xmlns="http://schemas.openxmlformats.org/package/2006/relationships"><Relationship Type="http://schemas.openxmlformats.org/officeDocument/2006/relationships/slide" Target="/ppt/slides/slide2.xml" Id="R5f96de2ff4a4451a" /><Relationship Type="http://schemas.openxmlformats.org/officeDocument/2006/relationships/notesMaster" Target="/ppt/notesMasters/notesMaster1.xml" Id="R81c7e6a793944ab5" /></Relationships>
</file>

<file path=ppt/notesSlides/_rels/notesSlide3.xml.rels>&#65279;<?xml version="1.0" encoding="utf-8"?><Relationships xmlns="http://schemas.openxmlformats.org/package/2006/relationships"><Relationship Type="http://schemas.openxmlformats.org/officeDocument/2006/relationships/slide" Target="/ppt/slides/slide3.xml" Id="R45fbce187d564c3f" /><Relationship Type="http://schemas.openxmlformats.org/officeDocument/2006/relationships/notesMaster" Target="/ppt/notesMasters/notesMaster1.xml" Id="Racf159c294e94662" /></Relationships>
</file>

<file path=ppt/notesSlides/_rels/notesSlide4.xml.rels>&#65279;<?xml version="1.0" encoding="utf-8"?><Relationships xmlns="http://schemas.openxmlformats.org/package/2006/relationships"><Relationship Type="http://schemas.openxmlformats.org/officeDocument/2006/relationships/slide" Target="/ppt/slides/slide4.xml" Id="R65de65395a7b4822" /><Relationship Type="http://schemas.openxmlformats.org/officeDocument/2006/relationships/notesMaster" Target="/ppt/notesMasters/notesMaster1.xml" Id="R8749187b36c141ac" /></Relationships>
</file>

<file path=ppt/notesSlides/_rels/notesSlide5.xml.rels>&#65279;<?xml version="1.0" encoding="utf-8"?><Relationships xmlns="http://schemas.openxmlformats.org/package/2006/relationships"><Relationship Type="http://schemas.openxmlformats.org/officeDocument/2006/relationships/slide" Target="/ppt/slides/slide5.xml" Id="R8bdfa375d1d845b5" /><Relationship Type="http://schemas.openxmlformats.org/officeDocument/2006/relationships/notesMaster" Target="/ppt/notesMasters/notesMaster1.xml" Id="R96da636885f04b41" /></Relationships>
</file>

<file path=ppt/notesSlides/_rels/notesSlide6.xml.rels>&#65279;<?xml version="1.0" encoding="utf-8"?><Relationships xmlns="http://schemas.openxmlformats.org/package/2006/relationships"><Relationship Type="http://schemas.openxmlformats.org/officeDocument/2006/relationships/slide" Target="/ppt/slides/slide6.xml" Id="R4e11e7e7a4f9483c" /><Relationship Type="http://schemas.openxmlformats.org/officeDocument/2006/relationships/notesMaster" Target="/ppt/notesMasters/notesMaster1.xml" Id="Rdb8e0e079cf14723" /></Relationships>
</file>

<file path=ppt/notesSlides/_rels/notesSlide7.xml.rels>&#65279;<?xml version="1.0" encoding="utf-8"?><Relationships xmlns="http://schemas.openxmlformats.org/package/2006/relationships"><Relationship Type="http://schemas.openxmlformats.org/officeDocument/2006/relationships/slide" Target="/ppt/slides/slide7.xml" Id="R239cccbaf9ce4eb5" /><Relationship Type="http://schemas.openxmlformats.org/officeDocument/2006/relationships/notesMaster" Target="/ppt/notesMasters/notesMaster1.xml" Id="R4046f80a3af1441a" /></Relationships>
</file>

<file path=ppt/notesSlides/_rels/notesSlide8.xml.rels>&#65279;<?xml version="1.0" encoding="utf-8"?><Relationships xmlns="http://schemas.openxmlformats.org/package/2006/relationships"><Relationship Type="http://schemas.openxmlformats.org/officeDocument/2006/relationships/slide" Target="/ppt/slides/slide8.xml" Id="R0e8e3387695f4a37" /><Relationship Type="http://schemas.openxmlformats.org/officeDocument/2006/relationships/notesMaster" Target="/ppt/notesMasters/notesMaster1.xml" Id="R4f78c6d08ea54510" /></Relationships>
</file>

<file path=ppt/notesSlides/_rels/notesSlide9.xml.rels>&#65279;<?xml version="1.0" encoding="utf-8"?><Relationships xmlns="http://schemas.openxmlformats.org/package/2006/relationships"><Relationship Type="http://schemas.openxmlformats.org/officeDocument/2006/relationships/slide" Target="/ppt/slides/slide9.xml" Id="Rddea2fe603a24c11" /><Relationship Type="http://schemas.openxmlformats.org/officeDocument/2006/relationships/notesMaster" Target="/ppt/notesMasters/notesMaster1.xml" Id="Re5f1cdc5b5ea464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1fd8fdbdbcc4e03" /><Relationship Type="http://schemas.openxmlformats.org/officeDocument/2006/relationships/notesMaster" Target="/ppt/notesMasters/notesMaster1.xml" Id="R475ac691f1c84db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133027f3c11460c" /><Relationship Type="http://schemas.openxmlformats.org/officeDocument/2006/relationships/notesMaster" Target="/ppt/notesMasters/notesMaster1.xml" Id="R83de69972f10487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f61cddb5ec54de2" /><Relationship Type="http://schemas.openxmlformats.org/officeDocument/2006/relationships/notesMaster" Target="/ppt/notesMasters/notesMaster1.xml" Id="R09d8d55f55d84d2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FlowDine AI is not another food delivery app. It is a live operating layer for the restaurant itself. Our core idea is simple: every table, ticket, ingredient, and staff action should run from the same shared truth. In the next few minutes, we will show how that digital twin removes unavailable-order frustration, helps teams act sooner, and gives managers a real-time view of the dining room.</a:t>
            </a:r>
          </a:p>
          <a:p xmlns:a="http://schemas.openxmlformats.org/drawingml/2006/main">
            <a:r>
              <a:t/>
            </a:r>
          </a:p>
          <a:p xmlns:a="http://schemas.openxmlformats.org/drawingml/2006/main">
            <a:r>
              <a:t>[Sources]</a:t>
            </a:r>
          </a:p>
          <a:p xmlns:a="http://schemas.openxmlformats.org/drawingml/2006/main">
            <a:r>
              <a:t>- FlowDine AI live project and generated social card: public/og.png</a:t>
            </a:r>
          </a:p>
          <a:p xmlns:a="http://schemas.openxmlformats.org/drawingml/2006/main">
            <a:r>
              <a:t>- VibeAthon 6.0 problem statement: Vibeathon_6.0_PS.pdf, pages 1-4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brief identifies the same pattern restaurants face every day: guests do not know what is available, queues and orders feel unpredictable, staff communication is delayed, and managers cannot see the operation as it changes. These are not separate inconveniences. They all come from fragmented systems and manual handoffs. When the menu, kitchen, floor, and inventory disagree, the guest experiences the failure first.</a:t>
            </a:r>
          </a:p>
          <a:p xmlns:a="http://schemas.openxmlformats.org/drawingml/2006/main">
            <a:r>
              <a:t/>
            </a:r>
          </a:p>
          <a:p xmlns:a="http://schemas.openxmlformats.org/drawingml/2006/main">
            <a:r>
              <a:t>[Sources]</a:t>
            </a:r>
          </a:p>
          <a:p xmlns:a="http://schemas.openxmlformats.org/drawingml/2006/main">
            <a:r>
              <a:t>- VibeAthon 6.0 problem statement: Vibeathon_6.0_PS.pdf, page 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Most restaurant products optimize one isolated touchpoint: ordering, billing, or inventory. Our insight was that local optimization still leaves the dining room disconnected. FlowDine models the restaurant as one living system. The guest sees availability from stock, the kitchen sees the accepted ticket, the waiter sees service priorities, and the manager sees the resulting risk and revenue signals. The value comes from the connection, not from any single screen.</a:t>
            </a:r>
          </a:p>
          <a:p xmlns:a="http://schemas.openxmlformats.org/drawingml/2006/main">
            <a:r>
              <a:t/>
            </a:r>
          </a:p>
          <a:p xmlns:a="http://schemas.openxmlformats.org/drawingml/2006/main">
            <a:r>
              <a:t>[Sources]</a:t>
            </a:r>
          </a:p>
          <a:p xmlns:a="http://schemas.openxmlformats.org/drawingml/2006/main">
            <a:r>
              <a:t>- FlowDine AI live deployment: https://flowdine-ai.abhinavchaudhary484.chatgpt.site</a:t>
            </a:r>
          </a:p>
          <a:p xmlns:a="http://schemas.openxmlformats.org/drawingml/2006/main">
            <a:r>
              <a:t>- Product positioning and architecture: 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FlowDine gives each role a focused workspace while keeping the underlying truth shared. Customers get confidence before ordering. Kitchen staff get prioritized tickets with notes and allergens. Waiters get the next service action and a live table map. Managers get revenue, demand, stock, and bottleneck signals. Inventory is not a separate afterthought; it participates in every accepted order and continuously reshapes what the menu can promise.</a:t>
            </a:r>
          </a:p>
          <a:p xmlns:a="http://schemas.openxmlformats.org/drawingml/2006/main">
            <a:r>
              <a:t/>
            </a:r>
          </a:p>
          <a:p xmlns:a="http://schemas.openxmlformats.org/drawingml/2006/main">
            <a:r>
              <a:t>[Sources]</a:t>
            </a:r>
          </a:p>
          <a:p xmlns:a="http://schemas.openxmlformats.org/drawingml/2006/main">
            <a:r>
              <a:t>- FlowDine AI product surfaces and shared-state architecture: README.md and docs/ARCHITECTURE.md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workflow judges can experience in the live product. A guest places a table order with notes. The server checks permissions and inventory, reserves the recipe ingredients, and creates the kitchen ticket. Kitchen and waiter roles advance the same order state. Billing uses paise-safe totals, and the manager view reacts to the same event. The important proof is that each step changes what the next role sees.</a:t>
            </a:r>
          </a:p>
          <a:p xmlns:a="http://schemas.openxmlformats.org/drawingml/2006/main">
            <a:r>
              <a:t/>
            </a:r>
          </a:p>
          <a:p xmlns:a="http://schemas.openxmlformats.org/drawingml/2006/main">
            <a:r>
              <a:t>[Sources]</a:t>
            </a:r>
          </a:p>
          <a:p xmlns:a="http://schemas.openxmlformats.org/drawingml/2006/main">
            <a:r>
              <a:t>- FlowDine AI order lifecycle: README.md</a:t>
            </a:r>
          </a:p>
          <a:p xmlns:a="http://schemas.openxmlformats.org/drawingml/2006/main">
            <a:r>
              <a:t>- Server-authoritative domain transitions: lib/domain.ts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our signature innovation. A dish is not marked available because someone remembered to toggle it. FlowDine divides usable ingredient stock by each recipe requirement and takes the minimum. In this low-stock example, paneer supports four portions while yogurt supports seven, so the menu can truthfully promise only four. When an order is accepted, inventory is reserved immediately. When the limiting ingredient reaches zero, the dish becomes unavailable automatically.</a:t>
            </a:r>
          </a:p>
          <a:p xmlns:a="http://schemas.openxmlformats.org/drawingml/2006/main">
            <a:r>
              <a:t/>
            </a:r>
          </a:p>
          <a:p xmlns:a="http://schemas.openxmlformats.org/drawingml/2006/main">
            <a:r>
              <a:t>[Sources]</a:t>
            </a:r>
          </a:p>
          <a:p xmlns:a="http://schemas.openxmlformats.org/drawingml/2006/main">
            <a:r>
              <a:t>- Recipe-linked availability implementation: lib/domain.ts and lib/seed.ts</a:t>
            </a:r>
          </a:p>
          <a:p xmlns:a="http://schemas.openxmlformats.org/drawingml/2006/main">
            <a:r>
              <a:t>- Real guest-menu screenshot captured from https://flowdine-ai.abhinavchaudhary484.chatgpt.site/menu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interface changes with the role, but the operating state does not. Guests browse live availability and order with confidence. Kitchen staff see ticket age, promise risk, notes, and allergens. Waiters see ready dishes, guest requests, and table turns. Managers see revenue, demand, inventory, and bottlenecks. This focus keeps each screen calm and actionable while preserving one end-to-end workflow behind the scenes.</a:t>
            </a:r>
          </a:p>
          <a:p xmlns:a="http://schemas.openxmlformats.org/drawingml/2006/main">
            <a:r>
              <a:t/>
            </a:r>
          </a:p>
          <a:p xmlns:a="http://schemas.openxmlformats.org/drawingml/2006/main">
            <a:r>
              <a:t>[Sources]</a:t>
            </a:r>
          </a:p>
          <a:p xmlns:a="http://schemas.openxmlformats.org/drawingml/2006/main">
            <a:r>
              <a:t>- Real role screenshots captured from https://flowdine-ai.abhinavchaudhary484.chatgpt.site/menu, /kitchen, /staff, and /dashboard</a:t>
            </a:r>
          </a:p>
          <a:p xmlns:a="http://schemas.openxmlformats.org/drawingml/2006/main">
            <a:r>
              <a:t>- FlowDine role permission matrix: lib/domain.ts and docs/ARCHITECTURE.md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FlowDine turns operational data into the next best action. It forecasts demand, surfaces stock risks, detects late tickets, and recommends dishes that are actually available and manageable for the kitchen. The AI copilot can use Gemini when configured, but it is deliberately advisory. Inventory, billing, permissions, and forecast calculations remain deterministic. If the AI key is missing or the call fails, managers still receive evidence-based local guidance.</a:t>
            </a:r>
          </a:p>
          <a:p xmlns:a="http://schemas.openxmlformats.org/drawingml/2006/main">
            <a:r>
              <a:t/>
            </a:r>
          </a:p>
          <a:p xmlns:a="http://schemas.openxmlformats.org/drawingml/2006/main">
            <a:r>
              <a:t>[Sources]</a:t>
            </a:r>
          </a:p>
          <a:p xmlns:a="http://schemas.openxmlformats.org/drawingml/2006/main">
            <a:r>
              <a:t>- Intelligence and safety design: README.md, docs/ARCHITECTURE.md, and app/api/copilot/route.ts</a:t>
            </a:r>
          </a:p>
          <a:p xmlns:a="http://schemas.openxmlformats.org/drawingml/2006/main">
            <a:r>
              <a:t>- Real manager intelligence screenshot captured from https://flowdine-ai.abhinavchaudhary484.chatgpt.site/dashboard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command center is designed for a five-second scan. Revenue, active orders, occupancy, average order value, delayed tickets, and stock risk appear together because they influence one another. The revenue rhythm shows the service pattern, while the digital twin shows table, ticket, and inventory pressure. The service-mix chart uses quantities in the seeded live tickets, so the demo remains explainable rather than presenting invented historical sales.</a:t>
            </a:r>
          </a:p>
          <a:p xmlns:a="http://schemas.openxmlformats.org/drawingml/2006/main">
            <a:r>
              <a:t/>
            </a:r>
          </a:p>
          <a:p xmlns:a="http://schemas.openxmlformats.org/drawingml/2006/main">
            <a:r>
              <a:t>[Sources]</a:t>
            </a:r>
          </a:p>
          <a:p xmlns:a="http://schemas.openxmlformats.org/drawingml/2006/main">
            <a:r>
              <a:t>- Real manager dashboard captured from https://flowdine-ai.abhinavchaudhary484.chatgpt.site/dashboard</a:t>
            </a:r>
          </a:p>
          <a:p xmlns:a="http://schemas.openxmlformats.org/drawingml/2006/main">
            <a:r>
              <a:t>- Seeded service metrics and ticket items: lib/seed.ts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live judge build uses Next.js and React, server route handlers, a pure TypeScript domain engine, and Cloudflare D1 with optimistic versioned writes and an audit log. Gemini is optional and safely falls back to local evidence-based guidance. For production SaaS, the repository includes a normalized Supabase and PostgreSQL migration path. Real identity, membership-backed row security, realtime events, and provider integrations are the next hardening layer, not features we falsely claim as live.</a:t>
            </a:r>
          </a:p>
          <a:p xmlns:a="http://schemas.openxmlformats.org/drawingml/2006/main">
            <a:r>
              <a:t/>
            </a:r>
          </a:p>
          <a:p xmlns:a="http://schemas.openxmlformats.org/drawingml/2006/main">
            <a:r>
              <a:t>[Sources]</a:t>
            </a:r>
          </a:p>
          <a:p xmlns:a="http://schemas.openxmlformats.org/drawingml/2006/main">
            <a:r>
              <a:t>- Current architecture and deployment: README.md and docs/ARCHITECTURE.md</a:t>
            </a:r>
          </a:p>
          <a:p xmlns:a="http://schemas.openxmlformats.org/drawingml/2006/main">
            <a:r>
              <a:t>- Supabase production reference migration: supabase/migrations/202607260001_flowdine.sql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Against the official levels, FlowDine completes the modern UX, digital workflows, management dashboard, intelligent operations, and bonus innovation. The only requirement we should not overstate is identity authentication. The public demo has a visible role switcher and the API applies a permission matrix, but email verification and Google OAuth are not connected to runtime identities. We present that gap honestly while demonstrating that the broader operating system is already functional and deployed.</a:t>
            </a:r>
          </a:p>
          <a:p xmlns:a="http://schemas.openxmlformats.org/drawingml/2006/main">
            <a:r>
              <a:t/>
            </a:r>
          </a:p>
          <a:p xmlns:a="http://schemas.openxmlformats.org/drawingml/2006/main">
            <a:r>
              <a:t>[Sources]</a:t>
            </a:r>
          </a:p>
          <a:p xmlns:a="http://schemas.openxmlformats.org/drawingml/2006/main">
            <a:r>
              <a:t>- VibeAthon 6.0 ranking and user stories: Vibeathon_6.0_PS.pdf, pages 2-4</a:t>
            </a:r>
          </a:p>
          <a:p xmlns:a="http://schemas.openxmlformats.org/drawingml/2006/main">
            <a:r>
              <a:t>- Current authentication boundary and feature checklist: README.md and docs/FEATURE_CHECKLIST.md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FlowDine AI turns the restaurant from a collection of disconnected tools into one coordinated operating system. Guests receive promises the kitchen and inventory can actually keep. Staff see the next right action. Managers see risk early enough to change the outcome. Our invitation is simple: open the live demo, place an order, and watch that single event move through inventory, kitchen, service, and management. That connected proof is the product.</a:t>
            </a:r>
          </a:p>
          <a:p xmlns:a="http://schemas.openxmlformats.org/drawingml/2006/main">
            <a:r>
              <a:t/>
            </a:r>
          </a:p>
          <a:p xmlns:a="http://schemas.openxmlformats.org/drawingml/2006/main">
            <a:r>
              <a:t>[Sources]</a:t>
            </a:r>
          </a:p>
          <a:p xmlns:a="http://schemas.openxmlformats.org/drawingml/2006/main">
            <a:r>
              <a:t>- Live public demo: https://flowdine-ai.abhinavchaudhary484.chatgpt.site</a:t>
            </a:r>
          </a:p>
          <a:p xmlns:a="http://schemas.openxmlformats.org/drawingml/2006/main">
            <a:r>
              <a:t>- FlowDine AI end-to-end product summary: 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3451de6cc8f45c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7dfb56e9d0a46a0" /><Relationship Type="http://schemas.openxmlformats.org/officeDocument/2006/relationships/slideLayout" Target="/ppt/slideLayouts/slideLayout1.xml" Id="Rdd3ca8f880764f4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d3ca8f880764f4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5d2621a06b543c2" /><Relationship Type="http://schemas.openxmlformats.org/officeDocument/2006/relationships/image" Target="/ppt/media/image.png" Id="R70493b4861cb431e" /><Relationship Type="http://schemas.openxmlformats.org/officeDocument/2006/relationships/notesSlide" Target="/ppt/notesSlides/notesSlide1.xml" Id="Rccc7170ebd02493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735b60231164e39" /><Relationship Type="http://schemas.openxmlformats.org/officeDocument/2006/relationships/notesSlide" Target="/ppt/notesSlides/notesSlide2.xml" Id="Rf83ad36808b8427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1283d6b94514da9" /><Relationship Type="http://schemas.openxmlformats.org/officeDocument/2006/relationships/image" Target="/ppt/media/image.jpeg" Id="Rb4727f03e25046e5" /><Relationship Type="http://schemas.openxmlformats.org/officeDocument/2006/relationships/notesSlide" Target="/ppt/notesSlides/notesSlide3.xml" Id="R7225b978f8424f9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ce01a89fe8c4f86" /><Relationship Type="http://schemas.openxmlformats.org/officeDocument/2006/relationships/notesSlide" Target="/ppt/notesSlides/notesSlide4.xml" Id="R4bdcc1713b1446a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63d73d503f445e2" /><Relationship Type="http://schemas.openxmlformats.org/officeDocument/2006/relationships/notesSlide" Target="/ppt/notesSlides/notesSlide5.xml" Id="R0858de6d9126474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f303d4a8d9b41d0" /><Relationship Type="http://schemas.openxmlformats.org/officeDocument/2006/relationships/image" Target="/ppt/media/image2.jpeg" Id="Ra934afd6eb2f4671" /><Relationship Type="http://schemas.openxmlformats.org/officeDocument/2006/relationships/notesSlide" Target="/ppt/notesSlides/notesSlide6.xml" Id="R88051aa52da3415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b18c5172c814d31" /><Relationship Type="http://schemas.openxmlformats.org/officeDocument/2006/relationships/image" Target="/ppt/media/image3.jpeg" Id="R67b5fdc0923e4a41" /><Relationship Type="http://schemas.openxmlformats.org/officeDocument/2006/relationships/image" Target="/ppt/media/image4.jpeg" Id="R5700c823b742498b" /><Relationship Type="http://schemas.openxmlformats.org/officeDocument/2006/relationships/image" Target="/ppt/media/image5.jpeg" Id="R546de3845d94480a" /><Relationship Type="http://schemas.openxmlformats.org/officeDocument/2006/relationships/image" Target="/ppt/media/image6.jpeg" Id="Ra7f23f4453b140e5" /><Relationship Type="http://schemas.openxmlformats.org/officeDocument/2006/relationships/notesSlide" Target="/ppt/notesSlides/notesSlide7.xml" Id="Rf1aef42e3dd34f9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96b9a9c5ddb04d68" /><Relationship Type="http://schemas.openxmlformats.org/officeDocument/2006/relationships/image" Target="/ppt/media/image7.jpeg" Id="Ra819894f78184514" /><Relationship Type="http://schemas.openxmlformats.org/officeDocument/2006/relationships/notesSlide" Target="/ppt/notesSlides/notesSlide8.xml" Id="Rb75e46651b5a4872"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781925e842cd4e54" /><Relationship Type="http://schemas.openxmlformats.org/officeDocument/2006/relationships/image" Target="/ppt/media/image8.jpeg" Id="Rb9c8494d9f2648bb" /><Relationship Type="http://schemas.openxmlformats.org/officeDocument/2006/relationships/chart" Target="/ppt/slides/charts/chart1.xml" Id="R7b841262b2be47d0" /><Relationship Type="http://schemas.openxmlformats.org/officeDocument/2006/relationships/notesSlide" Target="/ppt/notesSlides/notesSlide9.xml" Id="Rb2877501c4fc4a3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6efb068fd6c34b2e" /><Relationship Type="http://schemas.openxmlformats.org/officeDocument/2006/relationships/notesSlide" Target="/ppt/notesSlides/notesSlide10.xml" Id="Rae0f316d469945a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b71bb389438c4f5e" /><Relationship Type="http://schemas.openxmlformats.org/officeDocument/2006/relationships/notesSlide" Target="/ppt/notesSlides/notesSlide11.xml" Id="R762eae4632614a1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f40b0d05fbe848f9" /><Relationship Type="http://schemas.openxmlformats.org/officeDocument/2006/relationships/notesSlide" Target="/ppt/notesSlides/notesSlide12.xml" Id="Rdd5d6209fe834034" /></Relationships>
</file>

<file path=ppt/slides/charts/chart1.xml><?xml version="1.0" encoding="utf-8"?>
<c:chartSpace xmlns:c="http://schemas.openxmlformats.org/drawingml/2006/chart">
  <c:lang val="en-US"/>
  <c:chart>
    <c:plotArea>
      <c:barChart>
        <c:barDir val="bar"/>
        <c:grouping val="clustered"/>
        <c:varyColors val="0"/>
        <c:ser>
          <c:idx val="0"/>
          <c:order val="0"/>
          <c:tx>
            <c:v>Items</c:v>
          </c:tx>
          <c:spPr>
            <a:solidFill xmlns:a="http://schemas.openxmlformats.org/drawingml/2006/main">
              <a:srgbClr val="2E6B50"/>
            </a:solidFill>
          </c:spPr>
          <c:cat>
            <c:strLit>
              <c:ptCount val="3"/>
              <c:pt idx="0">
                <c:v>Garlic Naan</c:v>
              </c:pt>
              <c:pt idx="1">
                <c:v>Prawn Moilee</c:v>
              </c:pt>
              <c:pt idx="2">
                <c:v>Butter chkn.</c:v>
              </c:pt>
            </c:strLit>
          </c:cat>
          <c:val>
            <c:numLit>
              <c:formatCode>General</c:formatCode>
              <c:ptCount val="3"/>
              <c:pt idx="0">
                <c:v>2</c:v>
              </c:pt>
              <c:pt idx="1">
                <c:v>2</c:v>
              </c:pt>
              <c:pt idx="2">
                <c:v>1</c:v>
              </c:pt>
            </c:numLit>
          </c:val>
        </c:ser>
        <c:dLbls>
          <c:txPr>
            <a:bodyPr xmlns:a="http://schemas.openxmlformats.org/drawingml/2006/main" anchorCtr="1"/>
            <a:lstStyle xmlns:a="http://schemas.openxmlformats.org/drawingml/2006/main"/>
            <a:p xmlns:a="http://schemas.openxmlformats.org/drawingml/2006/main">
              <a:pPr>
                <a:defRPr sz="900" b="1">
                  <a:solidFill>
                    <a:srgbClr val="20241F"/>
                  </a:solidFill>
                </a:defRPr>
              </a:pPr>
            </a:p>
          </c:txPr>
          <c:dLblPos val="outEnd"/>
          <c:showLegendKey val="0"/>
          <c:showVal val="1"/>
          <c:showCatName val="0"/>
          <c:showSerName val="0"/>
          <c:showPercent val="0"/>
          <c:showBubbleSize val="0"/>
          <c:showLeaderLines val="0"/>
        </c:dLbls>
        <c:gapWidth val="55"/>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72768"/>
        <c:lblAlgn val="ctr"/>
        <c:lblOffset val="100"/>
        <c:noMultiLvlLbl val="0"/>
      </c:catAx>
      <c:valAx>
        <c:axId val="48672768"/>
        <c:scaling>
          <c:orientation val="minMax"/>
        </c:scaling>
        <c:delete val="1"/>
        <c:axPos val="b"/>
        <c:majorGridlines>
          <c:spPr>
            <a:ln xmlns:a="http://schemas.openxmlformats.org/drawingml/2006/main" w="9525">
              <a:solidFill>
                <a:srgbClr val="D8D0C2"/>
              </a:solidFill>
              <a:prstDash val="solid"/>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20241F"/>
                </a:solidFill>
              </a:defRPr>
            </a:pPr>
          </a:p>
        </c:txPr>
        <c:crossAx val="48650112"/>
        <c:crossBetween val="between"/>
      </c:valAx>
      <c:spPr>
        <a:solidFill xmlns:a="http://schemas.openxmlformats.org/drawingml/2006/main">
          <a:srgbClr val="F6F0E4"/>
        </a:solidFill>
        <a:ln xmlns:a="http://schemas.openxmlformats.org/drawingml/2006/main" w="0">
          <a:solidFill>
            <a:srgbClr val="F6F0E4"/>
          </a:solidFill>
          <a:prstDash val="solid"/>
        </a:ln>
      </c:spPr>
    </c:plotArea>
    <c:plotVisOnly val="1"/>
  </c:chart>
  <c:spPr>
    <a:solidFill xmlns:a="http://schemas.openxmlformats.org/drawingml/2006/main">
      <a:srgbClr val="F6F0E4"/>
    </a:solidFill>
    <a:ln xmlns:a="http://schemas.openxmlformats.org/drawingml/2006/main" w="0">
      <a:solidFill>
        <a:srgbClr val="F6F0E4"/>
      </a:solidFill>
      <a:prstDash val="solid"/>
    </a:ln>
  </c:spPr>
</c:chartSpace>
</file>

<file path=ppt/slides/slide1.xml><?xml version="1.0" encoding="utf-8"?>
<p:sld xmlns:p="http://schemas.openxmlformats.org/presentationml/2006/main">
  <p:cSld>
    <p:bg>
      <p:bgPr>
        <a:solidFill xmlns:a="http://schemas.openxmlformats.org/drawingml/2006/main">
          <a:srgbClr val="F6F0E4"/>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70493b4861cb431e"/>
          <a:srcRect xmlns:a="http://schemas.openxmlformats.org/drawingml/2006/main" l="3333" t="0" r="3333"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ECDF3EED-63A0-48F4-BEC3-8A4D8CB824B5}"/>
              </a:ext>
            </a:extLst>
          </p:cNvPr>
          <p:cNvSpPr>
            <a:spLocks xmlns:a="http://schemas.openxmlformats.org/drawingml/2006/main" noGrp="1"/>
          </p:cNvSpPr>
          <p:nvPr/>
        </p:nvSpPr>
        <p:spPr>
          <a:xfrm xmlns:a="http://schemas.openxmlformats.org/drawingml/2006/main">
            <a:off x="228600" y="5029200"/>
            <a:ext cx="5257800" cy="1066800"/>
          </a:xfrm>
          <a:prstGeom xmlns:a="http://schemas.openxmlformats.org/drawingml/2006/main" prst="roundRect">
            <a:avLst>
              <a:gd name="adj" fmla="val 12500"/>
            </a:avLst>
          </a:prstGeom>
          <a:solidFill xmlns:a="http://schemas.openxmlformats.org/drawingml/2006/main">
            <a:srgbClr val="F6F0E4"/>
          </a:solidFill>
          <a:ln xmlns:a="http://schemas.openxmlformats.org/drawingml/2006/main" w="9525">
            <a:solidFill>
              <a:srgbClr val="D1832E"/>
            </a:solidFill>
            <a:prstDash val="solid"/>
          </a:ln>
        </p:spPr>
      </p:sp>
      <p:sp>
        <p:nvSpPr>
          <p:cNvPr id="3" name="">
            <a:extLst xmlns:a="http://schemas.openxmlformats.org/drawingml/2006/main">
              <a:ext uri="{FF2B5EF4-FFF2-40B4-BE49-F238E27FC236}">
                <a16:creationId xmlns:a16="http://schemas.microsoft.com/office/drawing/2014/main" id="{D7E35C4C-0111-4627-AD2A-50028A1DEB64}"/>
              </a:ext>
            </a:extLst>
          </p:cNvPr>
          <p:cNvSpPr>
            <a:spLocks xmlns:a="http://schemas.openxmlformats.org/drawingml/2006/main" noGrp="1"/>
          </p:cNvSpPr>
          <p:nvPr/>
        </p:nvSpPr>
        <p:spPr>
          <a:xfrm xmlns:a="http://schemas.openxmlformats.org/drawingml/2006/main">
            <a:off x="838200" y="5391150"/>
            <a:ext cx="438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7222"/>
          </a:bodyPr>
          <a:lstStyle xmlns:a="http://schemas.openxmlformats.org/drawingml/2006/main"/>
          <a:p xmlns:a="http://schemas.openxmlformats.org/drawingml/2006/main">
            <a:pPr algn="l">
              <a:defRPr sz="1800" b="1" i="0">
                <a:solidFill>
                  <a:srgbClr val="18372D"/>
                </a:solidFill>
                <a:latin typeface="Aptos"/>
                <a:ea typeface="Aptos"/>
                <a:cs typeface="Aptos"/>
              </a:defRPr>
            </a:pPr>
            <a:r>
              <a:rPr sz="1800" b="1" i="0">
                <a:solidFill>
                  <a:srgbClr val="18372D"/>
                </a:solidFill>
                <a:latin typeface="Aptos"/>
                <a:ea typeface="Aptos"/>
                <a:cs typeface="Aptos"/>
              </a:rPr>
              <a:t>Live Restaurant Digital Twin</a:t>
            </a:r>
          </a:p>
        </p:txBody>
      </p:sp>
      <p:sp>
        <p:nvSpPr>
          <p:cNvPr id="4" name="">
            <a:extLst xmlns:a="http://schemas.openxmlformats.org/drawingml/2006/main">
              <a:ext uri="{FF2B5EF4-FFF2-40B4-BE49-F238E27FC236}">
                <a16:creationId xmlns:a16="http://schemas.microsoft.com/office/drawing/2014/main" id="{726ACC85-ABA5-47CD-B514-A6024CD20F58}"/>
              </a:ext>
            </a:extLst>
          </p:cNvPr>
          <p:cNvSpPr>
            <a:spLocks xmlns:a="http://schemas.openxmlformats.org/drawingml/2006/main" noGrp="1"/>
          </p:cNvSpPr>
          <p:nvPr/>
        </p:nvSpPr>
        <p:spPr>
          <a:xfrm xmlns:a="http://schemas.openxmlformats.org/drawingml/2006/main">
            <a:off x="838200" y="5715000"/>
            <a:ext cx="438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i="0">
                <a:solidFill>
                  <a:srgbClr val="30342E"/>
                </a:solidFill>
                <a:latin typeface="Aptos"/>
                <a:ea typeface="Aptos"/>
                <a:cs typeface="Aptos"/>
              </a:defRPr>
            </a:pPr>
            <a:r>
              <a:rPr sz="1350" b="0" i="0">
                <a:solidFill>
                  <a:srgbClr val="30342E"/>
                </a:solidFill>
                <a:latin typeface="Aptos"/>
                <a:ea typeface="Aptos"/>
                <a:cs typeface="Aptos"/>
              </a:rPr>
              <a:t>for faster, smarter dining</a:t>
            </a:r>
          </a:p>
        </p:txBody>
      </p:sp>
      <p:sp>
        <p:nvSpPr>
          <p:cNvPr id="5" name="">
            <a:extLst xmlns:a="http://schemas.openxmlformats.org/drawingml/2006/main">
              <a:ext uri="{FF2B5EF4-FFF2-40B4-BE49-F238E27FC236}">
                <a16:creationId xmlns:a16="http://schemas.microsoft.com/office/drawing/2014/main" id="{857D7066-D2E8-4A7B-9F56-412E170A793A}"/>
              </a:ext>
            </a:extLst>
          </p:cNvPr>
          <p:cNvSpPr>
            <a:spLocks xmlns:a="http://schemas.openxmlformats.org/drawingml/2006/main" noGrp="1"/>
          </p:cNvSpPr>
          <p:nvPr/>
        </p:nvSpPr>
        <p:spPr>
          <a:xfrm xmlns:a="http://schemas.openxmlformats.org/drawingml/2006/main">
            <a:off x="647700" y="6381750"/>
            <a:ext cx="50958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i="0">
                <a:solidFill>
                  <a:srgbClr val="18372D"/>
                </a:solidFill>
                <a:latin typeface="Aptos"/>
                <a:ea typeface="Aptos"/>
                <a:cs typeface="Aptos"/>
              </a:defRPr>
            </a:pPr>
            <a:r>
              <a:rPr sz="825" b="1" i="0">
                <a:solidFill>
                  <a:srgbClr val="18372D"/>
                </a:solidFill>
                <a:latin typeface="Aptos"/>
                <a:ea typeface="Aptos"/>
                <a:cs typeface="Aptos"/>
              </a:rPr>
              <a:t>VIBEATHON 6.0  /  SMART RESTAURANT MANAGEMENT</a:t>
            </a:r>
          </a:p>
        </p:txBody>
      </p:sp>
      <p:sp>
        <p:nvSpPr>
          <p:cNvPr id="6" name="">
            <a:extLst xmlns:a="http://schemas.openxmlformats.org/drawingml/2006/main">
              <a:ext uri="{FF2B5EF4-FFF2-40B4-BE49-F238E27FC236}">
                <a16:creationId xmlns:a16="http://schemas.microsoft.com/office/drawing/2014/main" id="{189A7819-5ED1-4DF8-8443-0B0BD824E419}"/>
              </a:ext>
            </a:extLst>
          </p:cNvPr>
          <p:cNvSpPr>
            <a:spLocks xmlns:a="http://schemas.openxmlformats.org/drawingml/2006/main" noGrp="1"/>
          </p:cNvSpPr>
          <p:nvPr/>
        </p:nvSpPr>
        <p:spPr>
          <a:xfrm xmlns:a="http://schemas.openxmlformats.org/drawingml/2006/main">
            <a:off x="8858250" y="6381750"/>
            <a:ext cx="2667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825" b="1" i="0">
                <a:solidFill>
                  <a:srgbClr val="F6F0E4"/>
                </a:solidFill>
                <a:latin typeface="Aptos"/>
                <a:ea typeface="Aptos"/>
                <a:cs typeface="Aptos"/>
              </a:defRPr>
            </a:pPr>
            <a:r>
              <a:rPr sz="825" b="1" i="0">
                <a:solidFill>
                  <a:srgbClr val="F6F0E4"/>
                </a:solidFill>
                <a:latin typeface="Aptos"/>
                <a:ea typeface="Aptos"/>
                <a:cs typeface="Aptos"/>
              </a:rPr>
              <a:t>TEAM NAME: ____________________</a:t>
            </a:r>
          </a:p>
        </p:txBody>
      </p:sp>
    </p:spTree>
    <p:extLst>
      <p:ext uri="{BB962C8B-B14F-4D97-AF65-F5344CB8AC3E}">
        <p14:creationId xmlns:p14="http://schemas.microsoft.com/office/powerpoint/2010/main" val="1575279749"/>
      </p:ext>
    </p:extLst>
  </p:cSld>
</p:sld>
</file>

<file path=ppt/slides/slide2.xml><?xml version="1.0" encoding="utf-8"?>
<p:sld xmlns:p="http://schemas.openxmlformats.org/presentationml/2006/main">
  <p:cSld>
    <p:bg>
      <p:bgPr>
        <a:solidFill xmlns:a="http://schemas.openxmlformats.org/drawingml/2006/main">
          <a:srgbClr val="18372D"/>
        </a:solidFill>
      </p:bgPr>
    </p:bg>
    <p:spTree>
      <p:nvGrpSpPr>
        <p:cNvPr id="1" name=""/>
        <p:cNvGrpSpPr/>
        <p:nvPr/>
      </p:nvGrpSpPr>
      <p:grpSpPr>
        <a:xfrm xmlns:a="http://schemas.openxmlformats.org/drawingml/2006/main"/>
      </p:grpSpPr>
      <p:sp>
        <p:nvSpPr>
          <p:cNvPr id="27" name="eyebrow-The operating problem">
            <a:extLst xmlns:a="http://schemas.openxmlformats.org/drawingml/2006/main">
              <a:ext uri="{FF2B5EF4-FFF2-40B4-BE49-F238E27FC236}">
                <a16:creationId xmlns:a16="http://schemas.microsoft.com/office/drawing/2014/main" id="{BF189BE5-AC61-47F8-A6A1-4A7D099EB5E4}"/>
              </a:ext>
            </a:extLst>
          </p:cNvPr>
          <p:cNvSpPr>
            <a:spLocks xmlns:a="http://schemas.openxmlformats.org/drawingml/2006/main" noGrp="1"/>
          </p:cNvSpPr>
          <p:nvPr/>
        </p:nvSpPr>
        <p:spPr>
          <a:xfrm xmlns:a="http://schemas.openxmlformats.org/drawingml/2006/main">
            <a:off x="666750" y="419100"/>
            <a:ext cx="533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i="0">
                <a:solidFill>
                  <a:srgbClr val="E6A34E"/>
                </a:solidFill>
                <a:latin typeface="Aptos"/>
                <a:ea typeface="Aptos"/>
                <a:cs typeface="Aptos"/>
              </a:defRPr>
            </a:pPr>
            <a:r>
              <a:rPr sz="975" b="1" i="0">
                <a:solidFill>
                  <a:srgbClr val="E6A34E"/>
                </a:solidFill>
                <a:latin typeface="Aptos"/>
                <a:ea typeface="Aptos"/>
                <a:cs typeface="Aptos"/>
              </a:rPr>
              <a:t>THE OPERATING PROBLEM</a:t>
            </a:r>
          </a:p>
        </p:txBody>
      </p:sp>
      <p:sp>
        <p:nvSpPr>
          <p:cNvPr id="2" name="slide-title">
            <a:extLst xmlns:a="http://schemas.openxmlformats.org/drawingml/2006/main">
              <a:ext uri="{FF2B5EF4-FFF2-40B4-BE49-F238E27FC236}">
                <a16:creationId xmlns:a16="http://schemas.microsoft.com/office/drawing/2014/main" id="{BC2512B1-3F01-4C6D-B4C0-8873DD89E694}"/>
              </a:ext>
            </a:extLst>
          </p:cNvPr>
          <p:cNvSpPr>
            <a:spLocks xmlns:a="http://schemas.openxmlformats.org/drawingml/2006/main" noGrp="1"/>
          </p:cNvSpPr>
          <p:nvPr/>
        </p:nvSpPr>
        <p:spPr>
          <a:xfrm xmlns:a="http://schemas.openxmlformats.org/drawingml/2006/main">
            <a:off x="666750" y="781050"/>
            <a:ext cx="62865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300" b="0" i="0">
                <a:solidFill>
                  <a:srgbClr val="F6F0E4"/>
                </a:solidFill>
                <a:latin typeface="Georgia"/>
                <a:ea typeface="Georgia"/>
                <a:cs typeface="Georgia"/>
              </a:defRPr>
            </a:pPr>
            <a:r>
              <a:rPr sz="3300" b="0" i="0">
                <a:solidFill>
                  <a:srgbClr val="F6F0E4"/>
                </a:solidFill>
                <a:latin typeface="Georgia"/>
                <a:ea typeface="Georgia"/>
                <a:cs typeface="Georgia"/>
              </a:rPr>
              <a:t>Restaurants are serving guests with fragmented truth.</a:t>
            </a:r>
          </a:p>
        </p:txBody>
      </p:sp>
      <p:sp>
        <p:nvSpPr>
          <p:cNvPr id="3" name="">
            <a:extLst xmlns:a="http://schemas.openxmlformats.org/drawingml/2006/main">
              <a:ext uri="{FF2B5EF4-FFF2-40B4-BE49-F238E27FC236}">
                <a16:creationId xmlns:a16="http://schemas.microsoft.com/office/drawing/2014/main" id="{7D0A6134-0316-4228-A052-6D37167BC2E4}"/>
              </a:ext>
            </a:extLst>
          </p:cNvPr>
          <p:cNvSpPr>
            <a:spLocks xmlns:a="http://schemas.openxmlformats.org/drawingml/2006/main" noGrp="1"/>
          </p:cNvSpPr>
          <p:nvPr/>
        </p:nvSpPr>
        <p:spPr>
          <a:xfrm xmlns:a="http://schemas.openxmlformats.org/drawingml/2006/main">
            <a:off x="666750" y="2114550"/>
            <a:ext cx="495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1" i="0">
                <a:solidFill>
                  <a:srgbClr val="E6A34E"/>
                </a:solidFill>
                <a:latin typeface="Aptos"/>
                <a:ea typeface="Aptos"/>
                <a:cs typeface="Aptos"/>
              </a:defRPr>
            </a:pPr>
            <a:r>
              <a:rPr sz="1875" b="1" i="0">
                <a:solidFill>
                  <a:srgbClr val="E6A34E"/>
                </a:solidFill>
                <a:latin typeface="Aptos"/>
                <a:ea typeface="Aptos"/>
                <a:cs typeface="Aptos"/>
              </a:rPr>
              <a:t>One service. Five blind spots.</a:t>
            </a:r>
          </a:p>
        </p:txBody>
      </p:sp>
      <p:sp>
        <p:nvSpPr>
          <p:cNvPr id="4" name="">
            <a:extLst xmlns:a="http://schemas.openxmlformats.org/drawingml/2006/main">
              <a:ext uri="{FF2B5EF4-FFF2-40B4-BE49-F238E27FC236}">
                <a16:creationId xmlns:a16="http://schemas.microsoft.com/office/drawing/2014/main" id="{95DFBECA-9A25-42A8-8C6A-662DE21194BC}"/>
              </a:ext>
            </a:extLst>
          </p:cNvPr>
          <p:cNvSpPr>
            <a:spLocks xmlns:a="http://schemas.openxmlformats.org/drawingml/2006/main" noGrp="1"/>
          </p:cNvSpPr>
          <p:nvPr/>
        </p:nvSpPr>
        <p:spPr>
          <a:xfrm xmlns:a="http://schemas.openxmlformats.org/drawingml/2006/main">
            <a:off x="7239000" y="1066800"/>
            <a:ext cx="552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i="0">
                <a:solidFill>
                  <a:srgbClr val="E6A34E"/>
                </a:solidFill>
                <a:latin typeface="Aptos"/>
                <a:ea typeface="Aptos"/>
                <a:cs typeface="Aptos"/>
              </a:defRPr>
            </a:pPr>
            <a:r>
              <a:rPr sz="1500" b="1" i="0">
                <a:solidFill>
                  <a:srgbClr val="E6A34E"/>
                </a:solidFill>
                <a:latin typeface="Aptos"/>
                <a:ea typeface="Aptos"/>
                <a:cs typeface="Aptos"/>
              </a:rPr>
              <a:t>01</a:t>
            </a:r>
          </a:p>
        </p:txBody>
      </p:sp>
      <p:sp>
        <p:nvSpPr>
          <p:cNvPr id="5" name="">
            <a:extLst xmlns:a="http://schemas.openxmlformats.org/drawingml/2006/main">
              <a:ext uri="{FF2B5EF4-FFF2-40B4-BE49-F238E27FC236}">
                <a16:creationId xmlns:a16="http://schemas.microsoft.com/office/drawing/2014/main" id="{F47ACCCC-5BBE-4A73-8C6F-C84080C0A969}"/>
              </a:ext>
            </a:extLst>
          </p:cNvPr>
          <p:cNvSpPr>
            <a:spLocks xmlns:a="http://schemas.openxmlformats.org/drawingml/2006/main" noGrp="1"/>
          </p:cNvSpPr>
          <p:nvPr/>
        </p:nvSpPr>
        <p:spPr>
          <a:xfrm xmlns:a="http://schemas.openxmlformats.org/drawingml/2006/main">
            <a:off x="8001000" y="1066800"/>
            <a:ext cx="342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0" i="0">
                <a:solidFill>
                  <a:srgbClr val="F6F0E4"/>
                </a:solidFill>
                <a:latin typeface="Georgia"/>
                <a:ea typeface="Georgia"/>
                <a:cs typeface="Georgia"/>
              </a:defRPr>
            </a:pPr>
            <a:r>
              <a:rPr sz="1725" b="0" i="0">
                <a:solidFill>
                  <a:srgbClr val="F6F0E4"/>
                </a:solidFill>
                <a:latin typeface="Georgia"/>
                <a:ea typeface="Georgia"/>
                <a:cs typeface="Georgia"/>
              </a:rPr>
              <a:t>Dish availability</a:t>
            </a:r>
          </a:p>
        </p:txBody>
      </p:sp>
      <p:sp>
        <p:nvSpPr>
          <p:cNvPr id="6" name="">
            <a:extLst xmlns:a="http://schemas.openxmlformats.org/drawingml/2006/main">
              <a:ext uri="{FF2B5EF4-FFF2-40B4-BE49-F238E27FC236}">
                <a16:creationId xmlns:a16="http://schemas.microsoft.com/office/drawing/2014/main" id="{FBF4A956-5166-485A-831A-5ED3E1B59061}"/>
              </a:ext>
            </a:extLst>
          </p:cNvPr>
          <p:cNvSpPr>
            <a:spLocks xmlns:a="http://schemas.openxmlformats.org/drawingml/2006/main" noGrp="1"/>
          </p:cNvSpPr>
          <p:nvPr/>
        </p:nvSpPr>
        <p:spPr>
          <a:xfrm xmlns:a="http://schemas.openxmlformats.org/drawingml/2006/main">
            <a:off x="8001000" y="1428750"/>
            <a:ext cx="342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i="0">
                <a:solidFill>
                  <a:srgbClr val="C9D2CB"/>
                </a:solidFill>
                <a:latin typeface="Aptos"/>
                <a:ea typeface="Aptos"/>
                <a:cs typeface="Aptos"/>
              </a:defRPr>
            </a:pPr>
            <a:r>
              <a:rPr sz="1200" b="0" i="0">
                <a:solidFill>
                  <a:srgbClr val="C9D2CB"/>
                </a:solidFill>
                <a:latin typeface="Aptos"/>
                <a:ea typeface="Aptos"/>
                <a:cs typeface="Aptos"/>
              </a:rPr>
              <a:t>Guests discover stockouts after choosing.</a:t>
            </a:r>
          </a:p>
        </p:txBody>
      </p:sp>
      <p:sp>
        <p:nvSpPr>
          <p:cNvPr id="7" name="">
            <a:extLst xmlns:a="http://schemas.openxmlformats.org/drawingml/2006/main">
              <a:ext uri="{FF2B5EF4-FFF2-40B4-BE49-F238E27FC236}">
                <a16:creationId xmlns:a16="http://schemas.microsoft.com/office/drawing/2014/main" id="{DD6B61AC-2786-409C-B002-90F753A7698D}"/>
              </a:ext>
            </a:extLst>
          </p:cNvPr>
          <p:cNvSpPr>
            <a:spLocks xmlns:a="http://schemas.openxmlformats.org/drawingml/2006/main" noGrp="1"/>
          </p:cNvSpPr>
          <p:nvPr/>
        </p:nvSpPr>
        <p:spPr>
          <a:xfrm xmlns:a="http://schemas.openxmlformats.org/drawingml/2006/main">
            <a:off x="7239000" y="1905000"/>
            <a:ext cx="4191000" cy="0"/>
          </a:xfrm>
          <a:prstGeom xmlns:a="http://schemas.openxmlformats.org/drawingml/2006/main" prst="line">
            <a:avLst/>
          </a:prstGeom>
          <a:noFill xmlns:a="http://schemas.openxmlformats.org/drawingml/2006/main"/>
          <a:ln xmlns:a="http://schemas.openxmlformats.org/drawingml/2006/main" w="9525">
            <a:solidFill>
              <a:srgbClr val="355347"/>
            </a:solidFill>
            <a:prstDash val="solid"/>
          </a:ln>
        </p:spPr>
      </p:sp>
      <p:sp>
        <p:nvSpPr>
          <p:cNvPr id="8" name="">
            <a:extLst xmlns:a="http://schemas.openxmlformats.org/drawingml/2006/main">
              <a:ext uri="{FF2B5EF4-FFF2-40B4-BE49-F238E27FC236}">
                <a16:creationId xmlns:a16="http://schemas.microsoft.com/office/drawing/2014/main" id="{AC7B1A08-81FC-4DE2-A08E-14D0165E8EE2}"/>
              </a:ext>
            </a:extLst>
          </p:cNvPr>
          <p:cNvSpPr>
            <a:spLocks xmlns:a="http://schemas.openxmlformats.org/drawingml/2006/main" noGrp="1"/>
          </p:cNvSpPr>
          <p:nvPr/>
        </p:nvSpPr>
        <p:spPr>
          <a:xfrm xmlns:a="http://schemas.openxmlformats.org/drawingml/2006/main">
            <a:off x="7239000" y="2057400"/>
            <a:ext cx="552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i="0">
                <a:solidFill>
                  <a:srgbClr val="E6A34E"/>
                </a:solidFill>
                <a:latin typeface="Aptos"/>
                <a:ea typeface="Aptos"/>
                <a:cs typeface="Aptos"/>
              </a:defRPr>
            </a:pPr>
            <a:r>
              <a:rPr sz="1500" b="1" i="0">
                <a:solidFill>
                  <a:srgbClr val="E6A34E"/>
                </a:solidFill>
                <a:latin typeface="Aptos"/>
                <a:ea typeface="Aptos"/>
                <a:cs typeface="Aptos"/>
              </a:rPr>
              <a:t>02</a:t>
            </a:r>
          </a:p>
        </p:txBody>
      </p:sp>
      <p:sp>
        <p:nvSpPr>
          <p:cNvPr id="9" name="">
            <a:extLst xmlns:a="http://schemas.openxmlformats.org/drawingml/2006/main">
              <a:ext uri="{FF2B5EF4-FFF2-40B4-BE49-F238E27FC236}">
                <a16:creationId xmlns:a16="http://schemas.microsoft.com/office/drawing/2014/main" id="{3E35EF34-7DC6-4510-89F1-F1864F52AF4A}"/>
              </a:ext>
            </a:extLst>
          </p:cNvPr>
          <p:cNvSpPr>
            <a:spLocks xmlns:a="http://schemas.openxmlformats.org/drawingml/2006/main" noGrp="1"/>
          </p:cNvSpPr>
          <p:nvPr/>
        </p:nvSpPr>
        <p:spPr>
          <a:xfrm xmlns:a="http://schemas.openxmlformats.org/drawingml/2006/main">
            <a:off x="8001000" y="2057400"/>
            <a:ext cx="342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0" i="0">
                <a:solidFill>
                  <a:srgbClr val="F6F0E4"/>
                </a:solidFill>
                <a:latin typeface="Georgia"/>
                <a:ea typeface="Georgia"/>
                <a:cs typeface="Georgia"/>
              </a:defRPr>
            </a:pPr>
            <a:r>
              <a:rPr sz="1725" b="0" i="0">
                <a:solidFill>
                  <a:srgbClr val="F6F0E4"/>
                </a:solidFill>
                <a:latin typeface="Georgia"/>
                <a:ea typeface="Georgia"/>
                <a:cs typeface="Georgia"/>
              </a:rPr>
              <a:t>Waiting time</a:t>
            </a:r>
          </a:p>
        </p:txBody>
      </p:sp>
      <p:sp>
        <p:nvSpPr>
          <p:cNvPr id="10" name="">
            <a:extLst xmlns:a="http://schemas.openxmlformats.org/drawingml/2006/main">
              <a:ext uri="{FF2B5EF4-FFF2-40B4-BE49-F238E27FC236}">
                <a16:creationId xmlns:a16="http://schemas.microsoft.com/office/drawing/2014/main" id="{D23816B2-73CC-456C-9EAB-E7BAE2B1756C}"/>
              </a:ext>
            </a:extLst>
          </p:cNvPr>
          <p:cNvSpPr>
            <a:spLocks xmlns:a="http://schemas.openxmlformats.org/drawingml/2006/main" noGrp="1"/>
          </p:cNvSpPr>
          <p:nvPr/>
        </p:nvSpPr>
        <p:spPr>
          <a:xfrm xmlns:a="http://schemas.openxmlformats.org/drawingml/2006/main">
            <a:off x="8001000" y="2419350"/>
            <a:ext cx="342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i="0">
                <a:solidFill>
                  <a:srgbClr val="C9D2CB"/>
                </a:solidFill>
                <a:latin typeface="Aptos"/>
                <a:ea typeface="Aptos"/>
                <a:cs typeface="Aptos"/>
              </a:defRPr>
            </a:pPr>
            <a:r>
              <a:rPr sz="1200" b="0" i="0">
                <a:solidFill>
                  <a:srgbClr val="C9D2CB"/>
                </a:solidFill>
                <a:latin typeface="Aptos"/>
                <a:ea typeface="Aptos"/>
                <a:cs typeface="Aptos"/>
              </a:rPr>
              <a:t>Tables and orders move without a shared promise.</a:t>
            </a:r>
          </a:p>
        </p:txBody>
      </p:sp>
      <p:sp>
        <p:nvSpPr>
          <p:cNvPr id="11" name="">
            <a:extLst xmlns:a="http://schemas.openxmlformats.org/drawingml/2006/main">
              <a:ext uri="{FF2B5EF4-FFF2-40B4-BE49-F238E27FC236}">
                <a16:creationId xmlns:a16="http://schemas.microsoft.com/office/drawing/2014/main" id="{CDA2A6D6-85F1-41F5-AA58-114B79468EF0}"/>
              </a:ext>
            </a:extLst>
          </p:cNvPr>
          <p:cNvSpPr>
            <a:spLocks xmlns:a="http://schemas.openxmlformats.org/drawingml/2006/main" noGrp="1"/>
          </p:cNvSpPr>
          <p:nvPr/>
        </p:nvSpPr>
        <p:spPr>
          <a:xfrm xmlns:a="http://schemas.openxmlformats.org/drawingml/2006/main">
            <a:off x="7239000" y="2895600"/>
            <a:ext cx="4191000" cy="0"/>
          </a:xfrm>
          <a:prstGeom xmlns:a="http://schemas.openxmlformats.org/drawingml/2006/main" prst="line">
            <a:avLst/>
          </a:prstGeom>
          <a:noFill xmlns:a="http://schemas.openxmlformats.org/drawingml/2006/main"/>
          <a:ln xmlns:a="http://schemas.openxmlformats.org/drawingml/2006/main" w="9525">
            <a:solidFill>
              <a:srgbClr val="355347"/>
            </a:solidFill>
            <a:prstDash val="solid"/>
          </a:ln>
        </p:spPr>
      </p:sp>
      <p:sp>
        <p:nvSpPr>
          <p:cNvPr id="12" name="">
            <a:extLst xmlns:a="http://schemas.openxmlformats.org/drawingml/2006/main">
              <a:ext uri="{FF2B5EF4-FFF2-40B4-BE49-F238E27FC236}">
                <a16:creationId xmlns:a16="http://schemas.microsoft.com/office/drawing/2014/main" id="{74707858-B1F1-47BC-A446-A4DD6CE3FC21}"/>
              </a:ext>
            </a:extLst>
          </p:cNvPr>
          <p:cNvSpPr>
            <a:spLocks xmlns:a="http://schemas.openxmlformats.org/drawingml/2006/main" noGrp="1"/>
          </p:cNvSpPr>
          <p:nvPr/>
        </p:nvSpPr>
        <p:spPr>
          <a:xfrm xmlns:a="http://schemas.openxmlformats.org/drawingml/2006/main">
            <a:off x="7239000" y="3048000"/>
            <a:ext cx="552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i="0">
                <a:solidFill>
                  <a:srgbClr val="E6A34E"/>
                </a:solidFill>
                <a:latin typeface="Aptos"/>
                <a:ea typeface="Aptos"/>
                <a:cs typeface="Aptos"/>
              </a:defRPr>
            </a:pPr>
            <a:r>
              <a:rPr sz="1500" b="1" i="0">
                <a:solidFill>
                  <a:srgbClr val="E6A34E"/>
                </a:solidFill>
                <a:latin typeface="Aptos"/>
                <a:ea typeface="Aptos"/>
                <a:cs typeface="Aptos"/>
              </a:rPr>
              <a:t>03</a:t>
            </a:r>
          </a:p>
        </p:txBody>
      </p:sp>
      <p:sp>
        <p:nvSpPr>
          <p:cNvPr id="13" name="">
            <a:extLst xmlns:a="http://schemas.openxmlformats.org/drawingml/2006/main">
              <a:ext uri="{FF2B5EF4-FFF2-40B4-BE49-F238E27FC236}">
                <a16:creationId xmlns:a16="http://schemas.microsoft.com/office/drawing/2014/main" id="{C8166492-9A33-4DE9-9D3B-F1BFFB66B6AC}"/>
              </a:ext>
            </a:extLst>
          </p:cNvPr>
          <p:cNvSpPr>
            <a:spLocks xmlns:a="http://schemas.openxmlformats.org/drawingml/2006/main" noGrp="1"/>
          </p:cNvSpPr>
          <p:nvPr/>
        </p:nvSpPr>
        <p:spPr>
          <a:xfrm xmlns:a="http://schemas.openxmlformats.org/drawingml/2006/main">
            <a:off x="8001000" y="3048000"/>
            <a:ext cx="342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0" i="0">
                <a:solidFill>
                  <a:srgbClr val="F6F0E4"/>
                </a:solidFill>
                <a:latin typeface="Georgia"/>
                <a:ea typeface="Georgia"/>
                <a:cs typeface="Georgia"/>
              </a:defRPr>
            </a:pPr>
            <a:r>
              <a:rPr sz="1725" b="0" i="0">
                <a:solidFill>
                  <a:srgbClr val="F6F0E4"/>
                </a:solidFill>
                <a:latin typeface="Georgia"/>
                <a:ea typeface="Georgia"/>
                <a:cs typeface="Georgia"/>
              </a:rPr>
              <a:t>Communication</a:t>
            </a:r>
          </a:p>
        </p:txBody>
      </p:sp>
      <p:sp>
        <p:nvSpPr>
          <p:cNvPr id="14" name="">
            <a:extLst xmlns:a="http://schemas.openxmlformats.org/drawingml/2006/main">
              <a:ext uri="{FF2B5EF4-FFF2-40B4-BE49-F238E27FC236}">
                <a16:creationId xmlns:a16="http://schemas.microsoft.com/office/drawing/2014/main" id="{923A0217-43A0-4ABA-BBAE-D7537534C243}"/>
              </a:ext>
            </a:extLst>
          </p:cNvPr>
          <p:cNvSpPr>
            <a:spLocks xmlns:a="http://schemas.openxmlformats.org/drawingml/2006/main" noGrp="1"/>
          </p:cNvSpPr>
          <p:nvPr/>
        </p:nvSpPr>
        <p:spPr>
          <a:xfrm xmlns:a="http://schemas.openxmlformats.org/drawingml/2006/main">
            <a:off x="8001000" y="3409950"/>
            <a:ext cx="342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i="0">
                <a:solidFill>
                  <a:srgbClr val="C9D2CB"/>
                </a:solidFill>
                <a:latin typeface="Aptos"/>
                <a:ea typeface="Aptos"/>
                <a:cs typeface="Aptos"/>
              </a:defRPr>
            </a:pPr>
            <a:r>
              <a:rPr sz="1200" b="0" i="0">
                <a:solidFill>
                  <a:srgbClr val="C9D2CB"/>
                </a:solidFill>
                <a:latin typeface="Aptos"/>
                <a:ea typeface="Aptos"/>
                <a:cs typeface="Aptos"/>
              </a:rPr>
              <a:t>Kitchen, floor, and guest updates arrive late.</a:t>
            </a:r>
          </a:p>
        </p:txBody>
      </p:sp>
      <p:sp>
        <p:nvSpPr>
          <p:cNvPr id="15" name="">
            <a:extLst xmlns:a="http://schemas.openxmlformats.org/drawingml/2006/main">
              <a:ext uri="{FF2B5EF4-FFF2-40B4-BE49-F238E27FC236}">
                <a16:creationId xmlns:a16="http://schemas.microsoft.com/office/drawing/2014/main" id="{0623C328-66BC-4093-AC63-3EFAB4D76EE4}"/>
              </a:ext>
            </a:extLst>
          </p:cNvPr>
          <p:cNvSpPr>
            <a:spLocks xmlns:a="http://schemas.openxmlformats.org/drawingml/2006/main" noGrp="1"/>
          </p:cNvSpPr>
          <p:nvPr/>
        </p:nvSpPr>
        <p:spPr>
          <a:xfrm xmlns:a="http://schemas.openxmlformats.org/drawingml/2006/main">
            <a:off x="7239000" y="3886200"/>
            <a:ext cx="4191000" cy="0"/>
          </a:xfrm>
          <a:prstGeom xmlns:a="http://schemas.openxmlformats.org/drawingml/2006/main" prst="line">
            <a:avLst/>
          </a:prstGeom>
          <a:noFill xmlns:a="http://schemas.openxmlformats.org/drawingml/2006/main"/>
          <a:ln xmlns:a="http://schemas.openxmlformats.org/drawingml/2006/main" w="9525">
            <a:solidFill>
              <a:srgbClr val="355347"/>
            </a:solidFill>
            <a:prstDash val="solid"/>
          </a:ln>
        </p:spPr>
      </p:sp>
      <p:sp>
        <p:nvSpPr>
          <p:cNvPr id="16" name="">
            <a:extLst xmlns:a="http://schemas.openxmlformats.org/drawingml/2006/main">
              <a:ext uri="{FF2B5EF4-FFF2-40B4-BE49-F238E27FC236}">
                <a16:creationId xmlns:a16="http://schemas.microsoft.com/office/drawing/2014/main" id="{6170831C-C87D-4746-8419-F16ABC822B2B}"/>
              </a:ext>
            </a:extLst>
          </p:cNvPr>
          <p:cNvSpPr>
            <a:spLocks xmlns:a="http://schemas.openxmlformats.org/drawingml/2006/main" noGrp="1"/>
          </p:cNvSpPr>
          <p:nvPr/>
        </p:nvSpPr>
        <p:spPr>
          <a:xfrm xmlns:a="http://schemas.openxmlformats.org/drawingml/2006/main">
            <a:off x="7239000" y="4038600"/>
            <a:ext cx="552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i="0">
                <a:solidFill>
                  <a:srgbClr val="E6A34E"/>
                </a:solidFill>
                <a:latin typeface="Aptos"/>
                <a:ea typeface="Aptos"/>
                <a:cs typeface="Aptos"/>
              </a:defRPr>
            </a:pPr>
            <a:r>
              <a:rPr sz="1500" b="1" i="0">
                <a:solidFill>
                  <a:srgbClr val="E6A34E"/>
                </a:solidFill>
                <a:latin typeface="Aptos"/>
                <a:ea typeface="Aptos"/>
                <a:cs typeface="Aptos"/>
              </a:rPr>
              <a:t>04</a:t>
            </a:r>
          </a:p>
        </p:txBody>
      </p:sp>
      <p:sp>
        <p:nvSpPr>
          <p:cNvPr id="17" name="">
            <a:extLst xmlns:a="http://schemas.openxmlformats.org/drawingml/2006/main">
              <a:ext uri="{FF2B5EF4-FFF2-40B4-BE49-F238E27FC236}">
                <a16:creationId xmlns:a16="http://schemas.microsoft.com/office/drawing/2014/main" id="{022EE5F0-1901-482E-B80B-C13914E4FF8E}"/>
              </a:ext>
            </a:extLst>
          </p:cNvPr>
          <p:cNvSpPr>
            <a:spLocks xmlns:a="http://schemas.openxmlformats.org/drawingml/2006/main" noGrp="1"/>
          </p:cNvSpPr>
          <p:nvPr/>
        </p:nvSpPr>
        <p:spPr>
          <a:xfrm xmlns:a="http://schemas.openxmlformats.org/drawingml/2006/main">
            <a:off x="8001000" y="4038600"/>
            <a:ext cx="342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0" i="0">
                <a:solidFill>
                  <a:srgbClr val="F6F0E4"/>
                </a:solidFill>
                <a:latin typeface="Georgia"/>
                <a:ea typeface="Georgia"/>
                <a:cs typeface="Georgia"/>
              </a:defRPr>
            </a:pPr>
            <a:r>
              <a:rPr sz="1725" b="0" i="0">
                <a:solidFill>
                  <a:srgbClr val="F6F0E4"/>
                </a:solidFill>
                <a:latin typeface="Georgia"/>
                <a:ea typeface="Georgia"/>
                <a:cs typeface="Georgia"/>
              </a:rPr>
              <a:t>Manual operations</a:t>
            </a:r>
          </a:p>
        </p:txBody>
      </p:sp>
      <p:sp>
        <p:nvSpPr>
          <p:cNvPr id="18" name="">
            <a:extLst xmlns:a="http://schemas.openxmlformats.org/drawingml/2006/main">
              <a:ext uri="{FF2B5EF4-FFF2-40B4-BE49-F238E27FC236}">
                <a16:creationId xmlns:a16="http://schemas.microsoft.com/office/drawing/2014/main" id="{11B1016B-E52F-4EA7-8282-E6E28FD6B280}"/>
              </a:ext>
            </a:extLst>
          </p:cNvPr>
          <p:cNvSpPr>
            <a:spLocks xmlns:a="http://schemas.openxmlformats.org/drawingml/2006/main" noGrp="1"/>
          </p:cNvSpPr>
          <p:nvPr/>
        </p:nvSpPr>
        <p:spPr>
          <a:xfrm xmlns:a="http://schemas.openxmlformats.org/drawingml/2006/main">
            <a:off x="8001000" y="4400550"/>
            <a:ext cx="342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i="0">
                <a:solidFill>
                  <a:srgbClr val="C9D2CB"/>
                </a:solidFill>
                <a:latin typeface="Aptos"/>
                <a:ea typeface="Aptos"/>
                <a:cs typeface="Aptos"/>
              </a:defRPr>
            </a:pPr>
            <a:r>
              <a:rPr sz="1200" b="0" i="0">
                <a:solidFill>
                  <a:srgbClr val="C9D2CB"/>
                </a:solidFill>
                <a:latin typeface="Aptos"/>
                <a:ea typeface="Aptos"/>
                <a:cs typeface="Aptos"/>
              </a:rPr>
              <a:t>Orders, billing, and stock are reconciled by hand.</a:t>
            </a:r>
          </a:p>
        </p:txBody>
      </p:sp>
      <p:sp>
        <p:nvSpPr>
          <p:cNvPr id="19" name="">
            <a:extLst xmlns:a="http://schemas.openxmlformats.org/drawingml/2006/main">
              <a:ext uri="{FF2B5EF4-FFF2-40B4-BE49-F238E27FC236}">
                <a16:creationId xmlns:a16="http://schemas.microsoft.com/office/drawing/2014/main" id="{770338B5-BD3D-415E-87FF-7BF7C39685E1}"/>
              </a:ext>
            </a:extLst>
          </p:cNvPr>
          <p:cNvSpPr>
            <a:spLocks xmlns:a="http://schemas.openxmlformats.org/drawingml/2006/main" noGrp="1"/>
          </p:cNvSpPr>
          <p:nvPr/>
        </p:nvSpPr>
        <p:spPr>
          <a:xfrm xmlns:a="http://schemas.openxmlformats.org/drawingml/2006/main">
            <a:off x="7239000" y="4876800"/>
            <a:ext cx="4191000" cy="0"/>
          </a:xfrm>
          <a:prstGeom xmlns:a="http://schemas.openxmlformats.org/drawingml/2006/main" prst="line">
            <a:avLst/>
          </a:prstGeom>
          <a:noFill xmlns:a="http://schemas.openxmlformats.org/drawingml/2006/main"/>
          <a:ln xmlns:a="http://schemas.openxmlformats.org/drawingml/2006/main" w="9525">
            <a:solidFill>
              <a:srgbClr val="355347"/>
            </a:solidFill>
            <a:prstDash val="solid"/>
          </a:ln>
        </p:spPr>
      </p:sp>
      <p:sp>
        <p:nvSpPr>
          <p:cNvPr id="20" name="">
            <a:extLst xmlns:a="http://schemas.openxmlformats.org/drawingml/2006/main">
              <a:ext uri="{FF2B5EF4-FFF2-40B4-BE49-F238E27FC236}">
                <a16:creationId xmlns:a16="http://schemas.microsoft.com/office/drawing/2014/main" id="{DAE5B8DE-45D4-4044-AC2E-59A7A2A469FB}"/>
              </a:ext>
            </a:extLst>
          </p:cNvPr>
          <p:cNvSpPr>
            <a:spLocks xmlns:a="http://schemas.openxmlformats.org/drawingml/2006/main" noGrp="1"/>
          </p:cNvSpPr>
          <p:nvPr/>
        </p:nvSpPr>
        <p:spPr>
          <a:xfrm xmlns:a="http://schemas.openxmlformats.org/drawingml/2006/main">
            <a:off x="7239000" y="5029200"/>
            <a:ext cx="552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i="0">
                <a:solidFill>
                  <a:srgbClr val="E6A34E"/>
                </a:solidFill>
                <a:latin typeface="Aptos"/>
                <a:ea typeface="Aptos"/>
                <a:cs typeface="Aptos"/>
              </a:defRPr>
            </a:pPr>
            <a:r>
              <a:rPr sz="1500" b="1" i="0">
                <a:solidFill>
                  <a:srgbClr val="E6A34E"/>
                </a:solidFill>
                <a:latin typeface="Aptos"/>
                <a:ea typeface="Aptos"/>
                <a:cs typeface="Aptos"/>
              </a:rPr>
              <a:t>05</a:t>
            </a:r>
          </a:p>
        </p:txBody>
      </p:sp>
      <p:sp>
        <p:nvSpPr>
          <p:cNvPr id="21" name="">
            <a:extLst xmlns:a="http://schemas.openxmlformats.org/drawingml/2006/main">
              <a:ext uri="{FF2B5EF4-FFF2-40B4-BE49-F238E27FC236}">
                <a16:creationId xmlns:a16="http://schemas.microsoft.com/office/drawing/2014/main" id="{11FB74AB-407F-45ED-BDAB-306C6B53C133}"/>
              </a:ext>
            </a:extLst>
          </p:cNvPr>
          <p:cNvSpPr>
            <a:spLocks xmlns:a="http://schemas.openxmlformats.org/drawingml/2006/main" noGrp="1"/>
          </p:cNvSpPr>
          <p:nvPr/>
        </p:nvSpPr>
        <p:spPr>
          <a:xfrm xmlns:a="http://schemas.openxmlformats.org/drawingml/2006/main">
            <a:off x="8001000" y="5029200"/>
            <a:ext cx="342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0" i="0">
                <a:solidFill>
                  <a:srgbClr val="F6F0E4"/>
                </a:solidFill>
                <a:latin typeface="Georgia"/>
                <a:ea typeface="Georgia"/>
                <a:cs typeface="Georgia"/>
              </a:defRPr>
            </a:pPr>
            <a:r>
              <a:rPr sz="1725" b="0" i="0">
                <a:solidFill>
                  <a:srgbClr val="F6F0E4"/>
                </a:solidFill>
                <a:latin typeface="Georgia"/>
                <a:ea typeface="Georgia"/>
                <a:cs typeface="Georgia"/>
              </a:rPr>
              <a:t>Manager visibility</a:t>
            </a:r>
          </a:p>
        </p:txBody>
      </p:sp>
      <p:sp>
        <p:nvSpPr>
          <p:cNvPr id="22" name="">
            <a:extLst xmlns:a="http://schemas.openxmlformats.org/drawingml/2006/main">
              <a:ext uri="{FF2B5EF4-FFF2-40B4-BE49-F238E27FC236}">
                <a16:creationId xmlns:a16="http://schemas.microsoft.com/office/drawing/2014/main" id="{77C37CDD-281E-41B7-95A9-3265025F62BE}"/>
              </a:ext>
            </a:extLst>
          </p:cNvPr>
          <p:cNvSpPr>
            <a:spLocks xmlns:a="http://schemas.openxmlformats.org/drawingml/2006/main" noGrp="1"/>
          </p:cNvSpPr>
          <p:nvPr/>
        </p:nvSpPr>
        <p:spPr>
          <a:xfrm xmlns:a="http://schemas.openxmlformats.org/drawingml/2006/main">
            <a:off x="8001000" y="5391150"/>
            <a:ext cx="342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i="0">
                <a:solidFill>
                  <a:srgbClr val="C9D2CB"/>
                </a:solidFill>
                <a:latin typeface="Aptos"/>
                <a:ea typeface="Aptos"/>
                <a:cs typeface="Aptos"/>
              </a:defRPr>
            </a:pPr>
            <a:r>
              <a:rPr sz="1200" b="0" i="0">
                <a:solidFill>
                  <a:srgbClr val="C9D2CB"/>
                </a:solidFill>
                <a:latin typeface="Aptos"/>
                <a:ea typeface="Aptos"/>
                <a:cs typeface="Aptos"/>
              </a:rPr>
              <a:t>Bottlenecks appear only after service suffers.</a:t>
            </a:r>
          </a:p>
        </p:txBody>
      </p:sp>
      <p:sp>
        <p:nvSpPr>
          <p:cNvPr id="23" name="">
            <a:extLst xmlns:a="http://schemas.openxmlformats.org/drawingml/2006/main">
              <a:ext uri="{FF2B5EF4-FFF2-40B4-BE49-F238E27FC236}">
                <a16:creationId xmlns:a16="http://schemas.microsoft.com/office/drawing/2014/main" id="{4F47C9A9-39F7-49BB-9E96-EA1B0BD40BD7}"/>
              </a:ext>
            </a:extLst>
          </p:cNvPr>
          <p:cNvSpPr>
            <a:spLocks xmlns:a="http://schemas.openxmlformats.org/drawingml/2006/main" noGrp="1"/>
          </p:cNvSpPr>
          <p:nvPr/>
        </p:nvSpPr>
        <p:spPr>
          <a:xfrm xmlns:a="http://schemas.openxmlformats.org/drawingml/2006/main">
            <a:off x="666750" y="5334000"/>
            <a:ext cx="5334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00" b="0" i="1">
                <a:solidFill>
                  <a:srgbClr val="F6F0E4"/>
                </a:solidFill>
                <a:latin typeface="Georgia"/>
                <a:ea typeface="Georgia"/>
                <a:cs typeface="Georgia"/>
              </a:defRPr>
            </a:pPr>
            <a:r>
              <a:rPr sz="2100" b="0" i="1">
                <a:solidFill>
                  <a:srgbClr val="F6F0E4"/>
                </a:solidFill>
                <a:latin typeface="Georgia"/>
                <a:ea typeface="Georgia"/>
                <a:cs typeface="Georgia"/>
              </a:rPr>
              <a:t>The cost is not only time. It is broken trust at the table.</a:t>
            </a:r>
          </a:p>
        </p:txBody>
      </p:sp>
      <p:sp>
        <p:nvSpPr>
          <p:cNvPr id="24" name="">
            <a:extLst xmlns:a="http://schemas.openxmlformats.org/drawingml/2006/main">
              <a:ext uri="{FF2B5EF4-FFF2-40B4-BE49-F238E27FC236}">
                <a16:creationId xmlns:a16="http://schemas.microsoft.com/office/drawing/2014/main" id="{81B0883B-8F83-4896-A1F9-E93A54837188}"/>
              </a:ext>
            </a:extLst>
          </p:cNvPr>
          <p:cNvSpPr>
            <a:spLocks xmlns:a="http://schemas.openxmlformats.org/drawingml/2006/main" noGrp="1"/>
          </p:cNvSpPr>
          <p:nvPr/>
        </p:nvSpPr>
        <p:spPr>
          <a:xfrm xmlns:a="http://schemas.openxmlformats.org/drawingml/2006/main">
            <a:off x="666750" y="6496050"/>
            <a:ext cx="10858500" cy="0"/>
          </a:xfrm>
          <a:prstGeom xmlns:a="http://schemas.openxmlformats.org/drawingml/2006/main" prst="line">
            <a:avLst/>
          </a:prstGeom>
          <a:noFill xmlns:a="http://schemas.openxmlformats.org/drawingml/2006/main"/>
          <a:ln xmlns:a="http://schemas.openxmlformats.org/drawingml/2006/main" w="9525">
            <a:solidFill>
              <a:srgbClr val="365448"/>
            </a:solidFill>
            <a:prstDash val="solid"/>
          </a:ln>
        </p:spPr>
      </p:sp>
      <p:sp>
        <p:nvSpPr>
          <p:cNvPr id="25" name="">
            <a:extLst xmlns:a="http://schemas.openxmlformats.org/drawingml/2006/main">
              <a:ext uri="{FF2B5EF4-FFF2-40B4-BE49-F238E27FC236}">
                <a16:creationId xmlns:a16="http://schemas.microsoft.com/office/drawing/2014/main" id="{700F06C8-B605-4BE1-A80F-502C62B24811}"/>
              </a:ext>
            </a:extLst>
          </p:cNvPr>
          <p:cNvSpPr>
            <a:spLocks xmlns:a="http://schemas.openxmlformats.org/drawingml/2006/main" noGrp="1"/>
          </p:cNvSpPr>
          <p:nvPr/>
        </p:nvSpPr>
        <p:spPr>
          <a:xfrm xmlns:a="http://schemas.openxmlformats.org/drawingml/2006/main">
            <a:off x="666750" y="6572250"/>
            <a:ext cx="3429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1" i="0">
                <a:solidFill>
                  <a:srgbClr val="B8C1BA"/>
                </a:solidFill>
                <a:latin typeface="Aptos"/>
                <a:ea typeface="Aptos"/>
                <a:cs typeface="Aptos"/>
              </a:defRPr>
            </a:pPr>
            <a:r>
              <a:rPr sz="750" b="1" i="0">
                <a:solidFill>
                  <a:srgbClr val="B8C1BA"/>
                </a:solidFill>
                <a:latin typeface="Aptos"/>
                <a:ea typeface="Aptos"/>
                <a:cs typeface="Aptos"/>
              </a:rPr>
              <a:t>FLOWDINE AI  /  VIBEATHON 6.0</a:t>
            </a:r>
          </a:p>
        </p:txBody>
      </p:sp>
      <p:sp>
        <p:nvSpPr>
          <p:cNvPr id="26" name="">
            <a:extLst xmlns:a="http://schemas.openxmlformats.org/drawingml/2006/main">
              <a:ext uri="{FF2B5EF4-FFF2-40B4-BE49-F238E27FC236}">
                <a16:creationId xmlns:a16="http://schemas.microsoft.com/office/drawing/2014/main" id="{88EB8DC1-B976-46DF-B801-2C8B3A5BBAC5}"/>
              </a:ext>
            </a:extLst>
          </p:cNvPr>
          <p:cNvSpPr>
            <a:spLocks xmlns:a="http://schemas.openxmlformats.org/drawingml/2006/main" noGrp="1"/>
          </p:cNvSpPr>
          <p:nvPr/>
        </p:nvSpPr>
        <p:spPr>
          <a:xfrm xmlns:a="http://schemas.openxmlformats.org/drawingml/2006/main">
            <a:off x="11049000" y="6572250"/>
            <a:ext cx="4762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750" b="1" i="0">
                <a:solidFill>
                  <a:srgbClr val="B8C1BA"/>
                </a:solidFill>
                <a:latin typeface="Aptos"/>
                <a:ea typeface="Aptos"/>
                <a:cs typeface="Aptos"/>
              </a:defRPr>
            </a:pPr>
            <a:r>
              <a:rPr sz="750" b="1" i="0">
                <a:solidFill>
                  <a:srgbClr val="B8C1BA"/>
                </a:solidFill>
                <a:latin typeface="Aptos"/>
                <a:ea typeface="Aptos"/>
                <a:cs typeface="Aptos"/>
              </a:rPr>
              <a:t>02</a:t>
            </a:r>
          </a:p>
        </p:txBody>
      </p:sp>
    </p:spTree>
    <p:extLst>
      <p:ext uri="{BB962C8B-B14F-4D97-AF65-F5344CB8AC3E}">
        <p14:creationId xmlns:p14="http://schemas.microsoft.com/office/powerpoint/2010/main" val="1340338851"/>
      </p:ext>
    </p:extLst>
  </p:cSld>
</p:sld>
</file>

<file path=ppt/slides/slide3.xml><?xml version="1.0" encoding="utf-8"?>
<p:sld xmlns:p="http://schemas.openxmlformats.org/presentationml/2006/main">
  <p:cSld>
    <p:bg>
      <p:bgPr>
        <a:solidFill xmlns:a="http://schemas.openxmlformats.org/drawingml/2006/main">
          <a:srgbClr val="F6F0E4"/>
        </a:solidFill>
      </p:bgPr>
    </p:bg>
    <p:spTree>
      <p:nvGrpSpPr>
        <p:cNvPr id="1" name=""/>
        <p:cNvGrpSpPr/>
        <p:nvPr/>
      </p:nvGrpSpPr>
      <p:grpSpPr>
        <a:xfrm xmlns:a="http://schemas.openxmlformats.org/drawingml/2006/main"/>
      </p:grpSpPr>
      <p:sp>
        <p:nvSpPr>
          <p:cNvPr id="15" name="eyebrow-The product insight">
            <a:extLst xmlns:a="http://schemas.openxmlformats.org/drawingml/2006/main">
              <a:ext uri="{FF2B5EF4-FFF2-40B4-BE49-F238E27FC236}">
                <a16:creationId xmlns:a16="http://schemas.microsoft.com/office/drawing/2014/main" id="{154A2988-22E6-4C2E-91F8-A2E70B895FD5}"/>
              </a:ext>
            </a:extLst>
          </p:cNvPr>
          <p:cNvSpPr>
            <a:spLocks xmlns:a="http://schemas.openxmlformats.org/drawingml/2006/main" noGrp="1"/>
          </p:cNvSpPr>
          <p:nvPr/>
        </p:nvSpPr>
        <p:spPr>
          <a:xfrm xmlns:a="http://schemas.openxmlformats.org/drawingml/2006/main">
            <a:off x="666750" y="400050"/>
            <a:ext cx="533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i="0">
                <a:solidFill>
                  <a:srgbClr val="D1832E"/>
                </a:solidFill>
                <a:latin typeface="Aptos"/>
                <a:ea typeface="Aptos"/>
                <a:cs typeface="Aptos"/>
              </a:defRPr>
            </a:pPr>
            <a:r>
              <a:rPr sz="975" b="1" i="0">
                <a:solidFill>
                  <a:srgbClr val="D1832E"/>
                </a:solidFill>
                <a:latin typeface="Aptos"/>
                <a:ea typeface="Aptos"/>
                <a:cs typeface="Aptos"/>
              </a:rPr>
              <a:t>THE PRODUCT INSIGHT</a:t>
            </a:r>
          </a:p>
        </p:txBody>
      </p:sp>
      <p:sp>
        <p:nvSpPr>
          <p:cNvPr id="2" name="slide-title">
            <a:extLst xmlns:a="http://schemas.openxmlformats.org/drawingml/2006/main">
              <a:ext uri="{FF2B5EF4-FFF2-40B4-BE49-F238E27FC236}">
                <a16:creationId xmlns:a16="http://schemas.microsoft.com/office/drawing/2014/main" id="{CD49FBF3-3004-4444-AD31-45674F5D3FC6}"/>
              </a:ext>
            </a:extLst>
          </p:cNvPr>
          <p:cNvSpPr>
            <a:spLocks xmlns:a="http://schemas.openxmlformats.org/drawingml/2006/main" noGrp="1"/>
          </p:cNvSpPr>
          <p:nvPr/>
        </p:nvSpPr>
        <p:spPr>
          <a:xfrm xmlns:a="http://schemas.openxmlformats.org/drawingml/2006/main">
            <a:off x="666750" y="742950"/>
            <a:ext cx="504825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7222"/>
          </a:bodyPr>
          <a:lstStyle xmlns:a="http://schemas.openxmlformats.org/drawingml/2006/main"/>
          <a:p xmlns:a="http://schemas.openxmlformats.org/drawingml/2006/main">
            <a:pPr algn="l">
              <a:defRPr sz="3150" b="0" i="0">
                <a:solidFill>
                  <a:srgbClr val="20241F"/>
                </a:solidFill>
                <a:latin typeface="Georgia"/>
                <a:ea typeface="Georgia"/>
                <a:cs typeface="Georgia"/>
              </a:defRPr>
            </a:pPr>
            <a:r>
              <a:rPr sz="3150" b="0" i="0">
                <a:solidFill>
                  <a:srgbClr val="20241F"/>
                </a:solidFill>
                <a:latin typeface="Georgia"/>
                <a:ea typeface="Georgia"/>
                <a:cs typeface="Georgia"/>
              </a:rPr>
              <a:t>The missing product is not another ordering app.</a:t>
            </a:r>
          </a:p>
        </p:txBody>
      </p:sp>
      <p:sp>
        <p:nvSpPr>
          <p:cNvPr id="3" name="">
            <a:extLst xmlns:a="http://schemas.openxmlformats.org/drawingml/2006/main">
              <a:ext uri="{FF2B5EF4-FFF2-40B4-BE49-F238E27FC236}">
                <a16:creationId xmlns:a16="http://schemas.microsoft.com/office/drawing/2014/main" id="{7E050485-6DA1-45BE-B4E9-9881325ACD40}"/>
              </a:ext>
            </a:extLst>
          </p:cNvPr>
          <p:cNvSpPr>
            <a:spLocks xmlns:a="http://schemas.openxmlformats.org/drawingml/2006/main" noGrp="1"/>
          </p:cNvSpPr>
          <p:nvPr/>
        </p:nvSpPr>
        <p:spPr>
          <a:xfrm xmlns:a="http://schemas.openxmlformats.org/drawingml/2006/main">
            <a:off x="666750" y="1866900"/>
            <a:ext cx="47625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30342E"/>
                </a:solidFill>
                <a:latin typeface="Aptos"/>
                <a:ea typeface="Aptos"/>
                <a:cs typeface="Aptos"/>
              </a:defRPr>
            </a:pPr>
            <a:r>
              <a:rPr sz="1725" b="0" i="0">
                <a:solidFill>
                  <a:srgbClr val="30342E"/>
                </a:solidFill>
                <a:latin typeface="Aptos"/>
                <a:ea typeface="Aptos"/>
                <a:cs typeface="Aptos"/>
              </a:rPr>
              <a:t>It is one live operating layer that makes every role act from the same restaurant state.</a:t>
            </a:r>
          </a:p>
        </p:txBody>
      </p:sp>
      <p:sp>
        <p:nvSpPr>
          <p:cNvPr id="4" name="">
            <a:extLst xmlns:a="http://schemas.openxmlformats.org/drawingml/2006/main">
              <a:ext uri="{FF2B5EF4-FFF2-40B4-BE49-F238E27FC236}">
                <a16:creationId xmlns:a16="http://schemas.microsoft.com/office/drawing/2014/main" id="{A36C342D-21D2-4EE0-B2AC-2BB66CE353B2}"/>
              </a:ext>
            </a:extLst>
          </p:cNvPr>
          <p:cNvSpPr>
            <a:spLocks xmlns:a="http://schemas.openxmlformats.org/drawingml/2006/main" noGrp="1"/>
          </p:cNvSpPr>
          <p:nvPr/>
        </p:nvSpPr>
        <p:spPr>
          <a:xfrm xmlns:a="http://schemas.openxmlformats.org/drawingml/2006/main">
            <a:off x="685800" y="321945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i="0">
                <a:solidFill>
                  <a:srgbClr val="A44E43"/>
                </a:solidFill>
                <a:latin typeface="Aptos"/>
                <a:ea typeface="Aptos"/>
                <a:cs typeface="Aptos"/>
              </a:defRPr>
            </a:pPr>
            <a:r>
              <a:rPr sz="1200" b="1" i="0">
                <a:solidFill>
                  <a:srgbClr val="A44E43"/>
                </a:solidFill>
                <a:latin typeface="Aptos"/>
                <a:ea typeface="Aptos"/>
                <a:cs typeface="Aptos"/>
              </a:rPr>
              <a:t>MENU  ≠  STOCK</a:t>
            </a:r>
          </a:p>
        </p:txBody>
      </p:sp>
      <p:sp>
        <p:nvSpPr>
          <p:cNvPr id="5" name="">
            <a:extLst xmlns:a="http://schemas.openxmlformats.org/drawingml/2006/main">
              <a:ext uri="{FF2B5EF4-FFF2-40B4-BE49-F238E27FC236}">
                <a16:creationId xmlns:a16="http://schemas.microsoft.com/office/drawing/2014/main" id="{53737FC9-9DE0-4186-9A19-0A58902B3628}"/>
              </a:ext>
            </a:extLst>
          </p:cNvPr>
          <p:cNvSpPr>
            <a:spLocks xmlns:a="http://schemas.openxmlformats.org/drawingml/2006/main" noGrp="1"/>
          </p:cNvSpPr>
          <p:nvPr/>
        </p:nvSpPr>
        <p:spPr>
          <a:xfrm xmlns:a="http://schemas.openxmlformats.org/drawingml/2006/main">
            <a:off x="685800" y="371475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i="0">
                <a:solidFill>
                  <a:srgbClr val="A44E43"/>
                </a:solidFill>
                <a:latin typeface="Aptos"/>
                <a:ea typeface="Aptos"/>
                <a:cs typeface="Aptos"/>
              </a:defRPr>
            </a:pPr>
            <a:r>
              <a:rPr sz="1200" b="1" i="0">
                <a:solidFill>
                  <a:srgbClr val="A44E43"/>
                </a:solidFill>
                <a:latin typeface="Aptos"/>
                <a:ea typeface="Aptos"/>
                <a:cs typeface="Aptos"/>
              </a:rPr>
              <a:t>KITCHEN  ≠  FLOOR</a:t>
            </a:r>
          </a:p>
        </p:txBody>
      </p:sp>
      <p:sp>
        <p:nvSpPr>
          <p:cNvPr id="6" name="">
            <a:extLst xmlns:a="http://schemas.openxmlformats.org/drawingml/2006/main">
              <a:ext uri="{FF2B5EF4-FFF2-40B4-BE49-F238E27FC236}">
                <a16:creationId xmlns:a16="http://schemas.microsoft.com/office/drawing/2014/main" id="{D740BA9D-0599-4450-9CDB-D60101313F61}"/>
              </a:ext>
            </a:extLst>
          </p:cNvPr>
          <p:cNvSpPr>
            <a:spLocks xmlns:a="http://schemas.openxmlformats.org/drawingml/2006/main" noGrp="1"/>
          </p:cNvSpPr>
          <p:nvPr/>
        </p:nvSpPr>
        <p:spPr>
          <a:xfrm xmlns:a="http://schemas.openxmlformats.org/drawingml/2006/main">
            <a:off x="685800" y="4210050"/>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i="0">
                <a:solidFill>
                  <a:srgbClr val="A44E43"/>
                </a:solidFill>
                <a:latin typeface="Aptos"/>
                <a:ea typeface="Aptos"/>
                <a:cs typeface="Aptos"/>
              </a:defRPr>
            </a:pPr>
            <a:r>
              <a:rPr sz="1200" b="1" i="0">
                <a:solidFill>
                  <a:srgbClr val="A44E43"/>
                </a:solidFill>
                <a:latin typeface="Aptos"/>
                <a:ea typeface="Aptos"/>
                <a:cs typeface="Aptos"/>
              </a:rPr>
              <a:t>MANAGER  ≠  LIVE STATE</a:t>
            </a:r>
          </a:p>
        </p:txBody>
      </p:sp>
      <p:sp>
        <p:nvSpPr>
          <p:cNvPr id="7" name="">
            <a:extLst xmlns:a="http://schemas.openxmlformats.org/drawingml/2006/main">
              <a:ext uri="{FF2B5EF4-FFF2-40B4-BE49-F238E27FC236}">
                <a16:creationId xmlns:a16="http://schemas.microsoft.com/office/drawing/2014/main" id="{4800400A-57A8-4421-A9EC-97171AD7D77A}"/>
              </a:ext>
            </a:extLst>
          </p:cNvPr>
          <p:cNvSpPr>
            <a:spLocks xmlns:a="http://schemas.openxmlformats.org/drawingml/2006/main" noGrp="1"/>
          </p:cNvSpPr>
          <p:nvPr/>
        </p:nvSpPr>
        <p:spPr>
          <a:xfrm xmlns:a="http://schemas.openxmlformats.org/drawingml/2006/main">
            <a:off x="685800" y="4724400"/>
            <a:ext cx="4000500" cy="0"/>
          </a:xfrm>
          <a:prstGeom xmlns:a="http://schemas.openxmlformats.org/drawingml/2006/main" prst="line">
            <a:avLst/>
          </a:prstGeom>
          <a:noFill xmlns:a="http://schemas.openxmlformats.org/drawingml/2006/main"/>
          <a:ln xmlns:a="http://schemas.openxmlformats.org/drawingml/2006/main" w="28575">
            <a:solidFill>
              <a:srgbClr val="D1832E"/>
            </a:solidFill>
            <a:prstDash val="solid"/>
          </a:ln>
        </p:spPr>
      </p:sp>
      <p:sp>
        <p:nvSpPr>
          <p:cNvPr id="8" name="">
            <a:extLst xmlns:a="http://schemas.openxmlformats.org/drawingml/2006/main">
              <a:ext uri="{FF2B5EF4-FFF2-40B4-BE49-F238E27FC236}">
                <a16:creationId xmlns:a16="http://schemas.microsoft.com/office/drawing/2014/main" id="{B81099DB-B58A-413D-82E8-8CCC48B1D631}"/>
              </a:ext>
            </a:extLst>
          </p:cNvPr>
          <p:cNvSpPr>
            <a:spLocks xmlns:a="http://schemas.openxmlformats.org/drawingml/2006/main" noGrp="1"/>
          </p:cNvSpPr>
          <p:nvPr/>
        </p:nvSpPr>
        <p:spPr>
          <a:xfrm xmlns:a="http://schemas.openxmlformats.org/drawingml/2006/main">
            <a:off x="685800" y="4933950"/>
            <a:ext cx="4286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0" i="0">
                <a:solidFill>
                  <a:srgbClr val="18372D"/>
                </a:solidFill>
                <a:latin typeface="Georgia"/>
                <a:ea typeface="Georgia"/>
                <a:cs typeface="Georgia"/>
              </a:defRPr>
            </a:pPr>
            <a:r>
              <a:rPr sz="1800" b="0" i="0">
                <a:solidFill>
                  <a:srgbClr val="18372D"/>
                </a:solidFill>
                <a:latin typeface="Georgia"/>
                <a:ea typeface="Georgia"/>
                <a:cs typeface="Georgia"/>
              </a:rPr>
              <a:t>FlowDine replaces those gaps with one continuously synchronized truth.</a:t>
            </a:r>
          </a:p>
        </p:txBody>
      </p:sp>
      <p:sp>
        <p:nvSpPr>
          <p:cNvPr id="9" name="">
            <a:extLst xmlns:a="http://schemas.openxmlformats.org/drawingml/2006/main">
              <a:ext uri="{FF2B5EF4-FFF2-40B4-BE49-F238E27FC236}">
                <a16:creationId xmlns:a16="http://schemas.microsoft.com/office/drawing/2014/main" id="{4097EBBE-6016-4D4A-B3CA-A369D189386C}"/>
              </a:ext>
            </a:extLst>
          </p:cNvPr>
          <p:cNvSpPr>
            <a:spLocks xmlns:a="http://schemas.openxmlformats.org/drawingml/2006/main" noGrp="1"/>
          </p:cNvSpPr>
          <p:nvPr/>
        </p:nvSpPr>
        <p:spPr>
          <a:xfrm xmlns:a="http://schemas.openxmlformats.org/drawingml/2006/main">
            <a:off x="5819775" y="1752600"/>
            <a:ext cx="5648325" cy="3209925"/>
          </a:xfrm>
          <a:prstGeom xmlns:a="http://schemas.openxmlformats.org/drawingml/2006/main" prst="roundRect">
            <a:avLst>
              <a:gd name="adj" fmla="val 5341"/>
            </a:avLst>
          </a:prstGeom>
          <a:solidFill xmlns:a="http://schemas.openxmlformats.org/drawingml/2006/main">
            <a:srgbClr val="FFFDF8"/>
          </a:solidFill>
          <a:ln xmlns:a="http://schemas.openxmlformats.org/drawingml/2006/main" w="9525">
            <a:solidFill>
              <a:srgbClr val="D8D0C2"/>
            </a:solidFill>
            <a:prstDash val="solid"/>
          </a:ln>
        </p:spPr>
        <p:style>
          <a:lnRef xmlns:a="http://schemas.openxmlformats.org/drawingml/2006/main" idx="0"/>
          <a:fillRef xmlns:a="http://schemas.openxmlformats.org/drawingml/2006/main" idx="0"/>
          <a:effectRef xmlns:a="http://schemas.openxmlformats.org/drawingml/2006/main" idx="7"/>
          <a:fontRef xmlns:a="http://schemas.openxmlformats.org/drawingml/2006/main" idx="major"/>
        </p:style>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b4727f03e25046e5"/>
          <a:srcRect xmlns:a="http://schemas.openxmlformats.org/drawingml/2006/main" l="0" t="9" r="0" b="9"/>
          <a:stretch xmlns:a="http://schemas.openxmlformats.org/drawingml/2006/main">
            <a:fillRect l="0" t="0" r="0" b="0"/>
          </a:stretch>
        </p:blipFill>
        <p:spPr>
          <a:xfrm xmlns:a="http://schemas.openxmlformats.org/drawingml/2006/main">
            <a:off x="5857875" y="1790700"/>
            <a:ext cx="5572125" cy="3133725"/>
          </a:xfrm>
          <a:prstGeom xmlns:a="http://schemas.openxmlformats.org/drawingml/2006/main" prst="roundRect">
            <a:avLst>
              <a:gd name="adj" fmla="val 4863"/>
            </a:avLst>
          </a:prstGeom>
        </p:spPr>
      </p:pic>
      <p:sp>
        <p:nvSpPr>
          <p:cNvPr id="11" name="">
            <a:extLst xmlns:a="http://schemas.openxmlformats.org/drawingml/2006/main">
              <a:ext uri="{FF2B5EF4-FFF2-40B4-BE49-F238E27FC236}">
                <a16:creationId xmlns:a16="http://schemas.microsoft.com/office/drawing/2014/main" id="{749FC7D9-5C19-4B33-AC89-91C56DF1CF23}"/>
              </a:ext>
            </a:extLst>
          </p:cNvPr>
          <p:cNvSpPr>
            <a:spLocks xmlns:a="http://schemas.openxmlformats.org/drawingml/2006/main" noGrp="1"/>
          </p:cNvSpPr>
          <p:nvPr/>
        </p:nvSpPr>
        <p:spPr>
          <a:xfrm xmlns:a="http://schemas.openxmlformats.org/drawingml/2006/main">
            <a:off x="7467600" y="5143500"/>
            <a:ext cx="3962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825" b="1" i="0">
                <a:solidFill>
                  <a:srgbClr val="18372D"/>
                </a:solidFill>
                <a:latin typeface="Aptos"/>
                <a:ea typeface="Aptos"/>
                <a:cs typeface="Aptos"/>
              </a:defRPr>
            </a:pPr>
            <a:r>
              <a:rPr sz="825" b="1" i="0">
                <a:solidFill>
                  <a:srgbClr val="18372D"/>
                </a:solidFill>
                <a:latin typeface="Aptos"/>
                <a:ea typeface="Aptos"/>
                <a:cs typeface="Aptos"/>
              </a:rPr>
              <a:t>REAL PRODUCT  /  LIVE DEPLOYMENT</a:t>
            </a:r>
          </a:p>
        </p:txBody>
      </p:sp>
      <p:sp>
        <p:nvSpPr>
          <p:cNvPr id="12" name="">
            <a:extLst xmlns:a="http://schemas.openxmlformats.org/drawingml/2006/main">
              <a:ext uri="{FF2B5EF4-FFF2-40B4-BE49-F238E27FC236}">
                <a16:creationId xmlns:a16="http://schemas.microsoft.com/office/drawing/2014/main" id="{8A60B464-2CBC-4D86-AE66-3B257416F6EC}"/>
              </a:ext>
            </a:extLst>
          </p:cNvPr>
          <p:cNvSpPr>
            <a:spLocks xmlns:a="http://schemas.openxmlformats.org/drawingml/2006/main" noGrp="1"/>
          </p:cNvSpPr>
          <p:nvPr/>
        </p:nvSpPr>
        <p:spPr>
          <a:xfrm xmlns:a="http://schemas.openxmlformats.org/drawingml/2006/main">
            <a:off x="666750" y="6496050"/>
            <a:ext cx="10858500" cy="0"/>
          </a:xfrm>
          <a:prstGeom xmlns:a="http://schemas.openxmlformats.org/drawingml/2006/main" prst="line">
            <a:avLst/>
          </a:prstGeom>
          <a:noFill xmlns:a="http://schemas.openxmlformats.org/drawingml/2006/main"/>
          <a:ln xmlns:a="http://schemas.openxmlformats.org/drawingml/2006/main" w="9525">
            <a:solidFill>
              <a:srgbClr val="D8D0C2"/>
            </a:solidFill>
            <a:prstDash val="solid"/>
          </a:ln>
        </p:spPr>
      </p:sp>
      <p:sp>
        <p:nvSpPr>
          <p:cNvPr id="13" name="">
            <a:extLst xmlns:a="http://schemas.openxmlformats.org/drawingml/2006/main">
              <a:ext uri="{FF2B5EF4-FFF2-40B4-BE49-F238E27FC236}">
                <a16:creationId xmlns:a16="http://schemas.microsoft.com/office/drawing/2014/main" id="{C1210A7C-C233-4F6A-9C99-4B54D67555EE}"/>
              </a:ext>
            </a:extLst>
          </p:cNvPr>
          <p:cNvSpPr>
            <a:spLocks xmlns:a="http://schemas.openxmlformats.org/drawingml/2006/main" noGrp="1"/>
          </p:cNvSpPr>
          <p:nvPr/>
        </p:nvSpPr>
        <p:spPr>
          <a:xfrm xmlns:a="http://schemas.openxmlformats.org/drawingml/2006/main">
            <a:off x="666750" y="6572250"/>
            <a:ext cx="3429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1" i="0">
                <a:solidFill>
                  <a:srgbClr val="8C8B82"/>
                </a:solidFill>
                <a:latin typeface="Aptos"/>
                <a:ea typeface="Aptos"/>
                <a:cs typeface="Aptos"/>
              </a:defRPr>
            </a:pPr>
            <a:r>
              <a:rPr sz="750" b="1" i="0">
                <a:solidFill>
                  <a:srgbClr val="8C8B82"/>
                </a:solidFill>
                <a:latin typeface="Aptos"/>
                <a:ea typeface="Aptos"/>
                <a:cs typeface="Aptos"/>
              </a:rPr>
              <a:t>FLOWDINE AI  /  VIBEATHON 6.0</a:t>
            </a:r>
          </a:p>
        </p:txBody>
      </p:sp>
      <p:sp>
        <p:nvSpPr>
          <p:cNvPr id="14" name="">
            <a:extLst xmlns:a="http://schemas.openxmlformats.org/drawingml/2006/main">
              <a:ext uri="{FF2B5EF4-FFF2-40B4-BE49-F238E27FC236}">
                <a16:creationId xmlns:a16="http://schemas.microsoft.com/office/drawing/2014/main" id="{24E7AF89-CFA7-47C4-80EE-5E36FD037D01}"/>
              </a:ext>
            </a:extLst>
          </p:cNvPr>
          <p:cNvSpPr>
            <a:spLocks xmlns:a="http://schemas.openxmlformats.org/drawingml/2006/main" noGrp="1"/>
          </p:cNvSpPr>
          <p:nvPr/>
        </p:nvSpPr>
        <p:spPr>
          <a:xfrm xmlns:a="http://schemas.openxmlformats.org/drawingml/2006/main">
            <a:off x="11049000" y="6572250"/>
            <a:ext cx="4762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750" b="1" i="0">
                <a:solidFill>
                  <a:srgbClr val="8C8B82"/>
                </a:solidFill>
                <a:latin typeface="Aptos"/>
                <a:ea typeface="Aptos"/>
                <a:cs typeface="Aptos"/>
              </a:defRPr>
            </a:pPr>
            <a:r>
              <a:rPr sz="750" b="1" i="0">
                <a:solidFill>
                  <a:srgbClr val="8C8B82"/>
                </a:solidFill>
                <a:latin typeface="Aptos"/>
                <a:ea typeface="Aptos"/>
                <a:cs typeface="Aptos"/>
              </a:rPr>
              <a:t>03</a:t>
            </a:r>
          </a:p>
        </p:txBody>
      </p:sp>
    </p:spTree>
    <p:extLst>
      <p:ext uri="{BB962C8B-B14F-4D97-AF65-F5344CB8AC3E}">
        <p14:creationId xmlns:p14="http://schemas.microsoft.com/office/powerpoint/2010/main" val="1269437618"/>
      </p:ext>
    </p:extLst>
  </p:cSld>
</p:sld>
</file>

<file path=ppt/slides/slide4.xml><?xml version="1.0" encoding="utf-8"?>
<p:sld xmlns:p="http://schemas.openxmlformats.org/presentationml/2006/main">
  <p:cSld>
    <p:bg>
      <p:bgPr>
        <a:solidFill xmlns:a="http://schemas.openxmlformats.org/drawingml/2006/main">
          <a:srgbClr val="F6F0E4"/>
        </a:solidFill>
      </p:bgPr>
    </p:bg>
    <p:spTree>
      <p:nvGrpSpPr>
        <p:cNvPr id="1" name=""/>
        <p:cNvGrpSpPr/>
        <p:nvPr/>
      </p:nvGrpSpPr>
      <p:grpSpPr>
        <a:xfrm xmlns:a="http://schemas.openxmlformats.org/drawingml/2006/main"/>
      </p:grpSpPr>
      <p:sp>
        <p:nvSpPr>
          <p:cNvPr id="31" name="eyebrow-The solution">
            <a:extLst xmlns:a="http://schemas.openxmlformats.org/drawingml/2006/main">
              <a:ext uri="{FF2B5EF4-FFF2-40B4-BE49-F238E27FC236}">
                <a16:creationId xmlns:a16="http://schemas.microsoft.com/office/drawing/2014/main" id="{6C7E68F7-8946-484E-91F9-CC34CE53B74C}"/>
              </a:ext>
            </a:extLst>
          </p:cNvPr>
          <p:cNvSpPr>
            <a:spLocks xmlns:a="http://schemas.openxmlformats.org/drawingml/2006/main" noGrp="1"/>
          </p:cNvSpPr>
          <p:nvPr/>
        </p:nvSpPr>
        <p:spPr>
          <a:xfrm xmlns:a="http://schemas.openxmlformats.org/drawingml/2006/main">
            <a:off x="666750" y="400050"/>
            <a:ext cx="533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i="0">
                <a:solidFill>
                  <a:srgbClr val="D1832E"/>
                </a:solidFill>
                <a:latin typeface="Aptos"/>
                <a:ea typeface="Aptos"/>
                <a:cs typeface="Aptos"/>
              </a:defRPr>
            </a:pPr>
            <a:r>
              <a:rPr sz="975" b="1" i="0">
                <a:solidFill>
                  <a:srgbClr val="D1832E"/>
                </a:solidFill>
                <a:latin typeface="Aptos"/>
                <a:ea typeface="Aptos"/>
                <a:cs typeface="Aptos"/>
              </a:rPr>
              <a:t>THE SOLUTION</a:t>
            </a:r>
          </a:p>
        </p:txBody>
      </p:sp>
      <p:sp>
        <p:nvSpPr>
          <p:cNvPr id="2" name="slide-title">
            <a:extLst xmlns:a="http://schemas.openxmlformats.org/drawingml/2006/main">
              <a:ext uri="{FF2B5EF4-FFF2-40B4-BE49-F238E27FC236}">
                <a16:creationId xmlns:a16="http://schemas.microsoft.com/office/drawing/2014/main" id="{418DDEBE-B3F8-4D81-A4F8-3F67650BEF64}"/>
              </a:ext>
            </a:extLst>
          </p:cNvPr>
          <p:cNvSpPr>
            <a:spLocks xmlns:a="http://schemas.openxmlformats.org/drawingml/2006/main" noGrp="1"/>
          </p:cNvSpPr>
          <p:nvPr/>
        </p:nvSpPr>
        <p:spPr>
          <a:xfrm xmlns:a="http://schemas.openxmlformats.org/drawingml/2006/main">
            <a:off x="666750" y="704850"/>
            <a:ext cx="10858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000" b="0" i="0">
                <a:solidFill>
                  <a:srgbClr val="20241F"/>
                </a:solidFill>
                <a:latin typeface="Georgia"/>
                <a:ea typeface="Georgia"/>
                <a:cs typeface="Georgia"/>
              </a:defRPr>
            </a:pPr>
            <a:r>
              <a:rPr sz="3000" b="0" i="0">
                <a:solidFill>
                  <a:srgbClr val="20241F"/>
                </a:solidFill>
                <a:latin typeface="Georgia"/>
                <a:ea typeface="Georgia"/>
                <a:cs typeface="Georgia"/>
              </a:rPr>
              <a:t>One digital twin. Four focused experiences. One inventory truth.</a:t>
            </a:r>
          </a:p>
        </p:txBody>
      </p:sp>
      <p:sp>
        <p:nvSpPr>
          <p:cNvPr id="3" name="">
            <a:extLst xmlns:a="http://schemas.openxmlformats.org/drawingml/2006/main">
              <a:ext uri="{FF2B5EF4-FFF2-40B4-BE49-F238E27FC236}">
                <a16:creationId xmlns:a16="http://schemas.microsoft.com/office/drawing/2014/main" id="{7468CD2D-C790-4ED9-A5F1-2206EBCB5380}"/>
              </a:ext>
            </a:extLst>
          </p:cNvPr>
          <p:cNvSpPr>
            <a:spLocks xmlns:a="http://schemas.openxmlformats.org/drawingml/2006/main" noGrp="1"/>
          </p:cNvSpPr>
          <p:nvPr/>
        </p:nvSpPr>
        <p:spPr>
          <a:xfrm xmlns:a="http://schemas.openxmlformats.org/drawingml/2006/main">
            <a:off x="666750" y="1257300"/>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i="0">
                <a:solidFill>
                  <a:srgbClr val="6E7068"/>
                </a:solidFill>
                <a:latin typeface="Aptos"/>
                <a:ea typeface="Aptos"/>
                <a:cs typeface="Aptos"/>
              </a:defRPr>
            </a:pPr>
            <a:r>
              <a:rPr sz="1350" b="0" i="0">
                <a:solidFill>
                  <a:srgbClr val="6E7068"/>
                </a:solidFill>
                <a:latin typeface="Aptos"/>
                <a:ea typeface="Aptos"/>
                <a:cs typeface="Aptos"/>
              </a:rPr>
              <a:t>Every action updates the shared operating state used by the next role.</a:t>
            </a:r>
          </a:p>
        </p:txBody>
      </p:sp>
      <p:sp>
        <p:nvSpPr>
          <p:cNvPr id="4" name="digital-twin-core">
            <a:extLst xmlns:a="http://schemas.openxmlformats.org/drawingml/2006/main">
              <a:ext uri="{FF2B5EF4-FFF2-40B4-BE49-F238E27FC236}">
                <a16:creationId xmlns:a16="http://schemas.microsoft.com/office/drawing/2014/main" id="{231412A1-2E8F-4946-B248-744FFDBB72A4}"/>
              </a:ext>
            </a:extLst>
          </p:cNvPr>
          <p:cNvSpPr>
            <a:spLocks xmlns:a="http://schemas.openxmlformats.org/drawingml/2006/main" noGrp="1"/>
          </p:cNvSpPr>
          <p:nvPr/>
        </p:nvSpPr>
        <p:spPr>
          <a:xfrm xmlns:a="http://schemas.openxmlformats.org/drawingml/2006/main">
            <a:off x="4343400" y="2266950"/>
            <a:ext cx="3505200" cy="1752600"/>
          </a:xfrm>
          <a:prstGeom xmlns:a="http://schemas.openxmlformats.org/drawingml/2006/main" prst="roundRect">
            <a:avLst>
              <a:gd name="adj" fmla="val 16304"/>
            </a:avLst>
          </a:prstGeom>
          <a:solidFill xmlns:a="http://schemas.openxmlformats.org/drawingml/2006/main">
            <a:srgbClr val="18372D"/>
          </a:solidFill>
          <a:ln xmlns:a="http://schemas.openxmlformats.org/drawingml/2006/main" w="0">
            <a:solidFill>
              <a:srgbClr val="18372D"/>
            </a:solidFill>
            <a:prstDash val="solid"/>
          </a:ln>
        </p:spPr>
        <p:style>
          <a:lnRef xmlns:a="http://schemas.openxmlformats.org/drawingml/2006/main" idx="0"/>
          <a:fillRef xmlns:a="http://schemas.openxmlformats.org/drawingml/2006/main" idx="0"/>
          <a:effectRef xmlns:a="http://schemas.openxmlformats.org/drawingml/2006/main" idx="7"/>
          <a:fontRef xmlns:a="http://schemas.openxmlformats.org/drawingml/2006/main" idx="major"/>
        </p:style>
      </p:sp>
      <p:sp>
        <p:nvSpPr>
          <p:cNvPr id="5" name="">
            <a:extLst xmlns:a="http://schemas.openxmlformats.org/drawingml/2006/main">
              <a:ext uri="{FF2B5EF4-FFF2-40B4-BE49-F238E27FC236}">
                <a16:creationId xmlns:a16="http://schemas.microsoft.com/office/drawing/2014/main" id="{0EF2C248-8D05-43F6-AE17-CAB8996B344C}"/>
              </a:ext>
            </a:extLst>
          </p:cNvPr>
          <p:cNvSpPr>
            <a:spLocks xmlns:a="http://schemas.openxmlformats.org/drawingml/2006/main" noGrp="1"/>
          </p:cNvSpPr>
          <p:nvPr/>
        </p:nvSpPr>
        <p:spPr>
          <a:xfrm xmlns:a="http://schemas.openxmlformats.org/drawingml/2006/main">
            <a:off x="4743450" y="2619375"/>
            <a:ext cx="2705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1" i="0">
                <a:solidFill>
                  <a:srgbClr val="E6A34E"/>
                </a:solidFill>
                <a:latin typeface="Aptos"/>
                <a:ea typeface="Aptos"/>
                <a:cs typeface="Aptos"/>
              </a:defRPr>
            </a:pPr>
            <a:r>
              <a:rPr sz="975" b="1" i="0">
                <a:solidFill>
                  <a:srgbClr val="E6A34E"/>
                </a:solidFill>
                <a:latin typeface="Aptos"/>
                <a:ea typeface="Aptos"/>
                <a:cs typeface="Aptos"/>
              </a:rPr>
              <a:t>LIVE RESTAURANT</a:t>
            </a:r>
          </a:p>
        </p:txBody>
      </p:sp>
      <p:sp>
        <p:nvSpPr>
          <p:cNvPr id="6" name="">
            <a:extLst xmlns:a="http://schemas.openxmlformats.org/drawingml/2006/main">
              <a:ext uri="{FF2B5EF4-FFF2-40B4-BE49-F238E27FC236}">
                <a16:creationId xmlns:a16="http://schemas.microsoft.com/office/drawing/2014/main" id="{A1B4E6F8-9E8F-424F-A11F-8A0D75920CE8}"/>
              </a:ext>
            </a:extLst>
          </p:cNvPr>
          <p:cNvSpPr>
            <a:spLocks xmlns:a="http://schemas.openxmlformats.org/drawingml/2006/main" noGrp="1"/>
          </p:cNvSpPr>
          <p:nvPr/>
        </p:nvSpPr>
        <p:spPr>
          <a:xfrm xmlns:a="http://schemas.openxmlformats.org/drawingml/2006/main">
            <a:off x="4591050" y="2924175"/>
            <a:ext cx="30099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850" b="0" i="0">
                <a:solidFill>
                  <a:srgbClr val="F6F0E4"/>
                </a:solidFill>
                <a:latin typeface="Georgia"/>
                <a:ea typeface="Georgia"/>
                <a:cs typeface="Georgia"/>
              </a:defRPr>
            </a:pPr>
            <a:r>
              <a:rPr sz="2850" b="0" i="0">
                <a:solidFill>
                  <a:srgbClr val="F6F0E4"/>
                </a:solidFill>
                <a:latin typeface="Georgia"/>
                <a:ea typeface="Georgia"/>
                <a:cs typeface="Georgia"/>
              </a:rPr>
              <a:t>Digital Twin</a:t>
            </a:r>
          </a:p>
        </p:txBody>
      </p:sp>
      <p:sp>
        <p:nvSpPr>
          <p:cNvPr id="7" name="">
            <a:extLst xmlns:a="http://schemas.openxmlformats.org/drawingml/2006/main">
              <a:ext uri="{FF2B5EF4-FFF2-40B4-BE49-F238E27FC236}">
                <a16:creationId xmlns:a16="http://schemas.microsoft.com/office/drawing/2014/main" id="{B85B0C22-42E6-4D07-AF9F-A41ABE55FD13}"/>
              </a:ext>
            </a:extLst>
          </p:cNvPr>
          <p:cNvSpPr>
            <a:spLocks xmlns:a="http://schemas.openxmlformats.org/drawingml/2006/main" noGrp="1"/>
          </p:cNvSpPr>
          <p:nvPr/>
        </p:nvSpPr>
        <p:spPr>
          <a:xfrm xmlns:a="http://schemas.openxmlformats.org/drawingml/2006/main">
            <a:off x="4667250" y="356235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b="0" i="0">
                <a:solidFill>
                  <a:srgbClr val="C8D3CB"/>
                </a:solidFill>
                <a:latin typeface="Aptos"/>
                <a:ea typeface="Aptos"/>
                <a:cs typeface="Aptos"/>
              </a:defRPr>
            </a:pPr>
            <a:r>
              <a:rPr sz="1050" b="0" i="0">
                <a:solidFill>
                  <a:srgbClr val="C8D3CB"/>
                </a:solidFill>
                <a:latin typeface="Aptos"/>
                <a:ea typeface="Aptos"/>
                <a:cs typeface="Aptos"/>
              </a:rPr>
              <a:t>orders • tables • stock • demand</a:t>
            </a:r>
          </a:p>
        </p:txBody>
      </p:sp>
      <p:sp>
        <p:nvSpPr>
          <p:cNvPr id="8" name="">
            <a:extLst xmlns:a="http://schemas.openxmlformats.org/drawingml/2006/main">
              <a:ext uri="{FF2B5EF4-FFF2-40B4-BE49-F238E27FC236}">
                <a16:creationId xmlns:a16="http://schemas.microsoft.com/office/drawing/2014/main" id="{59CB2F85-141B-454F-A639-7FA5E0417500}"/>
              </a:ext>
            </a:extLst>
          </p:cNvPr>
          <p:cNvSpPr>
            <a:spLocks xmlns:a="http://schemas.openxmlformats.org/drawingml/2006/main" noGrp="1"/>
          </p:cNvSpPr>
          <p:nvPr/>
        </p:nvSpPr>
        <p:spPr>
          <a:xfrm xmlns:a="http://schemas.openxmlformats.org/drawingml/2006/main">
            <a:off x="819150" y="2076450"/>
            <a:ext cx="2457450" cy="990600"/>
          </a:xfrm>
          <a:prstGeom xmlns:a="http://schemas.openxmlformats.org/drawingml/2006/main" prst="roundRect">
            <a:avLst>
              <a:gd name="adj" fmla="val 17308"/>
            </a:avLst>
          </a:prstGeom>
          <a:solidFill xmlns:a="http://schemas.openxmlformats.org/drawingml/2006/main">
            <a:srgbClr val="FFFDF8"/>
          </a:solidFill>
          <a:ln xmlns:a="http://schemas.openxmlformats.org/drawingml/2006/main" w="9525">
            <a:solidFill>
              <a:srgbClr val="D8D0C2"/>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9" name="">
            <a:extLst xmlns:a="http://schemas.openxmlformats.org/drawingml/2006/main">
              <a:ext uri="{FF2B5EF4-FFF2-40B4-BE49-F238E27FC236}">
                <a16:creationId xmlns:a16="http://schemas.microsoft.com/office/drawing/2014/main" id="{12C81BC2-AE25-4162-AB01-3B04CAC0A900}"/>
              </a:ext>
            </a:extLst>
          </p:cNvPr>
          <p:cNvSpPr>
            <a:spLocks xmlns:a="http://schemas.openxmlformats.org/drawingml/2006/main" noGrp="1"/>
          </p:cNvSpPr>
          <p:nvPr/>
        </p:nvSpPr>
        <p:spPr>
          <a:xfrm xmlns:a="http://schemas.openxmlformats.org/drawingml/2006/main">
            <a:off x="1028700" y="2286000"/>
            <a:ext cx="2038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800" b="0" i="0">
                <a:solidFill>
                  <a:srgbClr val="18372D"/>
                </a:solidFill>
                <a:latin typeface="Georgia"/>
                <a:ea typeface="Georgia"/>
                <a:cs typeface="Georgia"/>
              </a:defRPr>
            </a:pPr>
            <a:r>
              <a:rPr sz="1800" b="0" i="0">
                <a:solidFill>
                  <a:srgbClr val="18372D"/>
                </a:solidFill>
                <a:latin typeface="Georgia"/>
                <a:ea typeface="Georgia"/>
                <a:cs typeface="Georgia"/>
              </a:rPr>
              <a:t>Customer</a:t>
            </a:r>
          </a:p>
        </p:txBody>
      </p:sp>
      <p:sp>
        <p:nvSpPr>
          <p:cNvPr id="10" name="">
            <a:extLst xmlns:a="http://schemas.openxmlformats.org/drawingml/2006/main">
              <a:ext uri="{FF2B5EF4-FFF2-40B4-BE49-F238E27FC236}">
                <a16:creationId xmlns:a16="http://schemas.microsoft.com/office/drawing/2014/main" id="{119EB5CA-73C8-4C57-96F7-B4D2893D0C9C}"/>
              </a:ext>
            </a:extLst>
          </p:cNvPr>
          <p:cNvSpPr>
            <a:spLocks xmlns:a="http://schemas.openxmlformats.org/drawingml/2006/main" noGrp="1"/>
          </p:cNvSpPr>
          <p:nvPr/>
        </p:nvSpPr>
        <p:spPr>
          <a:xfrm xmlns:a="http://schemas.openxmlformats.org/drawingml/2006/main">
            <a:off x="952500" y="2647950"/>
            <a:ext cx="2190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0" i="0">
                <a:solidFill>
                  <a:srgbClr val="6E7068"/>
                </a:solidFill>
                <a:latin typeface="Aptos"/>
                <a:ea typeface="Aptos"/>
                <a:cs typeface="Aptos"/>
              </a:defRPr>
            </a:pPr>
            <a:r>
              <a:rPr sz="975" b="0" i="0">
                <a:solidFill>
                  <a:srgbClr val="6E7068"/>
                </a:solidFill>
                <a:latin typeface="Aptos"/>
                <a:ea typeface="Aptos"/>
                <a:cs typeface="Aptos"/>
              </a:rPr>
              <a:t>Discover • order • track</a:t>
            </a:r>
          </a:p>
        </p:txBody>
      </p:sp>
      <p:sp>
        <p:nvSpPr>
          <p:cNvPr id="11" name="">
            <a:extLst xmlns:a="http://schemas.openxmlformats.org/drawingml/2006/main">
              <a:ext uri="{FF2B5EF4-FFF2-40B4-BE49-F238E27FC236}">
                <a16:creationId xmlns:a16="http://schemas.microsoft.com/office/drawing/2014/main" id="{9198956C-28AF-4C76-B7CE-285ED67DB49E}"/>
              </a:ext>
            </a:extLst>
          </p:cNvPr>
          <p:cNvSpPr>
            <a:spLocks xmlns:a="http://schemas.openxmlformats.org/drawingml/2006/main" noGrp="1"/>
          </p:cNvSpPr>
          <p:nvPr/>
        </p:nvSpPr>
        <p:spPr>
          <a:xfrm xmlns:a="http://schemas.openxmlformats.org/drawingml/2006/main">
            <a:off x="819150" y="4191000"/>
            <a:ext cx="2457450" cy="990600"/>
          </a:xfrm>
          <a:prstGeom xmlns:a="http://schemas.openxmlformats.org/drawingml/2006/main" prst="roundRect">
            <a:avLst>
              <a:gd name="adj" fmla="val 17308"/>
            </a:avLst>
          </a:prstGeom>
          <a:solidFill xmlns:a="http://schemas.openxmlformats.org/drawingml/2006/main">
            <a:srgbClr val="FFFDF8"/>
          </a:solidFill>
          <a:ln xmlns:a="http://schemas.openxmlformats.org/drawingml/2006/main" w="9525">
            <a:solidFill>
              <a:srgbClr val="D8D0C2"/>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2" name="">
            <a:extLst xmlns:a="http://schemas.openxmlformats.org/drawingml/2006/main">
              <a:ext uri="{FF2B5EF4-FFF2-40B4-BE49-F238E27FC236}">
                <a16:creationId xmlns:a16="http://schemas.microsoft.com/office/drawing/2014/main" id="{39254B3B-AC23-4697-950B-3E7AF809A4DA}"/>
              </a:ext>
            </a:extLst>
          </p:cNvPr>
          <p:cNvSpPr>
            <a:spLocks xmlns:a="http://schemas.openxmlformats.org/drawingml/2006/main" noGrp="1"/>
          </p:cNvSpPr>
          <p:nvPr/>
        </p:nvSpPr>
        <p:spPr>
          <a:xfrm xmlns:a="http://schemas.openxmlformats.org/drawingml/2006/main">
            <a:off x="1028700" y="4400550"/>
            <a:ext cx="2038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800" b="0" i="0">
                <a:solidFill>
                  <a:srgbClr val="18372D"/>
                </a:solidFill>
                <a:latin typeface="Georgia"/>
                <a:ea typeface="Georgia"/>
                <a:cs typeface="Georgia"/>
              </a:defRPr>
            </a:pPr>
            <a:r>
              <a:rPr sz="1800" b="0" i="0">
                <a:solidFill>
                  <a:srgbClr val="18372D"/>
                </a:solidFill>
                <a:latin typeface="Georgia"/>
                <a:ea typeface="Georgia"/>
                <a:cs typeface="Georgia"/>
              </a:rPr>
              <a:t>Kitchen</a:t>
            </a:r>
          </a:p>
        </p:txBody>
      </p:sp>
      <p:sp>
        <p:nvSpPr>
          <p:cNvPr id="13" name="">
            <a:extLst xmlns:a="http://schemas.openxmlformats.org/drawingml/2006/main">
              <a:ext uri="{FF2B5EF4-FFF2-40B4-BE49-F238E27FC236}">
                <a16:creationId xmlns:a16="http://schemas.microsoft.com/office/drawing/2014/main" id="{B0CE59B0-E143-4C6B-AD95-36F81CB9FADD}"/>
              </a:ext>
            </a:extLst>
          </p:cNvPr>
          <p:cNvSpPr>
            <a:spLocks xmlns:a="http://schemas.openxmlformats.org/drawingml/2006/main" noGrp="1"/>
          </p:cNvSpPr>
          <p:nvPr/>
        </p:nvSpPr>
        <p:spPr>
          <a:xfrm xmlns:a="http://schemas.openxmlformats.org/drawingml/2006/main">
            <a:off x="952500" y="4762500"/>
            <a:ext cx="2190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0" i="0">
                <a:solidFill>
                  <a:srgbClr val="6E7068"/>
                </a:solidFill>
                <a:latin typeface="Aptos"/>
                <a:ea typeface="Aptos"/>
                <a:cs typeface="Aptos"/>
              </a:defRPr>
            </a:pPr>
            <a:r>
              <a:rPr sz="975" b="0" i="0">
                <a:solidFill>
                  <a:srgbClr val="6E7068"/>
                </a:solidFill>
                <a:latin typeface="Aptos"/>
                <a:ea typeface="Aptos"/>
                <a:cs typeface="Aptos"/>
              </a:rPr>
              <a:t>Prioritize • prepare • pass</a:t>
            </a:r>
          </a:p>
        </p:txBody>
      </p:sp>
      <p:sp>
        <p:nvSpPr>
          <p:cNvPr id="14" name="">
            <a:extLst xmlns:a="http://schemas.openxmlformats.org/drawingml/2006/main">
              <a:ext uri="{FF2B5EF4-FFF2-40B4-BE49-F238E27FC236}">
                <a16:creationId xmlns:a16="http://schemas.microsoft.com/office/drawing/2014/main" id="{6262CA78-64A6-4527-B7EA-E34F365CA75F}"/>
              </a:ext>
            </a:extLst>
          </p:cNvPr>
          <p:cNvSpPr>
            <a:spLocks xmlns:a="http://schemas.openxmlformats.org/drawingml/2006/main" noGrp="1"/>
          </p:cNvSpPr>
          <p:nvPr/>
        </p:nvSpPr>
        <p:spPr>
          <a:xfrm xmlns:a="http://schemas.openxmlformats.org/drawingml/2006/main">
            <a:off x="8915400" y="2076450"/>
            <a:ext cx="2457450" cy="990600"/>
          </a:xfrm>
          <a:prstGeom xmlns:a="http://schemas.openxmlformats.org/drawingml/2006/main" prst="roundRect">
            <a:avLst>
              <a:gd name="adj" fmla="val 17308"/>
            </a:avLst>
          </a:prstGeom>
          <a:solidFill xmlns:a="http://schemas.openxmlformats.org/drawingml/2006/main">
            <a:srgbClr val="FFFDF8"/>
          </a:solidFill>
          <a:ln xmlns:a="http://schemas.openxmlformats.org/drawingml/2006/main" w="9525">
            <a:solidFill>
              <a:srgbClr val="D8D0C2"/>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5" name="">
            <a:extLst xmlns:a="http://schemas.openxmlformats.org/drawingml/2006/main">
              <a:ext uri="{FF2B5EF4-FFF2-40B4-BE49-F238E27FC236}">
                <a16:creationId xmlns:a16="http://schemas.microsoft.com/office/drawing/2014/main" id="{2EBD17A8-2DCF-4476-9231-2FE84EEEA297}"/>
              </a:ext>
            </a:extLst>
          </p:cNvPr>
          <p:cNvSpPr>
            <a:spLocks xmlns:a="http://schemas.openxmlformats.org/drawingml/2006/main" noGrp="1"/>
          </p:cNvSpPr>
          <p:nvPr/>
        </p:nvSpPr>
        <p:spPr>
          <a:xfrm xmlns:a="http://schemas.openxmlformats.org/drawingml/2006/main">
            <a:off x="9124950" y="2286000"/>
            <a:ext cx="2038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800" b="0" i="0">
                <a:solidFill>
                  <a:srgbClr val="18372D"/>
                </a:solidFill>
                <a:latin typeface="Georgia"/>
                <a:ea typeface="Georgia"/>
                <a:cs typeface="Georgia"/>
              </a:defRPr>
            </a:pPr>
            <a:r>
              <a:rPr sz="1800" b="0" i="0">
                <a:solidFill>
                  <a:srgbClr val="18372D"/>
                </a:solidFill>
                <a:latin typeface="Georgia"/>
                <a:ea typeface="Georgia"/>
                <a:cs typeface="Georgia"/>
              </a:rPr>
              <a:t>Waiter</a:t>
            </a:r>
          </a:p>
        </p:txBody>
      </p:sp>
      <p:sp>
        <p:nvSpPr>
          <p:cNvPr id="16" name="">
            <a:extLst xmlns:a="http://schemas.openxmlformats.org/drawingml/2006/main">
              <a:ext uri="{FF2B5EF4-FFF2-40B4-BE49-F238E27FC236}">
                <a16:creationId xmlns:a16="http://schemas.microsoft.com/office/drawing/2014/main" id="{D86D832B-3CD1-4E52-A622-A87C9282F488}"/>
              </a:ext>
            </a:extLst>
          </p:cNvPr>
          <p:cNvSpPr>
            <a:spLocks xmlns:a="http://schemas.openxmlformats.org/drawingml/2006/main" noGrp="1"/>
          </p:cNvSpPr>
          <p:nvPr/>
        </p:nvSpPr>
        <p:spPr>
          <a:xfrm xmlns:a="http://schemas.openxmlformats.org/drawingml/2006/main">
            <a:off x="9048750" y="2647950"/>
            <a:ext cx="2190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0" i="0">
                <a:solidFill>
                  <a:srgbClr val="6E7068"/>
                </a:solidFill>
                <a:latin typeface="Aptos"/>
                <a:ea typeface="Aptos"/>
                <a:cs typeface="Aptos"/>
              </a:defRPr>
            </a:pPr>
            <a:r>
              <a:rPr sz="975" b="0" i="0">
                <a:solidFill>
                  <a:srgbClr val="6E7068"/>
                </a:solidFill>
                <a:latin typeface="Aptos"/>
                <a:ea typeface="Aptos"/>
                <a:cs typeface="Aptos"/>
              </a:rPr>
              <a:t>Serve • resolve • turn tables</a:t>
            </a:r>
          </a:p>
        </p:txBody>
      </p:sp>
      <p:sp>
        <p:nvSpPr>
          <p:cNvPr id="17" name="">
            <a:extLst xmlns:a="http://schemas.openxmlformats.org/drawingml/2006/main">
              <a:ext uri="{FF2B5EF4-FFF2-40B4-BE49-F238E27FC236}">
                <a16:creationId xmlns:a16="http://schemas.microsoft.com/office/drawing/2014/main" id="{1CF52526-7E73-4B74-BA95-D398C105B552}"/>
              </a:ext>
            </a:extLst>
          </p:cNvPr>
          <p:cNvSpPr>
            <a:spLocks xmlns:a="http://schemas.openxmlformats.org/drawingml/2006/main" noGrp="1"/>
          </p:cNvSpPr>
          <p:nvPr/>
        </p:nvSpPr>
        <p:spPr>
          <a:xfrm xmlns:a="http://schemas.openxmlformats.org/drawingml/2006/main">
            <a:off x="8915400" y="4191000"/>
            <a:ext cx="2457450" cy="990600"/>
          </a:xfrm>
          <a:prstGeom xmlns:a="http://schemas.openxmlformats.org/drawingml/2006/main" prst="roundRect">
            <a:avLst>
              <a:gd name="adj" fmla="val 17308"/>
            </a:avLst>
          </a:prstGeom>
          <a:solidFill xmlns:a="http://schemas.openxmlformats.org/drawingml/2006/main">
            <a:srgbClr val="FFFDF8"/>
          </a:solidFill>
          <a:ln xmlns:a="http://schemas.openxmlformats.org/drawingml/2006/main" w="9525">
            <a:solidFill>
              <a:srgbClr val="D8D0C2"/>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8" name="">
            <a:extLst xmlns:a="http://schemas.openxmlformats.org/drawingml/2006/main">
              <a:ext uri="{FF2B5EF4-FFF2-40B4-BE49-F238E27FC236}">
                <a16:creationId xmlns:a16="http://schemas.microsoft.com/office/drawing/2014/main" id="{1584DE2A-7825-45A8-BAB6-4394BE2251B0}"/>
              </a:ext>
            </a:extLst>
          </p:cNvPr>
          <p:cNvSpPr>
            <a:spLocks xmlns:a="http://schemas.openxmlformats.org/drawingml/2006/main" noGrp="1"/>
          </p:cNvSpPr>
          <p:nvPr/>
        </p:nvSpPr>
        <p:spPr>
          <a:xfrm xmlns:a="http://schemas.openxmlformats.org/drawingml/2006/main">
            <a:off x="9124950" y="4400550"/>
            <a:ext cx="2038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800" b="0" i="0">
                <a:solidFill>
                  <a:srgbClr val="18372D"/>
                </a:solidFill>
                <a:latin typeface="Georgia"/>
                <a:ea typeface="Georgia"/>
                <a:cs typeface="Georgia"/>
              </a:defRPr>
            </a:pPr>
            <a:r>
              <a:rPr sz="1800" b="0" i="0">
                <a:solidFill>
                  <a:srgbClr val="18372D"/>
                </a:solidFill>
                <a:latin typeface="Georgia"/>
                <a:ea typeface="Georgia"/>
                <a:cs typeface="Georgia"/>
              </a:rPr>
              <a:t>Manager</a:t>
            </a:r>
          </a:p>
        </p:txBody>
      </p:sp>
      <p:sp>
        <p:nvSpPr>
          <p:cNvPr id="19" name="">
            <a:extLst xmlns:a="http://schemas.openxmlformats.org/drawingml/2006/main">
              <a:ext uri="{FF2B5EF4-FFF2-40B4-BE49-F238E27FC236}">
                <a16:creationId xmlns:a16="http://schemas.microsoft.com/office/drawing/2014/main" id="{4CD6B419-A528-4A14-ABE0-9166FE6FF638}"/>
              </a:ext>
            </a:extLst>
          </p:cNvPr>
          <p:cNvSpPr>
            <a:spLocks xmlns:a="http://schemas.openxmlformats.org/drawingml/2006/main" noGrp="1"/>
          </p:cNvSpPr>
          <p:nvPr/>
        </p:nvSpPr>
        <p:spPr>
          <a:xfrm xmlns:a="http://schemas.openxmlformats.org/drawingml/2006/main">
            <a:off x="9048750" y="4762500"/>
            <a:ext cx="2190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0" i="0">
                <a:solidFill>
                  <a:srgbClr val="6E7068"/>
                </a:solidFill>
                <a:latin typeface="Aptos"/>
                <a:ea typeface="Aptos"/>
                <a:cs typeface="Aptos"/>
              </a:defRPr>
            </a:pPr>
            <a:r>
              <a:rPr sz="975" b="0" i="0">
                <a:solidFill>
                  <a:srgbClr val="6E7068"/>
                </a:solidFill>
                <a:latin typeface="Aptos"/>
                <a:ea typeface="Aptos"/>
                <a:cs typeface="Aptos"/>
              </a:rPr>
              <a:t>Monitor • decide • improve</a:t>
            </a:r>
          </a:p>
        </p:txBody>
      </p:sp>
      <p:sp>
        <p:nvSpPr>
          <p:cNvPr id="20" name="">
            <a:extLst xmlns:a="http://schemas.openxmlformats.org/drawingml/2006/main">
              <a:ext uri="{FF2B5EF4-FFF2-40B4-BE49-F238E27FC236}">
                <a16:creationId xmlns:a16="http://schemas.microsoft.com/office/drawing/2014/main" id="{320B8458-EDC1-46C3-90BA-9D073DE82EC4}"/>
              </a:ext>
            </a:extLst>
          </p:cNvPr>
          <p:cNvSpPr>
            <a:spLocks xmlns:a="http://schemas.openxmlformats.org/drawingml/2006/main" noGrp="1"/>
          </p:cNvSpPr>
          <p:nvPr/>
        </p:nvSpPr>
        <p:spPr>
          <a:xfrm xmlns:a="http://schemas.openxmlformats.org/drawingml/2006/main">
            <a:off x="4648200" y="4762500"/>
            <a:ext cx="2457450" cy="990600"/>
          </a:xfrm>
          <a:prstGeom xmlns:a="http://schemas.openxmlformats.org/drawingml/2006/main" prst="roundRect">
            <a:avLst>
              <a:gd name="adj" fmla="val 17308"/>
            </a:avLst>
          </a:prstGeom>
          <a:solidFill xmlns:a="http://schemas.openxmlformats.org/drawingml/2006/main">
            <a:srgbClr val="F4E2C7"/>
          </a:solidFill>
          <a:ln xmlns:a="http://schemas.openxmlformats.org/drawingml/2006/main" w="9525">
            <a:solidFill>
              <a:srgbClr val="D8D0C2"/>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1" name="">
            <a:extLst xmlns:a="http://schemas.openxmlformats.org/drawingml/2006/main">
              <a:ext uri="{FF2B5EF4-FFF2-40B4-BE49-F238E27FC236}">
                <a16:creationId xmlns:a16="http://schemas.microsoft.com/office/drawing/2014/main" id="{F521DEE7-7870-43B9-8BCC-5BBBFDBD7F12}"/>
              </a:ext>
            </a:extLst>
          </p:cNvPr>
          <p:cNvSpPr>
            <a:spLocks xmlns:a="http://schemas.openxmlformats.org/drawingml/2006/main" noGrp="1"/>
          </p:cNvSpPr>
          <p:nvPr/>
        </p:nvSpPr>
        <p:spPr>
          <a:xfrm xmlns:a="http://schemas.openxmlformats.org/drawingml/2006/main">
            <a:off x="4857750" y="4972050"/>
            <a:ext cx="2038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800" b="0" i="0">
                <a:solidFill>
                  <a:srgbClr val="18372D"/>
                </a:solidFill>
                <a:latin typeface="Georgia"/>
                <a:ea typeface="Georgia"/>
                <a:cs typeface="Georgia"/>
              </a:defRPr>
            </a:pPr>
            <a:r>
              <a:rPr sz="1800" b="0" i="0">
                <a:solidFill>
                  <a:srgbClr val="18372D"/>
                </a:solidFill>
                <a:latin typeface="Georgia"/>
                <a:ea typeface="Georgia"/>
                <a:cs typeface="Georgia"/>
              </a:rPr>
              <a:t>Inventory</a:t>
            </a:r>
          </a:p>
        </p:txBody>
      </p:sp>
      <p:sp>
        <p:nvSpPr>
          <p:cNvPr id="22" name="">
            <a:extLst xmlns:a="http://schemas.openxmlformats.org/drawingml/2006/main">
              <a:ext uri="{FF2B5EF4-FFF2-40B4-BE49-F238E27FC236}">
                <a16:creationId xmlns:a16="http://schemas.microsoft.com/office/drawing/2014/main" id="{DD428D6A-536D-4CCC-B0A4-5FDC6E620B19}"/>
              </a:ext>
            </a:extLst>
          </p:cNvPr>
          <p:cNvSpPr>
            <a:spLocks xmlns:a="http://schemas.openxmlformats.org/drawingml/2006/main" noGrp="1"/>
          </p:cNvSpPr>
          <p:nvPr/>
        </p:nvSpPr>
        <p:spPr>
          <a:xfrm xmlns:a="http://schemas.openxmlformats.org/drawingml/2006/main">
            <a:off x="4781550" y="5334000"/>
            <a:ext cx="2190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0" i="0">
                <a:solidFill>
                  <a:srgbClr val="6E7068"/>
                </a:solidFill>
                <a:latin typeface="Aptos"/>
                <a:ea typeface="Aptos"/>
                <a:cs typeface="Aptos"/>
              </a:defRPr>
            </a:pPr>
            <a:r>
              <a:rPr sz="975" b="0" i="0">
                <a:solidFill>
                  <a:srgbClr val="6E7068"/>
                </a:solidFill>
                <a:latin typeface="Aptos"/>
                <a:ea typeface="Aptos"/>
                <a:cs typeface="Aptos"/>
              </a:rPr>
              <a:t>Recipe-linked availability</a:t>
            </a:r>
          </a:p>
        </p:txBody>
      </p:sp>
      <p:cxnSp>
        <p:nvCxnSpPr>
          <p:cNvPr id="53" name=""/>
          <p:cNvCxnSpPr>
            <a:stCxn xmlns:a="http://schemas.openxmlformats.org/drawingml/2006/main" id="8" idx="3"/>
            <a:endCxn xmlns:a="http://schemas.openxmlformats.org/drawingml/2006/main" id="4" idx="1"/>
          </p:cNvCxnSpPr>
          <p:nvPr/>
        </p:nvCxnSpPr>
        <p:spPr>
          <a:xfrm xmlns:a="http://schemas.openxmlformats.org/drawingml/2006/main">
            <a:off x="3276600" y="2571750"/>
            <a:ext cx="1066800" cy="571500"/>
          </a:xfrm>
          <a:prstGeom xmlns:a="http://schemas.openxmlformats.org/drawingml/2006/main" prst="bentConnector3">
            <a:avLst>
              <a:gd name="adj1" fmla="val 50000"/>
            </a:avLst>
          </a:prstGeom>
          <a:ln xmlns:a="http://schemas.openxmlformats.org/drawingml/2006/main" w="19050">
            <a:solidFill>
              <a:srgbClr val="D1832E"/>
            </a:solidFill>
            <a:prstDash val="solid"/>
            <a:tailEnd type="arrow" w="sm" len="sm"/>
          </a:ln>
        </p:spPr>
      </p:cxnSp>
      <p:cxnSp>
        <p:nvCxnSpPr>
          <p:cNvPr id="54" name=""/>
          <p:cNvCxnSpPr>
            <a:stCxn xmlns:a="http://schemas.openxmlformats.org/drawingml/2006/main" id="11" idx="3"/>
            <a:endCxn xmlns:a="http://schemas.openxmlformats.org/drawingml/2006/main" id="4" idx="1"/>
          </p:cNvCxnSpPr>
          <p:nvPr/>
        </p:nvCxnSpPr>
        <p:spPr>
          <a:xfrm xmlns:a="http://schemas.openxmlformats.org/drawingml/2006/main" flipV="1">
            <a:off x="3276600" y="3143250"/>
            <a:ext cx="1066800" cy="1543050"/>
          </a:xfrm>
          <a:prstGeom xmlns:a="http://schemas.openxmlformats.org/drawingml/2006/main" prst="bentConnector3">
            <a:avLst>
              <a:gd name="adj1" fmla="val 50000"/>
            </a:avLst>
          </a:prstGeom>
          <a:ln xmlns:a="http://schemas.openxmlformats.org/drawingml/2006/main" w="19050">
            <a:solidFill>
              <a:srgbClr val="D1832E"/>
            </a:solidFill>
            <a:prstDash val="solid"/>
            <a:tailEnd type="arrow" w="sm" len="sm"/>
          </a:ln>
        </p:spPr>
      </p:cxnSp>
      <p:cxnSp>
        <p:nvCxnSpPr>
          <p:cNvPr id="55" name=""/>
          <p:cNvCxnSpPr>
            <a:stCxn xmlns:a="http://schemas.openxmlformats.org/drawingml/2006/main" id="14" idx="1"/>
            <a:endCxn xmlns:a="http://schemas.openxmlformats.org/drawingml/2006/main" id="4" idx="3"/>
          </p:cNvCxnSpPr>
          <p:nvPr/>
        </p:nvCxnSpPr>
        <p:spPr>
          <a:xfrm xmlns:a="http://schemas.openxmlformats.org/drawingml/2006/main" flipH="1">
            <a:off x="7848600" y="2571750"/>
            <a:ext cx="1066800" cy="571500"/>
          </a:xfrm>
          <a:prstGeom xmlns:a="http://schemas.openxmlformats.org/drawingml/2006/main" prst="bentConnector3">
            <a:avLst>
              <a:gd name="adj1" fmla="val 50000"/>
            </a:avLst>
          </a:prstGeom>
          <a:ln xmlns:a="http://schemas.openxmlformats.org/drawingml/2006/main" w="19050">
            <a:solidFill>
              <a:srgbClr val="D1832E"/>
            </a:solidFill>
            <a:prstDash val="solid"/>
            <a:tailEnd type="arrow" w="sm" len="sm"/>
          </a:ln>
        </p:spPr>
      </p:cxnSp>
      <p:cxnSp>
        <p:nvCxnSpPr>
          <p:cNvPr id="56" name=""/>
          <p:cNvCxnSpPr>
            <a:stCxn xmlns:a="http://schemas.openxmlformats.org/drawingml/2006/main" id="17" idx="1"/>
            <a:endCxn xmlns:a="http://schemas.openxmlformats.org/drawingml/2006/main" id="4" idx="3"/>
          </p:cNvCxnSpPr>
          <p:nvPr/>
        </p:nvCxnSpPr>
        <p:spPr>
          <a:xfrm xmlns:a="http://schemas.openxmlformats.org/drawingml/2006/main" flipH="1" flipV="1">
            <a:off x="7848600" y="3143250"/>
            <a:ext cx="1066800" cy="1543050"/>
          </a:xfrm>
          <a:prstGeom xmlns:a="http://schemas.openxmlformats.org/drawingml/2006/main" prst="bentConnector3">
            <a:avLst>
              <a:gd name="adj1" fmla="val 50000"/>
            </a:avLst>
          </a:prstGeom>
          <a:ln xmlns:a="http://schemas.openxmlformats.org/drawingml/2006/main" w="19050">
            <a:solidFill>
              <a:srgbClr val="D1832E"/>
            </a:solidFill>
            <a:prstDash val="solid"/>
            <a:tailEnd type="arrow" w="sm" len="sm"/>
          </a:ln>
        </p:spPr>
      </p:cxnSp>
      <p:cxnSp>
        <p:nvCxnSpPr>
          <p:cNvPr id="57" name=""/>
          <p:cNvCxnSpPr>
            <a:stCxn xmlns:a="http://schemas.openxmlformats.org/drawingml/2006/main" id="4" idx="2"/>
            <a:endCxn xmlns:a="http://schemas.openxmlformats.org/drawingml/2006/main" id="20" idx="0"/>
          </p:cNvCxnSpPr>
          <p:nvPr/>
        </p:nvCxnSpPr>
        <p:spPr>
          <a:xfrm xmlns:a="http://schemas.openxmlformats.org/drawingml/2006/main" flipH="1">
            <a:off x="5876925" y="4019550"/>
            <a:ext cx="219075" cy="742950"/>
          </a:xfrm>
          <a:prstGeom xmlns:a="http://schemas.openxmlformats.org/drawingml/2006/main" prst="straightConnector1">
            <a:avLst/>
          </a:prstGeom>
          <a:ln xmlns:a="http://schemas.openxmlformats.org/drawingml/2006/main" w="19050">
            <a:solidFill>
              <a:srgbClr val="D1832E"/>
            </a:solidFill>
            <a:prstDash val="solid"/>
            <a:tailEnd type="arrow" w="sm" len="sm"/>
          </a:ln>
        </p:spPr>
      </p:cxnSp>
      <p:sp>
        <p:nvSpPr>
          <p:cNvPr id="28" name="">
            <a:extLst xmlns:a="http://schemas.openxmlformats.org/drawingml/2006/main">
              <a:ext uri="{FF2B5EF4-FFF2-40B4-BE49-F238E27FC236}">
                <a16:creationId xmlns:a16="http://schemas.microsoft.com/office/drawing/2014/main" id="{2FEC2895-6EDA-4212-8463-113B06BDC0C2}"/>
              </a:ext>
            </a:extLst>
          </p:cNvPr>
          <p:cNvSpPr>
            <a:spLocks xmlns:a="http://schemas.openxmlformats.org/drawingml/2006/main" noGrp="1"/>
          </p:cNvSpPr>
          <p:nvPr/>
        </p:nvSpPr>
        <p:spPr>
          <a:xfrm xmlns:a="http://schemas.openxmlformats.org/drawingml/2006/main">
            <a:off x="666750" y="6496050"/>
            <a:ext cx="10858500" cy="0"/>
          </a:xfrm>
          <a:prstGeom xmlns:a="http://schemas.openxmlformats.org/drawingml/2006/main" prst="line">
            <a:avLst/>
          </a:prstGeom>
          <a:noFill xmlns:a="http://schemas.openxmlformats.org/drawingml/2006/main"/>
          <a:ln xmlns:a="http://schemas.openxmlformats.org/drawingml/2006/main" w="9525">
            <a:solidFill>
              <a:srgbClr val="D8D0C2"/>
            </a:solidFill>
            <a:prstDash val="solid"/>
          </a:ln>
        </p:spPr>
      </p:sp>
      <p:sp>
        <p:nvSpPr>
          <p:cNvPr id="29" name="">
            <a:extLst xmlns:a="http://schemas.openxmlformats.org/drawingml/2006/main">
              <a:ext uri="{FF2B5EF4-FFF2-40B4-BE49-F238E27FC236}">
                <a16:creationId xmlns:a16="http://schemas.microsoft.com/office/drawing/2014/main" id="{9917A98A-0980-41C5-B3FF-C001BC0D9311}"/>
              </a:ext>
            </a:extLst>
          </p:cNvPr>
          <p:cNvSpPr>
            <a:spLocks xmlns:a="http://schemas.openxmlformats.org/drawingml/2006/main" noGrp="1"/>
          </p:cNvSpPr>
          <p:nvPr/>
        </p:nvSpPr>
        <p:spPr>
          <a:xfrm xmlns:a="http://schemas.openxmlformats.org/drawingml/2006/main">
            <a:off x="666750" y="6572250"/>
            <a:ext cx="3429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1" i="0">
                <a:solidFill>
                  <a:srgbClr val="8C8B82"/>
                </a:solidFill>
                <a:latin typeface="Aptos"/>
                <a:ea typeface="Aptos"/>
                <a:cs typeface="Aptos"/>
              </a:defRPr>
            </a:pPr>
            <a:r>
              <a:rPr sz="750" b="1" i="0">
                <a:solidFill>
                  <a:srgbClr val="8C8B82"/>
                </a:solidFill>
                <a:latin typeface="Aptos"/>
                <a:ea typeface="Aptos"/>
                <a:cs typeface="Aptos"/>
              </a:rPr>
              <a:t>FLOWDINE AI  /  VIBEATHON 6.0</a:t>
            </a:r>
          </a:p>
        </p:txBody>
      </p:sp>
      <p:sp>
        <p:nvSpPr>
          <p:cNvPr id="30" name="">
            <a:extLst xmlns:a="http://schemas.openxmlformats.org/drawingml/2006/main">
              <a:ext uri="{FF2B5EF4-FFF2-40B4-BE49-F238E27FC236}">
                <a16:creationId xmlns:a16="http://schemas.microsoft.com/office/drawing/2014/main" id="{D8016680-8FEB-4787-AD9F-75E46433DD1C}"/>
              </a:ext>
            </a:extLst>
          </p:cNvPr>
          <p:cNvSpPr>
            <a:spLocks xmlns:a="http://schemas.openxmlformats.org/drawingml/2006/main" noGrp="1"/>
          </p:cNvSpPr>
          <p:nvPr/>
        </p:nvSpPr>
        <p:spPr>
          <a:xfrm xmlns:a="http://schemas.openxmlformats.org/drawingml/2006/main">
            <a:off x="11049000" y="6572250"/>
            <a:ext cx="4762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750" b="1" i="0">
                <a:solidFill>
                  <a:srgbClr val="8C8B82"/>
                </a:solidFill>
                <a:latin typeface="Aptos"/>
                <a:ea typeface="Aptos"/>
                <a:cs typeface="Aptos"/>
              </a:defRPr>
            </a:pPr>
            <a:r>
              <a:rPr sz="750" b="1" i="0">
                <a:solidFill>
                  <a:srgbClr val="8C8B82"/>
                </a:solidFill>
                <a:latin typeface="Aptos"/>
                <a:ea typeface="Aptos"/>
                <a:cs typeface="Aptos"/>
              </a:rPr>
              <a:t>04</a:t>
            </a:r>
          </a:p>
        </p:txBody>
      </p:sp>
    </p:spTree>
    <p:extLst>
      <p:ext uri="{BB962C8B-B14F-4D97-AF65-F5344CB8AC3E}">
        <p14:creationId xmlns:p14="http://schemas.microsoft.com/office/powerpoint/2010/main" val="762603346"/>
      </p:ext>
    </p:extLst>
  </p:cSld>
</p:sld>
</file>

<file path=ppt/slides/slide5.xml><?xml version="1.0" encoding="utf-8"?>
<p:sld xmlns:p="http://schemas.openxmlformats.org/presentationml/2006/main">
  <p:cSld>
    <p:bg>
      <p:bgPr>
        <a:solidFill xmlns:a="http://schemas.openxmlformats.org/drawingml/2006/main">
          <a:srgbClr val="18372D"/>
        </a:solidFill>
      </p:bgPr>
    </p:bg>
    <p:spTree>
      <p:nvGrpSpPr>
        <p:cNvPr id="1" name=""/>
        <p:cNvGrpSpPr/>
        <p:nvPr/>
      </p:nvGrpSpPr>
      <p:grpSpPr>
        <a:xfrm xmlns:a="http://schemas.openxmlformats.org/drawingml/2006/main"/>
      </p:grpSpPr>
      <p:sp>
        <p:nvSpPr>
          <p:cNvPr id="44" name="eyebrow-The end-to-end proof">
            <a:extLst xmlns:a="http://schemas.openxmlformats.org/drawingml/2006/main">
              <a:ext uri="{FF2B5EF4-FFF2-40B4-BE49-F238E27FC236}">
                <a16:creationId xmlns:a16="http://schemas.microsoft.com/office/drawing/2014/main" id="{442E2999-F4EB-4505-A634-4D5EC4A73E9F}"/>
              </a:ext>
            </a:extLst>
          </p:cNvPr>
          <p:cNvSpPr>
            <a:spLocks xmlns:a="http://schemas.openxmlformats.org/drawingml/2006/main" noGrp="1"/>
          </p:cNvSpPr>
          <p:nvPr/>
        </p:nvSpPr>
        <p:spPr>
          <a:xfrm xmlns:a="http://schemas.openxmlformats.org/drawingml/2006/main">
            <a:off x="666750" y="400050"/>
            <a:ext cx="533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i="0">
                <a:solidFill>
                  <a:srgbClr val="E6A34E"/>
                </a:solidFill>
                <a:latin typeface="Aptos"/>
                <a:ea typeface="Aptos"/>
                <a:cs typeface="Aptos"/>
              </a:defRPr>
            </a:pPr>
            <a:r>
              <a:rPr sz="975" b="1" i="0">
                <a:solidFill>
                  <a:srgbClr val="E6A34E"/>
                </a:solidFill>
                <a:latin typeface="Aptos"/>
                <a:ea typeface="Aptos"/>
                <a:cs typeface="Aptos"/>
              </a:rPr>
              <a:t>THE END-TO-END PROOF</a:t>
            </a:r>
          </a:p>
        </p:txBody>
      </p:sp>
      <p:sp>
        <p:nvSpPr>
          <p:cNvPr id="2" name="slide-title">
            <a:extLst xmlns:a="http://schemas.openxmlformats.org/drawingml/2006/main">
              <a:ext uri="{FF2B5EF4-FFF2-40B4-BE49-F238E27FC236}">
                <a16:creationId xmlns:a16="http://schemas.microsoft.com/office/drawing/2014/main" id="{5DE87E8A-77FB-4245-B0CE-ADF61A24BAB6}"/>
              </a:ext>
            </a:extLst>
          </p:cNvPr>
          <p:cNvSpPr>
            <a:spLocks xmlns:a="http://schemas.openxmlformats.org/drawingml/2006/main" noGrp="1"/>
          </p:cNvSpPr>
          <p:nvPr/>
        </p:nvSpPr>
        <p:spPr>
          <a:xfrm xmlns:a="http://schemas.openxmlformats.org/drawingml/2006/main">
            <a:off x="666750" y="742950"/>
            <a:ext cx="952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000" b="0" i="0">
                <a:solidFill>
                  <a:srgbClr val="F6F0E4"/>
                </a:solidFill>
                <a:latin typeface="Georgia"/>
                <a:ea typeface="Georgia"/>
                <a:cs typeface="Georgia"/>
              </a:defRPr>
            </a:pPr>
            <a:r>
              <a:rPr sz="3000" b="0" i="0">
                <a:solidFill>
                  <a:srgbClr val="F6F0E4"/>
                </a:solidFill>
                <a:latin typeface="Georgia"/>
                <a:ea typeface="Georgia"/>
                <a:cs typeface="Georgia"/>
              </a:rPr>
              <a:t>One order moves the entire restaurant forward.</a:t>
            </a:r>
          </a:p>
        </p:txBody>
      </p:sp>
      <p:sp>
        <p:nvSpPr>
          <p:cNvPr id="3" name="">
            <a:extLst xmlns:a="http://schemas.openxmlformats.org/drawingml/2006/main">
              <a:ext uri="{FF2B5EF4-FFF2-40B4-BE49-F238E27FC236}">
                <a16:creationId xmlns:a16="http://schemas.microsoft.com/office/drawing/2014/main" id="{9492CBA5-9CC7-497D-9736-252E12534C82}"/>
              </a:ext>
            </a:extLst>
          </p:cNvPr>
          <p:cNvSpPr>
            <a:spLocks xmlns:a="http://schemas.openxmlformats.org/drawingml/2006/main" noGrp="1"/>
          </p:cNvSpPr>
          <p:nvPr/>
        </p:nvSpPr>
        <p:spPr>
          <a:xfrm xmlns:a="http://schemas.openxmlformats.org/drawingml/2006/main">
            <a:off x="666750" y="1352550"/>
            <a:ext cx="723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i="0">
                <a:solidFill>
                  <a:srgbClr val="C9D3CC"/>
                </a:solidFill>
                <a:latin typeface="Aptos"/>
                <a:ea typeface="Aptos"/>
                <a:cs typeface="Aptos"/>
              </a:defRPr>
            </a:pPr>
            <a:r>
              <a:rPr sz="1350" b="0" i="0">
                <a:solidFill>
                  <a:srgbClr val="C9D3CC"/>
                </a:solidFill>
                <a:latin typeface="Aptos"/>
                <a:ea typeface="Aptos"/>
                <a:cs typeface="Aptos"/>
              </a:rPr>
              <a:t>No re-entry. No manual stock toggle. No invisible handoff.</a:t>
            </a:r>
          </a:p>
        </p:txBody>
      </p:sp>
      <p:sp>
        <p:nvSpPr>
          <p:cNvPr id="4" name="">
            <a:extLst xmlns:a="http://schemas.openxmlformats.org/drawingml/2006/main">
              <a:ext uri="{FF2B5EF4-FFF2-40B4-BE49-F238E27FC236}">
                <a16:creationId xmlns:a16="http://schemas.microsoft.com/office/drawing/2014/main" id="{2DFB6C34-D265-4958-97FA-4617116EAB12}"/>
              </a:ext>
            </a:extLst>
          </p:cNvPr>
          <p:cNvSpPr>
            <a:spLocks xmlns:a="http://schemas.openxmlformats.org/drawingml/2006/main" noGrp="1"/>
          </p:cNvSpPr>
          <p:nvPr/>
        </p:nvSpPr>
        <p:spPr>
          <a:xfrm xmlns:a="http://schemas.openxmlformats.org/drawingml/2006/main">
            <a:off x="1047750" y="2438400"/>
            <a:ext cx="685800" cy="685800"/>
          </a:xfrm>
          <a:prstGeom xmlns:a="http://schemas.openxmlformats.org/drawingml/2006/main" prst="ellipse">
            <a:avLst/>
          </a:prstGeom>
          <a:solidFill xmlns:a="http://schemas.openxmlformats.org/drawingml/2006/main">
            <a:srgbClr val="F6F0E4"/>
          </a:solidFill>
          <a:ln xmlns:a="http://schemas.openxmlformats.org/drawingml/2006/main" w="19050">
            <a:solidFill>
              <a:srgbClr val="B8C7BE"/>
            </a:solidFill>
            <a:prstDash val="solid"/>
          </a:ln>
        </p:spPr>
      </p:sp>
      <p:sp>
        <p:nvSpPr>
          <p:cNvPr id="5" name="">
            <a:extLst xmlns:a="http://schemas.openxmlformats.org/drawingml/2006/main">
              <a:ext uri="{FF2B5EF4-FFF2-40B4-BE49-F238E27FC236}">
                <a16:creationId xmlns:a16="http://schemas.microsoft.com/office/drawing/2014/main" id="{5C0F55C7-CD0E-4FC9-A96C-98D4EB95F017}"/>
              </a:ext>
            </a:extLst>
          </p:cNvPr>
          <p:cNvSpPr>
            <a:spLocks xmlns:a="http://schemas.openxmlformats.org/drawingml/2006/main" noGrp="1"/>
          </p:cNvSpPr>
          <p:nvPr/>
        </p:nvSpPr>
        <p:spPr>
          <a:xfrm xmlns:a="http://schemas.openxmlformats.org/drawingml/2006/main">
            <a:off x="1047750" y="2647950"/>
            <a:ext cx="685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1" i="0">
                <a:solidFill>
                  <a:srgbClr val="18372D"/>
                </a:solidFill>
                <a:latin typeface="Aptos"/>
                <a:ea typeface="Aptos"/>
                <a:cs typeface="Aptos"/>
              </a:defRPr>
            </a:pPr>
            <a:r>
              <a:rPr sz="1200" b="1" i="0">
                <a:solidFill>
                  <a:srgbClr val="18372D"/>
                </a:solidFill>
                <a:latin typeface="Aptos"/>
                <a:ea typeface="Aptos"/>
                <a:cs typeface="Aptos"/>
              </a:rPr>
              <a:t>01</a:t>
            </a:r>
          </a:p>
        </p:txBody>
      </p:sp>
      <p:sp>
        <p:nvSpPr>
          <p:cNvPr id="6" name="">
            <a:extLst xmlns:a="http://schemas.openxmlformats.org/drawingml/2006/main">
              <a:ext uri="{FF2B5EF4-FFF2-40B4-BE49-F238E27FC236}">
                <a16:creationId xmlns:a16="http://schemas.microsoft.com/office/drawing/2014/main" id="{BCEE9865-BAC8-4171-9836-A09F7DFE1EC0}"/>
              </a:ext>
            </a:extLst>
          </p:cNvPr>
          <p:cNvSpPr>
            <a:spLocks xmlns:a="http://schemas.openxmlformats.org/drawingml/2006/main" noGrp="1"/>
          </p:cNvSpPr>
          <p:nvPr/>
        </p:nvSpPr>
        <p:spPr>
          <a:xfrm xmlns:a="http://schemas.openxmlformats.org/drawingml/2006/main">
            <a:off x="647700" y="3409950"/>
            <a:ext cx="14859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425" b="0" i="0">
                <a:solidFill>
                  <a:srgbClr val="F6F0E4"/>
                </a:solidFill>
                <a:latin typeface="Georgia"/>
                <a:ea typeface="Georgia"/>
                <a:cs typeface="Georgia"/>
              </a:defRPr>
            </a:pPr>
            <a:r>
              <a:rPr sz="1425" b="0" i="0">
                <a:solidFill>
                  <a:srgbClr val="F6F0E4"/>
                </a:solidFill>
                <a:latin typeface="Georgia"/>
                <a:ea typeface="Georgia"/>
                <a:cs typeface="Georgia"/>
              </a:rPr>
              <a:t>Scan / browse</a:t>
            </a:r>
          </a:p>
        </p:txBody>
      </p:sp>
      <p:sp>
        <p:nvSpPr>
          <p:cNvPr id="7" name="">
            <a:extLst xmlns:a="http://schemas.openxmlformats.org/drawingml/2006/main">
              <a:ext uri="{FF2B5EF4-FFF2-40B4-BE49-F238E27FC236}">
                <a16:creationId xmlns:a16="http://schemas.microsoft.com/office/drawing/2014/main" id="{35F91626-86FE-499C-8CA1-3C6835764A89}"/>
              </a:ext>
            </a:extLst>
          </p:cNvPr>
          <p:cNvSpPr>
            <a:spLocks xmlns:a="http://schemas.openxmlformats.org/drawingml/2006/main" noGrp="1"/>
          </p:cNvSpPr>
          <p:nvPr/>
        </p:nvSpPr>
        <p:spPr>
          <a:xfrm xmlns:a="http://schemas.openxmlformats.org/drawingml/2006/main">
            <a:off x="647700" y="3829050"/>
            <a:ext cx="1485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0" i="0">
                <a:solidFill>
                  <a:srgbClr val="B9C5BD"/>
                </a:solidFill>
                <a:latin typeface="Aptos"/>
                <a:ea typeface="Aptos"/>
                <a:cs typeface="Aptos"/>
              </a:defRPr>
            </a:pPr>
            <a:r>
              <a:rPr sz="975" b="0" i="0">
                <a:solidFill>
                  <a:srgbClr val="B9C5BD"/>
                </a:solidFill>
                <a:latin typeface="Aptos"/>
                <a:ea typeface="Aptos"/>
                <a:cs typeface="Aptos"/>
              </a:rPr>
              <a:t>Live menu</a:t>
            </a:r>
          </a:p>
        </p:txBody>
      </p:sp>
      <p:sp>
        <p:nvSpPr>
          <p:cNvPr id="8" name="">
            <a:extLst xmlns:a="http://schemas.openxmlformats.org/drawingml/2006/main">
              <a:ext uri="{FF2B5EF4-FFF2-40B4-BE49-F238E27FC236}">
                <a16:creationId xmlns:a16="http://schemas.microsoft.com/office/drawing/2014/main" id="{FD83576D-A170-49C8-9016-A62C9C02D221}"/>
              </a:ext>
            </a:extLst>
          </p:cNvPr>
          <p:cNvSpPr>
            <a:spLocks xmlns:a="http://schemas.openxmlformats.org/drawingml/2006/main" noGrp="1"/>
          </p:cNvSpPr>
          <p:nvPr/>
        </p:nvSpPr>
        <p:spPr>
          <a:xfrm xmlns:a="http://schemas.openxmlformats.org/drawingml/2006/main">
            <a:off x="2676525" y="2438400"/>
            <a:ext cx="685800" cy="685800"/>
          </a:xfrm>
          <a:prstGeom xmlns:a="http://schemas.openxmlformats.org/drawingml/2006/main" prst="ellipse">
            <a:avLst/>
          </a:prstGeom>
          <a:solidFill xmlns:a="http://schemas.openxmlformats.org/drawingml/2006/main">
            <a:srgbClr val="F6F0E4"/>
          </a:solidFill>
          <a:ln xmlns:a="http://schemas.openxmlformats.org/drawingml/2006/main" w="19050">
            <a:solidFill>
              <a:srgbClr val="B8C7BE"/>
            </a:solidFill>
            <a:prstDash val="solid"/>
          </a:ln>
        </p:spPr>
      </p:sp>
      <p:sp>
        <p:nvSpPr>
          <p:cNvPr id="9" name="">
            <a:extLst xmlns:a="http://schemas.openxmlformats.org/drawingml/2006/main">
              <a:ext uri="{FF2B5EF4-FFF2-40B4-BE49-F238E27FC236}">
                <a16:creationId xmlns:a16="http://schemas.microsoft.com/office/drawing/2014/main" id="{2388407D-75C5-48F8-8C4D-EA95CC7EE8E7}"/>
              </a:ext>
            </a:extLst>
          </p:cNvPr>
          <p:cNvSpPr>
            <a:spLocks xmlns:a="http://schemas.openxmlformats.org/drawingml/2006/main" noGrp="1"/>
          </p:cNvSpPr>
          <p:nvPr/>
        </p:nvSpPr>
        <p:spPr>
          <a:xfrm xmlns:a="http://schemas.openxmlformats.org/drawingml/2006/main">
            <a:off x="2676525" y="2647950"/>
            <a:ext cx="685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1" i="0">
                <a:solidFill>
                  <a:srgbClr val="18372D"/>
                </a:solidFill>
                <a:latin typeface="Aptos"/>
                <a:ea typeface="Aptos"/>
                <a:cs typeface="Aptos"/>
              </a:defRPr>
            </a:pPr>
            <a:r>
              <a:rPr sz="1200" b="1" i="0">
                <a:solidFill>
                  <a:srgbClr val="18372D"/>
                </a:solidFill>
                <a:latin typeface="Aptos"/>
                <a:ea typeface="Aptos"/>
                <a:cs typeface="Aptos"/>
              </a:rPr>
              <a:t>02</a:t>
            </a:r>
          </a:p>
        </p:txBody>
      </p:sp>
      <p:sp>
        <p:nvSpPr>
          <p:cNvPr id="10" name="">
            <a:extLst xmlns:a="http://schemas.openxmlformats.org/drawingml/2006/main">
              <a:ext uri="{FF2B5EF4-FFF2-40B4-BE49-F238E27FC236}">
                <a16:creationId xmlns:a16="http://schemas.microsoft.com/office/drawing/2014/main" id="{AAAEAAA2-03EE-4FA4-B98C-47B760CF29D4}"/>
              </a:ext>
            </a:extLst>
          </p:cNvPr>
          <p:cNvSpPr>
            <a:spLocks xmlns:a="http://schemas.openxmlformats.org/drawingml/2006/main" noGrp="1"/>
          </p:cNvSpPr>
          <p:nvPr/>
        </p:nvSpPr>
        <p:spPr>
          <a:xfrm xmlns:a="http://schemas.openxmlformats.org/drawingml/2006/main">
            <a:off x="2276475" y="3409950"/>
            <a:ext cx="14859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425" b="0" i="0">
                <a:solidFill>
                  <a:srgbClr val="F6F0E4"/>
                </a:solidFill>
                <a:latin typeface="Georgia"/>
                <a:ea typeface="Georgia"/>
                <a:cs typeface="Georgia"/>
              </a:defRPr>
            </a:pPr>
            <a:r>
              <a:rPr sz="1425" b="0" i="0">
                <a:solidFill>
                  <a:srgbClr val="F6F0E4"/>
                </a:solidFill>
                <a:latin typeface="Georgia"/>
                <a:ea typeface="Georgia"/>
                <a:cs typeface="Georgia"/>
              </a:rPr>
              <a:t>Place order</a:t>
            </a:r>
          </a:p>
        </p:txBody>
      </p:sp>
      <p:sp>
        <p:nvSpPr>
          <p:cNvPr id="11" name="">
            <a:extLst xmlns:a="http://schemas.openxmlformats.org/drawingml/2006/main">
              <a:ext uri="{FF2B5EF4-FFF2-40B4-BE49-F238E27FC236}">
                <a16:creationId xmlns:a16="http://schemas.microsoft.com/office/drawing/2014/main" id="{959E6E5A-50B5-4DC4-907C-B36776927E0D}"/>
              </a:ext>
            </a:extLst>
          </p:cNvPr>
          <p:cNvSpPr>
            <a:spLocks xmlns:a="http://schemas.openxmlformats.org/drawingml/2006/main" noGrp="1"/>
          </p:cNvSpPr>
          <p:nvPr/>
        </p:nvSpPr>
        <p:spPr>
          <a:xfrm xmlns:a="http://schemas.openxmlformats.org/drawingml/2006/main">
            <a:off x="2276475" y="3829050"/>
            <a:ext cx="1485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0" i="0">
                <a:solidFill>
                  <a:srgbClr val="B9C5BD"/>
                </a:solidFill>
                <a:latin typeface="Aptos"/>
                <a:ea typeface="Aptos"/>
                <a:cs typeface="Aptos"/>
              </a:defRPr>
            </a:pPr>
            <a:r>
              <a:rPr sz="975" b="0" i="0">
                <a:solidFill>
                  <a:srgbClr val="B9C5BD"/>
                </a:solidFill>
                <a:latin typeface="Aptos"/>
                <a:ea typeface="Aptos"/>
                <a:cs typeface="Aptos"/>
              </a:rPr>
              <a:t>Notes + table</a:t>
            </a:r>
          </a:p>
        </p:txBody>
      </p:sp>
      <p:sp>
        <p:nvSpPr>
          <p:cNvPr id="12" name="">
            <a:extLst xmlns:a="http://schemas.openxmlformats.org/drawingml/2006/main">
              <a:ext uri="{FF2B5EF4-FFF2-40B4-BE49-F238E27FC236}">
                <a16:creationId xmlns:a16="http://schemas.microsoft.com/office/drawing/2014/main" id="{52478317-F009-4D99-81E7-2F479C5E5A38}"/>
              </a:ext>
            </a:extLst>
          </p:cNvPr>
          <p:cNvSpPr>
            <a:spLocks xmlns:a="http://schemas.openxmlformats.org/drawingml/2006/main" noGrp="1"/>
          </p:cNvSpPr>
          <p:nvPr/>
        </p:nvSpPr>
        <p:spPr>
          <a:xfrm xmlns:a="http://schemas.openxmlformats.org/drawingml/2006/main">
            <a:off x="4305300" y="2438400"/>
            <a:ext cx="685800" cy="685800"/>
          </a:xfrm>
          <a:prstGeom xmlns:a="http://schemas.openxmlformats.org/drawingml/2006/main" prst="ellipse">
            <a:avLst/>
          </a:prstGeom>
          <a:solidFill xmlns:a="http://schemas.openxmlformats.org/drawingml/2006/main">
            <a:srgbClr val="F6F0E4"/>
          </a:solidFill>
          <a:ln xmlns:a="http://schemas.openxmlformats.org/drawingml/2006/main" w="19050">
            <a:solidFill>
              <a:srgbClr val="B8C7BE"/>
            </a:solidFill>
            <a:prstDash val="solid"/>
          </a:ln>
        </p:spPr>
      </p:sp>
      <p:sp>
        <p:nvSpPr>
          <p:cNvPr id="13" name="">
            <a:extLst xmlns:a="http://schemas.openxmlformats.org/drawingml/2006/main">
              <a:ext uri="{FF2B5EF4-FFF2-40B4-BE49-F238E27FC236}">
                <a16:creationId xmlns:a16="http://schemas.microsoft.com/office/drawing/2014/main" id="{362B9412-811D-426A-8A6E-CBC8B8468D0C}"/>
              </a:ext>
            </a:extLst>
          </p:cNvPr>
          <p:cNvSpPr>
            <a:spLocks xmlns:a="http://schemas.openxmlformats.org/drawingml/2006/main" noGrp="1"/>
          </p:cNvSpPr>
          <p:nvPr/>
        </p:nvSpPr>
        <p:spPr>
          <a:xfrm xmlns:a="http://schemas.openxmlformats.org/drawingml/2006/main">
            <a:off x="4305300" y="2647950"/>
            <a:ext cx="685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1" i="0">
                <a:solidFill>
                  <a:srgbClr val="18372D"/>
                </a:solidFill>
                <a:latin typeface="Aptos"/>
                <a:ea typeface="Aptos"/>
                <a:cs typeface="Aptos"/>
              </a:defRPr>
            </a:pPr>
            <a:r>
              <a:rPr sz="1200" b="1" i="0">
                <a:solidFill>
                  <a:srgbClr val="18372D"/>
                </a:solidFill>
                <a:latin typeface="Aptos"/>
                <a:ea typeface="Aptos"/>
                <a:cs typeface="Aptos"/>
              </a:rPr>
              <a:t>03</a:t>
            </a:r>
          </a:p>
        </p:txBody>
      </p:sp>
      <p:sp>
        <p:nvSpPr>
          <p:cNvPr id="14" name="">
            <a:extLst xmlns:a="http://schemas.openxmlformats.org/drawingml/2006/main">
              <a:ext uri="{FF2B5EF4-FFF2-40B4-BE49-F238E27FC236}">
                <a16:creationId xmlns:a16="http://schemas.microsoft.com/office/drawing/2014/main" id="{7FCF65C7-FD36-42E1-928C-63E56CDEF179}"/>
              </a:ext>
            </a:extLst>
          </p:cNvPr>
          <p:cNvSpPr>
            <a:spLocks xmlns:a="http://schemas.openxmlformats.org/drawingml/2006/main" noGrp="1"/>
          </p:cNvSpPr>
          <p:nvPr/>
        </p:nvSpPr>
        <p:spPr>
          <a:xfrm xmlns:a="http://schemas.openxmlformats.org/drawingml/2006/main">
            <a:off x="3905250" y="3409950"/>
            <a:ext cx="14859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425" b="0" i="0">
                <a:solidFill>
                  <a:srgbClr val="F6F0E4"/>
                </a:solidFill>
                <a:latin typeface="Georgia"/>
                <a:ea typeface="Georgia"/>
                <a:cs typeface="Georgia"/>
              </a:defRPr>
            </a:pPr>
            <a:r>
              <a:rPr sz="1425" b="0" i="0">
                <a:solidFill>
                  <a:srgbClr val="F6F0E4"/>
                </a:solidFill>
                <a:latin typeface="Georgia"/>
                <a:ea typeface="Georgia"/>
                <a:cs typeface="Georgia"/>
              </a:rPr>
              <a:t>Kitchen accepts</a:t>
            </a:r>
          </a:p>
        </p:txBody>
      </p:sp>
      <p:sp>
        <p:nvSpPr>
          <p:cNvPr id="15" name="">
            <a:extLst xmlns:a="http://schemas.openxmlformats.org/drawingml/2006/main">
              <a:ext uri="{FF2B5EF4-FFF2-40B4-BE49-F238E27FC236}">
                <a16:creationId xmlns:a16="http://schemas.microsoft.com/office/drawing/2014/main" id="{0B3FF4A6-26E3-42D2-ADE9-21B5F01FB0A7}"/>
              </a:ext>
            </a:extLst>
          </p:cNvPr>
          <p:cNvSpPr>
            <a:spLocks xmlns:a="http://schemas.openxmlformats.org/drawingml/2006/main" noGrp="1"/>
          </p:cNvSpPr>
          <p:nvPr/>
        </p:nvSpPr>
        <p:spPr>
          <a:xfrm xmlns:a="http://schemas.openxmlformats.org/drawingml/2006/main">
            <a:off x="3905250" y="3829050"/>
            <a:ext cx="1485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0" i="0">
                <a:solidFill>
                  <a:srgbClr val="B9C5BD"/>
                </a:solidFill>
                <a:latin typeface="Aptos"/>
                <a:ea typeface="Aptos"/>
                <a:cs typeface="Aptos"/>
              </a:defRPr>
            </a:pPr>
            <a:r>
              <a:rPr sz="975" b="0" i="0">
                <a:solidFill>
                  <a:srgbClr val="B9C5BD"/>
                </a:solidFill>
                <a:latin typeface="Aptos"/>
                <a:ea typeface="Aptos"/>
                <a:cs typeface="Aptos"/>
              </a:rPr>
              <a:t>Ticket created</a:t>
            </a:r>
          </a:p>
        </p:txBody>
      </p:sp>
      <p:sp>
        <p:nvSpPr>
          <p:cNvPr id="16" name="">
            <a:extLst xmlns:a="http://schemas.openxmlformats.org/drawingml/2006/main">
              <a:ext uri="{FF2B5EF4-FFF2-40B4-BE49-F238E27FC236}">
                <a16:creationId xmlns:a16="http://schemas.microsoft.com/office/drawing/2014/main" id="{132C67E8-B1C3-4302-9440-2CAB95948EAB}"/>
              </a:ext>
            </a:extLst>
          </p:cNvPr>
          <p:cNvSpPr>
            <a:spLocks xmlns:a="http://schemas.openxmlformats.org/drawingml/2006/main" noGrp="1"/>
          </p:cNvSpPr>
          <p:nvPr/>
        </p:nvSpPr>
        <p:spPr>
          <a:xfrm xmlns:a="http://schemas.openxmlformats.org/drawingml/2006/main">
            <a:off x="5934075" y="2438400"/>
            <a:ext cx="685800" cy="685800"/>
          </a:xfrm>
          <a:prstGeom xmlns:a="http://schemas.openxmlformats.org/drawingml/2006/main" prst="ellipse">
            <a:avLst/>
          </a:prstGeom>
          <a:solidFill xmlns:a="http://schemas.openxmlformats.org/drawingml/2006/main">
            <a:srgbClr val="D1832E"/>
          </a:solidFill>
          <a:ln xmlns:a="http://schemas.openxmlformats.org/drawingml/2006/main" w="19050">
            <a:solidFill>
              <a:srgbClr val="D1832E"/>
            </a:solidFill>
            <a:prstDash val="solid"/>
          </a:ln>
        </p:spPr>
      </p:sp>
      <p:sp>
        <p:nvSpPr>
          <p:cNvPr id="17" name="">
            <a:extLst xmlns:a="http://schemas.openxmlformats.org/drawingml/2006/main">
              <a:ext uri="{FF2B5EF4-FFF2-40B4-BE49-F238E27FC236}">
                <a16:creationId xmlns:a16="http://schemas.microsoft.com/office/drawing/2014/main" id="{F2D79385-BF1C-467E-BA11-C185CED80061}"/>
              </a:ext>
            </a:extLst>
          </p:cNvPr>
          <p:cNvSpPr>
            <a:spLocks xmlns:a="http://schemas.openxmlformats.org/drawingml/2006/main" noGrp="1"/>
          </p:cNvSpPr>
          <p:nvPr/>
        </p:nvSpPr>
        <p:spPr>
          <a:xfrm xmlns:a="http://schemas.openxmlformats.org/drawingml/2006/main">
            <a:off x="5934075" y="2647950"/>
            <a:ext cx="685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1" i="0">
                <a:solidFill>
                  <a:srgbClr val="FFFFFF"/>
                </a:solidFill>
                <a:latin typeface="Aptos"/>
                <a:ea typeface="Aptos"/>
                <a:cs typeface="Aptos"/>
              </a:defRPr>
            </a:pPr>
            <a:r>
              <a:rPr sz="1200" b="1" i="0">
                <a:solidFill>
                  <a:srgbClr val="FFFFFF"/>
                </a:solidFill>
                <a:latin typeface="Aptos"/>
                <a:ea typeface="Aptos"/>
                <a:cs typeface="Aptos"/>
              </a:rPr>
              <a:t>04</a:t>
            </a:r>
          </a:p>
        </p:txBody>
      </p:sp>
      <p:sp>
        <p:nvSpPr>
          <p:cNvPr id="18" name="">
            <a:extLst xmlns:a="http://schemas.openxmlformats.org/drawingml/2006/main">
              <a:ext uri="{FF2B5EF4-FFF2-40B4-BE49-F238E27FC236}">
                <a16:creationId xmlns:a16="http://schemas.microsoft.com/office/drawing/2014/main" id="{55C60B93-D0AD-428C-AB3B-9B3942A0A0D3}"/>
              </a:ext>
            </a:extLst>
          </p:cNvPr>
          <p:cNvSpPr>
            <a:spLocks xmlns:a="http://schemas.openxmlformats.org/drawingml/2006/main" noGrp="1"/>
          </p:cNvSpPr>
          <p:nvPr/>
        </p:nvSpPr>
        <p:spPr>
          <a:xfrm xmlns:a="http://schemas.openxmlformats.org/drawingml/2006/main">
            <a:off x="5534025" y="3409950"/>
            <a:ext cx="14859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425" b="0" i="0">
                <a:solidFill>
                  <a:srgbClr val="F6F0E4"/>
                </a:solidFill>
                <a:latin typeface="Georgia"/>
                <a:ea typeface="Georgia"/>
                <a:cs typeface="Georgia"/>
              </a:defRPr>
            </a:pPr>
            <a:r>
              <a:rPr sz="1425" b="0" i="0">
                <a:solidFill>
                  <a:srgbClr val="F6F0E4"/>
                </a:solidFill>
                <a:latin typeface="Georgia"/>
                <a:ea typeface="Georgia"/>
                <a:cs typeface="Georgia"/>
              </a:rPr>
              <a:t>Stock reserved</a:t>
            </a:r>
          </a:p>
        </p:txBody>
      </p:sp>
      <p:sp>
        <p:nvSpPr>
          <p:cNvPr id="19" name="">
            <a:extLst xmlns:a="http://schemas.openxmlformats.org/drawingml/2006/main">
              <a:ext uri="{FF2B5EF4-FFF2-40B4-BE49-F238E27FC236}">
                <a16:creationId xmlns:a16="http://schemas.microsoft.com/office/drawing/2014/main" id="{46BC03F2-C5B1-4C14-9FDE-ABF6DDEEFCD3}"/>
              </a:ext>
            </a:extLst>
          </p:cNvPr>
          <p:cNvSpPr>
            <a:spLocks xmlns:a="http://schemas.openxmlformats.org/drawingml/2006/main" noGrp="1"/>
          </p:cNvSpPr>
          <p:nvPr/>
        </p:nvSpPr>
        <p:spPr>
          <a:xfrm xmlns:a="http://schemas.openxmlformats.org/drawingml/2006/main">
            <a:off x="5534025" y="3829050"/>
            <a:ext cx="1485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0" i="0">
                <a:solidFill>
                  <a:srgbClr val="B9C5BD"/>
                </a:solidFill>
                <a:latin typeface="Aptos"/>
                <a:ea typeface="Aptos"/>
                <a:cs typeface="Aptos"/>
              </a:defRPr>
            </a:pPr>
            <a:r>
              <a:rPr sz="975" b="0" i="0">
                <a:solidFill>
                  <a:srgbClr val="B9C5BD"/>
                </a:solidFill>
                <a:latin typeface="Aptos"/>
                <a:ea typeface="Aptos"/>
                <a:cs typeface="Aptos"/>
              </a:rPr>
              <a:t>Portions recalc</a:t>
            </a:r>
          </a:p>
        </p:txBody>
      </p:sp>
      <p:sp>
        <p:nvSpPr>
          <p:cNvPr id="20" name="">
            <a:extLst xmlns:a="http://schemas.openxmlformats.org/drawingml/2006/main">
              <a:ext uri="{FF2B5EF4-FFF2-40B4-BE49-F238E27FC236}">
                <a16:creationId xmlns:a16="http://schemas.microsoft.com/office/drawing/2014/main" id="{753338D8-70CB-49D4-8490-E448A1C329A8}"/>
              </a:ext>
            </a:extLst>
          </p:cNvPr>
          <p:cNvSpPr>
            <a:spLocks xmlns:a="http://schemas.openxmlformats.org/drawingml/2006/main" noGrp="1"/>
          </p:cNvSpPr>
          <p:nvPr/>
        </p:nvSpPr>
        <p:spPr>
          <a:xfrm xmlns:a="http://schemas.openxmlformats.org/drawingml/2006/main">
            <a:off x="7562850" y="2438400"/>
            <a:ext cx="685800" cy="685800"/>
          </a:xfrm>
          <a:prstGeom xmlns:a="http://schemas.openxmlformats.org/drawingml/2006/main" prst="ellipse">
            <a:avLst/>
          </a:prstGeom>
          <a:solidFill xmlns:a="http://schemas.openxmlformats.org/drawingml/2006/main">
            <a:srgbClr val="F6F0E4"/>
          </a:solidFill>
          <a:ln xmlns:a="http://schemas.openxmlformats.org/drawingml/2006/main" w="19050">
            <a:solidFill>
              <a:srgbClr val="B8C7BE"/>
            </a:solidFill>
            <a:prstDash val="solid"/>
          </a:ln>
        </p:spPr>
      </p:sp>
      <p:sp>
        <p:nvSpPr>
          <p:cNvPr id="21" name="">
            <a:extLst xmlns:a="http://schemas.openxmlformats.org/drawingml/2006/main">
              <a:ext uri="{FF2B5EF4-FFF2-40B4-BE49-F238E27FC236}">
                <a16:creationId xmlns:a16="http://schemas.microsoft.com/office/drawing/2014/main" id="{EE9A2D22-8424-401D-964A-1C509851EF55}"/>
              </a:ext>
            </a:extLst>
          </p:cNvPr>
          <p:cNvSpPr>
            <a:spLocks xmlns:a="http://schemas.openxmlformats.org/drawingml/2006/main" noGrp="1"/>
          </p:cNvSpPr>
          <p:nvPr/>
        </p:nvSpPr>
        <p:spPr>
          <a:xfrm xmlns:a="http://schemas.openxmlformats.org/drawingml/2006/main">
            <a:off x="7562850" y="2647950"/>
            <a:ext cx="685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1" i="0">
                <a:solidFill>
                  <a:srgbClr val="18372D"/>
                </a:solidFill>
                <a:latin typeface="Aptos"/>
                <a:ea typeface="Aptos"/>
                <a:cs typeface="Aptos"/>
              </a:defRPr>
            </a:pPr>
            <a:r>
              <a:rPr sz="1200" b="1" i="0">
                <a:solidFill>
                  <a:srgbClr val="18372D"/>
                </a:solidFill>
                <a:latin typeface="Aptos"/>
                <a:ea typeface="Aptos"/>
                <a:cs typeface="Aptos"/>
              </a:rPr>
              <a:t>05</a:t>
            </a:r>
          </a:p>
        </p:txBody>
      </p:sp>
      <p:sp>
        <p:nvSpPr>
          <p:cNvPr id="22" name="">
            <a:extLst xmlns:a="http://schemas.openxmlformats.org/drawingml/2006/main">
              <a:ext uri="{FF2B5EF4-FFF2-40B4-BE49-F238E27FC236}">
                <a16:creationId xmlns:a16="http://schemas.microsoft.com/office/drawing/2014/main" id="{F25069DD-9D2A-4EC9-9E72-B99821D5AB74}"/>
              </a:ext>
            </a:extLst>
          </p:cNvPr>
          <p:cNvSpPr>
            <a:spLocks xmlns:a="http://schemas.openxmlformats.org/drawingml/2006/main" noGrp="1"/>
          </p:cNvSpPr>
          <p:nvPr/>
        </p:nvSpPr>
        <p:spPr>
          <a:xfrm xmlns:a="http://schemas.openxmlformats.org/drawingml/2006/main">
            <a:off x="7162800" y="3409950"/>
            <a:ext cx="14859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425" b="0" i="0">
                <a:solidFill>
                  <a:srgbClr val="F6F0E4"/>
                </a:solidFill>
                <a:latin typeface="Georgia"/>
                <a:ea typeface="Georgia"/>
                <a:cs typeface="Georgia"/>
              </a:defRPr>
            </a:pPr>
            <a:r>
              <a:rPr sz="1425" b="0" i="0">
                <a:solidFill>
                  <a:srgbClr val="F6F0E4"/>
                </a:solidFill>
                <a:latin typeface="Georgia"/>
                <a:ea typeface="Georgia"/>
                <a:cs typeface="Georgia"/>
              </a:rPr>
              <a:t>Waiter serves</a:t>
            </a:r>
          </a:p>
        </p:txBody>
      </p:sp>
      <p:sp>
        <p:nvSpPr>
          <p:cNvPr id="23" name="">
            <a:extLst xmlns:a="http://schemas.openxmlformats.org/drawingml/2006/main">
              <a:ext uri="{FF2B5EF4-FFF2-40B4-BE49-F238E27FC236}">
                <a16:creationId xmlns:a16="http://schemas.microsoft.com/office/drawing/2014/main" id="{1C7FB999-A8AB-4834-B6DA-F4CCB1A06CCF}"/>
              </a:ext>
            </a:extLst>
          </p:cNvPr>
          <p:cNvSpPr>
            <a:spLocks xmlns:a="http://schemas.openxmlformats.org/drawingml/2006/main" noGrp="1"/>
          </p:cNvSpPr>
          <p:nvPr/>
        </p:nvSpPr>
        <p:spPr>
          <a:xfrm xmlns:a="http://schemas.openxmlformats.org/drawingml/2006/main">
            <a:off x="7162800" y="3829050"/>
            <a:ext cx="1485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0" i="0">
                <a:solidFill>
                  <a:srgbClr val="B9C5BD"/>
                </a:solidFill>
                <a:latin typeface="Aptos"/>
                <a:ea typeface="Aptos"/>
                <a:cs typeface="Aptos"/>
              </a:defRPr>
            </a:pPr>
            <a:r>
              <a:rPr sz="975" b="0" i="0">
                <a:solidFill>
                  <a:srgbClr val="B9C5BD"/>
                </a:solidFill>
                <a:latin typeface="Aptos"/>
                <a:ea typeface="Aptos"/>
                <a:cs typeface="Aptos"/>
              </a:rPr>
              <a:t>Table advances</a:t>
            </a:r>
          </a:p>
        </p:txBody>
      </p:sp>
      <p:sp>
        <p:nvSpPr>
          <p:cNvPr id="24" name="">
            <a:extLst xmlns:a="http://schemas.openxmlformats.org/drawingml/2006/main">
              <a:ext uri="{FF2B5EF4-FFF2-40B4-BE49-F238E27FC236}">
                <a16:creationId xmlns:a16="http://schemas.microsoft.com/office/drawing/2014/main" id="{9A1C9CB3-9339-4A7E-8602-CF3984FB235A}"/>
              </a:ext>
            </a:extLst>
          </p:cNvPr>
          <p:cNvSpPr>
            <a:spLocks xmlns:a="http://schemas.openxmlformats.org/drawingml/2006/main" noGrp="1"/>
          </p:cNvSpPr>
          <p:nvPr/>
        </p:nvSpPr>
        <p:spPr>
          <a:xfrm xmlns:a="http://schemas.openxmlformats.org/drawingml/2006/main">
            <a:off x="9191625" y="2438400"/>
            <a:ext cx="685800" cy="685800"/>
          </a:xfrm>
          <a:prstGeom xmlns:a="http://schemas.openxmlformats.org/drawingml/2006/main" prst="ellipse">
            <a:avLst/>
          </a:prstGeom>
          <a:solidFill xmlns:a="http://schemas.openxmlformats.org/drawingml/2006/main">
            <a:srgbClr val="F6F0E4"/>
          </a:solidFill>
          <a:ln xmlns:a="http://schemas.openxmlformats.org/drawingml/2006/main" w="19050">
            <a:solidFill>
              <a:srgbClr val="B8C7BE"/>
            </a:solidFill>
            <a:prstDash val="solid"/>
          </a:ln>
        </p:spPr>
      </p:sp>
      <p:sp>
        <p:nvSpPr>
          <p:cNvPr id="25" name="">
            <a:extLst xmlns:a="http://schemas.openxmlformats.org/drawingml/2006/main">
              <a:ext uri="{FF2B5EF4-FFF2-40B4-BE49-F238E27FC236}">
                <a16:creationId xmlns:a16="http://schemas.microsoft.com/office/drawing/2014/main" id="{D6A98D2B-6EDD-41C5-99ED-FFD7C92F0A43}"/>
              </a:ext>
            </a:extLst>
          </p:cNvPr>
          <p:cNvSpPr>
            <a:spLocks xmlns:a="http://schemas.openxmlformats.org/drawingml/2006/main" noGrp="1"/>
          </p:cNvSpPr>
          <p:nvPr/>
        </p:nvSpPr>
        <p:spPr>
          <a:xfrm xmlns:a="http://schemas.openxmlformats.org/drawingml/2006/main">
            <a:off x="9191625" y="2647950"/>
            <a:ext cx="685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1" i="0">
                <a:solidFill>
                  <a:srgbClr val="18372D"/>
                </a:solidFill>
                <a:latin typeface="Aptos"/>
                <a:ea typeface="Aptos"/>
                <a:cs typeface="Aptos"/>
              </a:defRPr>
            </a:pPr>
            <a:r>
              <a:rPr sz="1200" b="1" i="0">
                <a:solidFill>
                  <a:srgbClr val="18372D"/>
                </a:solidFill>
                <a:latin typeface="Aptos"/>
                <a:ea typeface="Aptos"/>
                <a:cs typeface="Aptos"/>
              </a:rPr>
              <a:t>06</a:t>
            </a:r>
          </a:p>
        </p:txBody>
      </p:sp>
      <p:sp>
        <p:nvSpPr>
          <p:cNvPr id="26" name="">
            <a:extLst xmlns:a="http://schemas.openxmlformats.org/drawingml/2006/main">
              <a:ext uri="{FF2B5EF4-FFF2-40B4-BE49-F238E27FC236}">
                <a16:creationId xmlns:a16="http://schemas.microsoft.com/office/drawing/2014/main" id="{89330521-E9BA-431F-9A26-5F8699747D34}"/>
              </a:ext>
            </a:extLst>
          </p:cNvPr>
          <p:cNvSpPr>
            <a:spLocks xmlns:a="http://schemas.openxmlformats.org/drawingml/2006/main" noGrp="1"/>
          </p:cNvSpPr>
          <p:nvPr/>
        </p:nvSpPr>
        <p:spPr>
          <a:xfrm xmlns:a="http://schemas.openxmlformats.org/drawingml/2006/main">
            <a:off x="8791575" y="3409950"/>
            <a:ext cx="14859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425" b="0" i="0">
                <a:solidFill>
                  <a:srgbClr val="F6F0E4"/>
                </a:solidFill>
                <a:latin typeface="Georgia"/>
                <a:ea typeface="Georgia"/>
                <a:cs typeface="Georgia"/>
              </a:defRPr>
            </a:pPr>
            <a:r>
              <a:rPr sz="1425" b="0" i="0">
                <a:solidFill>
                  <a:srgbClr val="F6F0E4"/>
                </a:solidFill>
                <a:latin typeface="Georgia"/>
                <a:ea typeface="Georgia"/>
                <a:cs typeface="Georgia"/>
              </a:rPr>
              <a:t>Bill closes</a:t>
            </a:r>
          </a:p>
        </p:txBody>
      </p:sp>
      <p:sp>
        <p:nvSpPr>
          <p:cNvPr id="27" name="">
            <a:extLst xmlns:a="http://schemas.openxmlformats.org/drawingml/2006/main">
              <a:ext uri="{FF2B5EF4-FFF2-40B4-BE49-F238E27FC236}">
                <a16:creationId xmlns:a16="http://schemas.microsoft.com/office/drawing/2014/main" id="{35A5256A-48AC-4B07-8362-D8591EF61768}"/>
              </a:ext>
            </a:extLst>
          </p:cNvPr>
          <p:cNvSpPr>
            <a:spLocks xmlns:a="http://schemas.openxmlformats.org/drawingml/2006/main" noGrp="1"/>
          </p:cNvSpPr>
          <p:nvPr/>
        </p:nvSpPr>
        <p:spPr>
          <a:xfrm xmlns:a="http://schemas.openxmlformats.org/drawingml/2006/main">
            <a:off x="8791575" y="3829050"/>
            <a:ext cx="1485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0" i="0">
                <a:solidFill>
                  <a:srgbClr val="B9C5BD"/>
                </a:solidFill>
                <a:latin typeface="Aptos"/>
                <a:ea typeface="Aptos"/>
                <a:cs typeface="Aptos"/>
              </a:defRPr>
            </a:pPr>
            <a:r>
              <a:rPr sz="975" b="0" i="0">
                <a:solidFill>
                  <a:srgbClr val="B9C5BD"/>
                </a:solidFill>
                <a:latin typeface="Aptos"/>
                <a:ea typeface="Aptos"/>
                <a:cs typeface="Aptos"/>
              </a:rPr>
              <a:t>Totals verified</a:t>
            </a:r>
          </a:p>
        </p:txBody>
      </p:sp>
      <p:sp>
        <p:nvSpPr>
          <p:cNvPr id="28" name="">
            <a:extLst xmlns:a="http://schemas.openxmlformats.org/drawingml/2006/main">
              <a:ext uri="{FF2B5EF4-FFF2-40B4-BE49-F238E27FC236}">
                <a16:creationId xmlns:a16="http://schemas.microsoft.com/office/drawing/2014/main" id="{994042B3-6DF6-43B3-87B8-09414BE73C7A}"/>
              </a:ext>
            </a:extLst>
          </p:cNvPr>
          <p:cNvSpPr>
            <a:spLocks xmlns:a="http://schemas.openxmlformats.org/drawingml/2006/main" noGrp="1"/>
          </p:cNvSpPr>
          <p:nvPr/>
        </p:nvSpPr>
        <p:spPr>
          <a:xfrm xmlns:a="http://schemas.openxmlformats.org/drawingml/2006/main">
            <a:off x="10820400" y="2438400"/>
            <a:ext cx="685800" cy="685800"/>
          </a:xfrm>
          <a:prstGeom xmlns:a="http://schemas.openxmlformats.org/drawingml/2006/main" prst="ellipse">
            <a:avLst/>
          </a:prstGeom>
          <a:solidFill xmlns:a="http://schemas.openxmlformats.org/drawingml/2006/main">
            <a:srgbClr val="F6F0E4"/>
          </a:solidFill>
          <a:ln xmlns:a="http://schemas.openxmlformats.org/drawingml/2006/main" w="19050">
            <a:solidFill>
              <a:srgbClr val="B8C7BE"/>
            </a:solidFill>
            <a:prstDash val="solid"/>
          </a:ln>
        </p:spPr>
      </p:sp>
      <p:sp>
        <p:nvSpPr>
          <p:cNvPr id="29" name="">
            <a:extLst xmlns:a="http://schemas.openxmlformats.org/drawingml/2006/main">
              <a:ext uri="{FF2B5EF4-FFF2-40B4-BE49-F238E27FC236}">
                <a16:creationId xmlns:a16="http://schemas.microsoft.com/office/drawing/2014/main" id="{B5F206B9-2D04-4381-AA6F-E57697EC02D2}"/>
              </a:ext>
            </a:extLst>
          </p:cNvPr>
          <p:cNvSpPr>
            <a:spLocks xmlns:a="http://schemas.openxmlformats.org/drawingml/2006/main" noGrp="1"/>
          </p:cNvSpPr>
          <p:nvPr/>
        </p:nvSpPr>
        <p:spPr>
          <a:xfrm xmlns:a="http://schemas.openxmlformats.org/drawingml/2006/main">
            <a:off x="10820400" y="2647950"/>
            <a:ext cx="685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1" i="0">
                <a:solidFill>
                  <a:srgbClr val="18372D"/>
                </a:solidFill>
                <a:latin typeface="Aptos"/>
                <a:ea typeface="Aptos"/>
                <a:cs typeface="Aptos"/>
              </a:defRPr>
            </a:pPr>
            <a:r>
              <a:rPr sz="1200" b="1" i="0">
                <a:solidFill>
                  <a:srgbClr val="18372D"/>
                </a:solidFill>
                <a:latin typeface="Aptos"/>
                <a:ea typeface="Aptos"/>
                <a:cs typeface="Aptos"/>
              </a:rPr>
              <a:t>07</a:t>
            </a:r>
          </a:p>
        </p:txBody>
      </p:sp>
      <p:sp>
        <p:nvSpPr>
          <p:cNvPr id="30" name="">
            <a:extLst xmlns:a="http://schemas.openxmlformats.org/drawingml/2006/main">
              <a:ext uri="{FF2B5EF4-FFF2-40B4-BE49-F238E27FC236}">
                <a16:creationId xmlns:a16="http://schemas.microsoft.com/office/drawing/2014/main" id="{32B4F065-0D7C-47CA-BB1E-0E86FD5B4C58}"/>
              </a:ext>
            </a:extLst>
          </p:cNvPr>
          <p:cNvSpPr>
            <a:spLocks xmlns:a="http://schemas.openxmlformats.org/drawingml/2006/main" noGrp="1"/>
          </p:cNvSpPr>
          <p:nvPr/>
        </p:nvSpPr>
        <p:spPr>
          <a:xfrm xmlns:a="http://schemas.openxmlformats.org/drawingml/2006/main">
            <a:off x="10420350" y="3409950"/>
            <a:ext cx="14859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425" b="0" i="0">
                <a:solidFill>
                  <a:srgbClr val="F6F0E4"/>
                </a:solidFill>
                <a:latin typeface="Georgia"/>
                <a:ea typeface="Georgia"/>
                <a:cs typeface="Georgia"/>
              </a:defRPr>
            </a:pPr>
            <a:r>
              <a:rPr sz="1425" b="0" i="0">
                <a:solidFill>
                  <a:srgbClr val="F6F0E4"/>
                </a:solidFill>
                <a:latin typeface="Georgia"/>
                <a:ea typeface="Georgia"/>
                <a:cs typeface="Georgia"/>
              </a:rPr>
              <a:t>Manager sees</a:t>
            </a:r>
          </a:p>
        </p:txBody>
      </p:sp>
      <p:sp>
        <p:nvSpPr>
          <p:cNvPr id="31" name="">
            <a:extLst xmlns:a="http://schemas.openxmlformats.org/drawingml/2006/main">
              <a:ext uri="{FF2B5EF4-FFF2-40B4-BE49-F238E27FC236}">
                <a16:creationId xmlns:a16="http://schemas.microsoft.com/office/drawing/2014/main" id="{621098AD-8497-429E-BBE3-10F690748AF5}"/>
              </a:ext>
            </a:extLst>
          </p:cNvPr>
          <p:cNvSpPr>
            <a:spLocks xmlns:a="http://schemas.openxmlformats.org/drawingml/2006/main" noGrp="1"/>
          </p:cNvSpPr>
          <p:nvPr/>
        </p:nvSpPr>
        <p:spPr>
          <a:xfrm xmlns:a="http://schemas.openxmlformats.org/drawingml/2006/main">
            <a:off x="10420350" y="3829050"/>
            <a:ext cx="1485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0" i="0">
                <a:solidFill>
                  <a:srgbClr val="B9C5BD"/>
                </a:solidFill>
                <a:latin typeface="Aptos"/>
                <a:ea typeface="Aptos"/>
                <a:cs typeface="Aptos"/>
              </a:defRPr>
            </a:pPr>
            <a:r>
              <a:rPr sz="975" b="0" i="0">
                <a:solidFill>
                  <a:srgbClr val="B9C5BD"/>
                </a:solidFill>
                <a:latin typeface="Aptos"/>
                <a:ea typeface="Aptos"/>
                <a:cs typeface="Aptos"/>
              </a:rPr>
              <a:t>Metrics update</a:t>
            </a:r>
          </a:p>
        </p:txBody>
      </p:sp>
      <p:cxnSp>
        <p:nvCxnSpPr>
          <p:cNvPr id="75" name=""/>
          <p:cNvCxnSpPr>
            <a:stCxn xmlns:a="http://schemas.openxmlformats.org/drawingml/2006/main" id="4" idx="6"/>
            <a:endCxn xmlns:a="http://schemas.openxmlformats.org/drawingml/2006/main" id="8" idx="2"/>
          </p:cNvCxnSpPr>
          <p:nvPr/>
        </p:nvCxnSpPr>
        <p:spPr>
          <a:xfrm xmlns:a="http://schemas.openxmlformats.org/drawingml/2006/main">
            <a:off x="1733550" y="2781300"/>
            <a:ext cx="942975" cy="0"/>
          </a:xfrm>
          <a:prstGeom xmlns:a="http://schemas.openxmlformats.org/drawingml/2006/main" prst="straightConnector1">
            <a:avLst/>
          </a:prstGeom>
          <a:ln xmlns:a="http://schemas.openxmlformats.org/drawingml/2006/main" w="19050">
            <a:solidFill>
              <a:srgbClr val="E6A34E"/>
            </a:solidFill>
            <a:prstDash val="solid"/>
            <a:tailEnd type="arrow" w="sm" len="sm"/>
          </a:ln>
        </p:spPr>
      </p:cxnSp>
      <p:cxnSp>
        <p:nvCxnSpPr>
          <p:cNvPr id="76" name=""/>
          <p:cNvCxnSpPr>
            <a:stCxn xmlns:a="http://schemas.openxmlformats.org/drawingml/2006/main" id="8" idx="6"/>
            <a:endCxn xmlns:a="http://schemas.openxmlformats.org/drawingml/2006/main" id="12" idx="2"/>
          </p:cNvCxnSpPr>
          <p:nvPr/>
        </p:nvCxnSpPr>
        <p:spPr>
          <a:xfrm xmlns:a="http://schemas.openxmlformats.org/drawingml/2006/main">
            <a:off x="3362325" y="2781300"/>
            <a:ext cx="942975" cy="0"/>
          </a:xfrm>
          <a:prstGeom xmlns:a="http://schemas.openxmlformats.org/drawingml/2006/main" prst="straightConnector1">
            <a:avLst/>
          </a:prstGeom>
          <a:ln xmlns:a="http://schemas.openxmlformats.org/drawingml/2006/main" w="19050">
            <a:solidFill>
              <a:srgbClr val="E6A34E"/>
            </a:solidFill>
            <a:prstDash val="solid"/>
            <a:tailEnd type="arrow" w="sm" len="sm"/>
          </a:ln>
        </p:spPr>
      </p:cxnSp>
      <p:cxnSp>
        <p:nvCxnSpPr>
          <p:cNvPr id="77" name=""/>
          <p:cNvCxnSpPr>
            <a:stCxn xmlns:a="http://schemas.openxmlformats.org/drawingml/2006/main" id="12" idx="6"/>
            <a:endCxn xmlns:a="http://schemas.openxmlformats.org/drawingml/2006/main" id="16" idx="2"/>
          </p:cNvCxnSpPr>
          <p:nvPr/>
        </p:nvCxnSpPr>
        <p:spPr>
          <a:xfrm xmlns:a="http://schemas.openxmlformats.org/drawingml/2006/main">
            <a:off x="4991100" y="2781300"/>
            <a:ext cx="942975" cy="0"/>
          </a:xfrm>
          <a:prstGeom xmlns:a="http://schemas.openxmlformats.org/drawingml/2006/main" prst="straightConnector1">
            <a:avLst/>
          </a:prstGeom>
          <a:ln xmlns:a="http://schemas.openxmlformats.org/drawingml/2006/main" w="19050">
            <a:solidFill>
              <a:srgbClr val="E6A34E"/>
            </a:solidFill>
            <a:prstDash val="solid"/>
            <a:tailEnd type="arrow" w="sm" len="sm"/>
          </a:ln>
        </p:spPr>
      </p:cxnSp>
      <p:cxnSp>
        <p:nvCxnSpPr>
          <p:cNvPr id="78" name=""/>
          <p:cNvCxnSpPr>
            <a:stCxn xmlns:a="http://schemas.openxmlformats.org/drawingml/2006/main" id="16" idx="6"/>
            <a:endCxn xmlns:a="http://schemas.openxmlformats.org/drawingml/2006/main" id="20" idx="2"/>
          </p:cNvCxnSpPr>
          <p:nvPr/>
        </p:nvCxnSpPr>
        <p:spPr>
          <a:xfrm xmlns:a="http://schemas.openxmlformats.org/drawingml/2006/main">
            <a:off x="6619875" y="2781300"/>
            <a:ext cx="942975" cy="0"/>
          </a:xfrm>
          <a:prstGeom xmlns:a="http://schemas.openxmlformats.org/drawingml/2006/main" prst="straightConnector1">
            <a:avLst/>
          </a:prstGeom>
          <a:ln xmlns:a="http://schemas.openxmlformats.org/drawingml/2006/main" w="19050">
            <a:solidFill>
              <a:srgbClr val="E6A34E"/>
            </a:solidFill>
            <a:prstDash val="solid"/>
            <a:tailEnd type="arrow" w="sm" len="sm"/>
          </a:ln>
        </p:spPr>
      </p:cxnSp>
      <p:cxnSp>
        <p:nvCxnSpPr>
          <p:cNvPr id="79" name=""/>
          <p:cNvCxnSpPr>
            <a:stCxn xmlns:a="http://schemas.openxmlformats.org/drawingml/2006/main" id="20" idx="6"/>
            <a:endCxn xmlns:a="http://schemas.openxmlformats.org/drawingml/2006/main" id="24" idx="2"/>
          </p:cNvCxnSpPr>
          <p:nvPr/>
        </p:nvCxnSpPr>
        <p:spPr>
          <a:xfrm xmlns:a="http://schemas.openxmlformats.org/drawingml/2006/main">
            <a:off x="8248650" y="2781300"/>
            <a:ext cx="942975" cy="0"/>
          </a:xfrm>
          <a:prstGeom xmlns:a="http://schemas.openxmlformats.org/drawingml/2006/main" prst="straightConnector1">
            <a:avLst/>
          </a:prstGeom>
          <a:ln xmlns:a="http://schemas.openxmlformats.org/drawingml/2006/main" w="19050">
            <a:solidFill>
              <a:srgbClr val="E6A34E"/>
            </a:solidFill>
            <a:prstDash val="solid"/>
            <a:tailEnd type="arrow" w="sm" len="sm"/>
          </a:ln>
        </p:spPr>
      </p:cxnSp>
      <p:cxnSp>
        <p:nvCxnSpPr>
          <p:cNvPr id="80" name=""/>
          <p:cNvCxnSpPr>
            <a:stCxn xmlns:a="http://schemas.openxmlformats.org/drawingml/2006/main" id="24" idx="6"/>
            <a:endCxn xmlns:a="http://schemas.openxmlformats.org/drawingml/2006/main" id="28" idx="2"/>
          </p:cNvCxnSpPr>
          <p:nvPr/>
        </p:nvCxnSpPr>
        <p:spPr>
          <a:xfrm xmlns:a="http://schemas.openxmlformats.org/drawingml/2006/main">
            <a:off x="9877425" y="2781300"/>
            <a:ext cx="942975" cy="0"/>
          </a:xfrm>
          <a:prstGeom xmlns:a="http://schemas.openxmlformats.org/drawingml/2006/main" prst="straightConnector1">
            <a:avLst/>
          </a:prstGeom>
          <a:ln xmlns:a="http://schemas.openxmlformats.org/drawingml/2006/main" w="19050">
            <a:solidFill>
              <a:srgbClr val="E6A34E"/>
            </a:solidFill>
            <a:prstDash val="solid"/>
            <a:tailEnd type="arrow" w="sm" len="sm"/>
          </a:ln>
        </p:spPr>
      </p:cxnSp>
      <p:sp>
        <p:nvSpPr>
          <p:cNvPr id="38" name="">
            <a:extLst xmlns:a="http://schemas.openxmlformats.org/drawingml/2006/main">
              <a:ext uri="{FF2B5EF4-FFF2-40B4-BE49-F238E27FC236}">
                <a16:creationId xmlns:a16="http://schemas.microsoft.com/office/drawing/2014/main" id="{3CFD957F-0A7E-4FFB-905F-F1F91A523DDF}"/>
              </a:ext>
            </a:extLst>
          </p:cNvPr>
          <p:cNvSpPr>
            <a:spLocks xmlns:a="http://schemas.openxmlformats.org/drawingml/2006/main" noGrp="1"/>
          </p:cNvSpPr>
          <p:nvPr/>
        </p:nvSpPr>
        <p:spPr>
          <a:xfrm xmlns:a="http://schemas.openxmlformats.org/drawingml/2006/main">
            <a:off x="1257300" y="4838700"/>
            <a:ext cx="9677400" cy="914400"/>
          </a:xfrm>
          <a:prstGeom xmlns:a="http://schemas.openxmlformats.org/drawingml/2006/main" prst="roundRect">
            <a:avLst>
              <a:gd name="adj" fmla="val 18750"/>
            </a:avLst>
          </a:prstGeom>
          <a:solidFill xmlns:a="http://schemas.openxmlformats.org/drawingml/2006/main">
            <a:srgbClr val="21463A"/>
          </a:solidFill>
          <a:ln xmlns:a="http://schemas.openxmlformats.org/drawingml/2006/main" w="9525">
            <a:solidFill>
              <a:srgbClr val="3C5B50"/>
            </a:solidFill>
            <a:prstDash val="solid"/>
          </a:ln>
        </p:spPr>
      </p:sp>
      <p:sp>
        <p:nvSpPr>
          <p:cNvPr id="39" name="">
            <a:extLst xmlns:a="http://schemas.openxmlformats.org/drawingml/2006/main">
              <a:ext uri="{FF2B5EF4-FFF2-40B4-BE49-F238E27FC236}">
                <a16:creationId xmlns:a16="http://schemas.microsoft.com/office/drawing/2014/main" id="{D2ED14B8-AF94-4DFF-88EB-2E5DFD35082B}"/>
              </a:ext>
            </a:extLst>
          </p:cNvPr>
          <p:cNvSpPr>
            <a:spLocks xmlns:a="http://schemas.openxmlformats.org/drawingml/2006/main" noGrp="1"/>
          </p:cNvSpPr>
          <p:nvPr/>
        </p:nvSpPr>
        <p:spPr>
          <a:xfrm xmlns:a="http://schemas.openxmlformats.org/drawingml/2006/main">
            <a:off x="1600200" y="5095875"/>
            <a:ext cx="2095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0" i="0">
                <a:solidFill>
                  <a:srgbClr val="E6A34E"/>
                </a:solidFill>
                <a:latin typeface="Georgia"/>
                <a:ea typeface="Georgia"/>
                <a:cs typeface="Georgia"/>
              </a:defRPr>
            </a:pPr>
            <a:r>
              <a:rPr sz="2025" b="0" i="0">
                <a:solidFill>
                  <a:srgbClr val="E6A34E"/>
                </a:solidFill>
                <a:latin typeface="Georgia"/>
                <a:ea typeface="Georgia"/>
                <a:cs typeface="Georgia"/>
              </a:rPr>
              <a:t>1 accepted order</a:t>
            </a:r>
          </a:p>
        </p:txBody>
      </p:sp>
      <p:sp>
        <p:nvSpPr>
          <p:cNvPr id="40" name="">
            <a:extLst xmlns:a="http://schemas.openxmlformats.org/drawingml/2006/main">
              <a:ext uri="{FF2B5EF4-FFF2-40B4-BE49-F238E27FC236}">
                <a16:creationId xmlns:a16="http://schemas.microsoft.com/office/drawing/2014/main" id="{A8CE8895-4DBC-41EA-A626-A1F3A589305B}"/>
              </a:ext>
            </a:extLst>
          </p:cNvPr>
          <p:cNvSpPr>
            <a:spLocks xmlns:a="http://schemas.openxmlformats.org/drawingml/2006/main" noGrp="1"/>
          </p:cNvSpPr>
          <p:nvPr/>
        </p:nvSpPr>
        <p:spPr>
          <a:xfrm xmlns:a="http://schemas.openxmlformats.org/drawingml/2006/main">
            <a:off x="3924300" y="5124450"/>
            <a:ext cx="6572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i="0">
                <a:solidFill>
                  <a:srgbClr val="F6F0E4"/>
                </a:solidFill>
                <a:latin typeface="Aptos"/>
                <a:ea typeface="Aptos"/>
                <a:cs typeface="Aptos"/>
              </a:defRPr>
            </a:pPr>
            <a:r>
              <a:rPr sz="1500" b="0" i="0">
                <a:solidFill>
                  <a:srgbClr val="F6F0E4"/>
                </a:solidFill>
                <a:latin typeface="Aptos"/>
                <a:ea typeface="Aptos"/>
                <a:cs typeface="Aptos"/>
              </a:rPr>
              <a:t>updates 4 role views + the inventory ledger + the audit trail</a:t>
            </a:r>
          </a:p>
        </p:txBody>
      </p:sp>
      <p:sp>
        <p:nvSpPr>
          <p:cNvPr id="41" name="">
            <a:extLst xmlns:a="http://schemas.openxmlformats.org/drawingml/2006/main">
              <a:ext uri="{FF2B5EF4-FFF2-40B4-BE49-F238E27FC236}">
                <a16:creationId xmlns:a16="http://schemas.microsoft.com/office/drawing/2014/main" id="{42C75004-D7CA-4BB7-A74F-E45BF100C709}"/>
              </a:ext>
            </a:extLst>
          </p:cNvPr>
          <p:cNvSpPr>
            <a:spLocks xmlns:a="http://schemas.openxmlformats.org/drawingml/2006/main" noGrp="1"/>
          </p:cNvSpPr>
          <p:nvPr/>
        </p:nvSpPr>
        <p:spPr>
          <a:xfrm xmlns:a="http://schemas.openxmlformats.org/drawingml/2006/main">
            <a:off x="666750" y="6496050"/>
            <a:ext cx="10858500" cy="0"/>
          </a:xfrm>
          <a:prstGeom xmlns:a="http://schemas.openxmlformats.org/drawingml/2006/main" prst="line">
            <a:avLst/>
          </a:prstGeom>
          <a:noFill xmlns:a="http://schemas.openxmlformats.org/drawingml/2006/main"/>
          <a:ln xmlns:a="http://schemas.openxmlformats.org/drawingml/2006/main" w="9525">
            <a:solidFill>
              <a:srgbClr val="365448"/>
            </a:solidFill>
            <a:prstDash val="solid"/>
          </a:ln>
        </p:spPr>
      </p:sp>
      <p:sp>
        <p:nvSpPr>
          <p:cNvPr id="42" name="">
            <a:extLst xmlns:a="http://schemas.openxmlformats.org/drawingml/2006/main">
              <a:ext uri="{FF2B5EF4-FFF2-40B4-BE49-F238E27FC236}">
                <a16:creationId xmlns:a16="http://schemas.microsoft.com/office/drawing/2014/main" id="{1806D3D2-6ACB-45CE-A052-75F44FAE9BFA}"/>
              </a:ext>
            </a:extLst>
          </p:cNvPr>
          <p:cNvSpPr>
            <a:spLocks xmlns:a="http://schemas.openxmlformats.org/drawingml/2006/main" noGrp="1"/>
          </p:cNvSpPr>
          <p:nvPr/>
        </p:nvSpPr>
        <p:spPr>
          <a:xfrm xmlns:a="http://schemas.openxmlformats.org/drawingml/2006/main">
            <a:off x="666750" y="6572250"/>
            <a:ext cx="3429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1" i="0">
                <a:solidFill>
                  <a:srgbClr val="B8C1BA"/>
                </a:solidFill>
                <a:latin typeface="Aptos"/>
                <a:ea typeface="Aptos"/>
                <a:cs typeface="Aptos"/>
              </a:defRPr>
            </a:pPr>
            <a:r>
              <a:rPr sz="750" b="1" i="0">
                <a:solidFill>
                  <a:srgbClr val="B8C1BA"/>
                </a:solidFill>
                <a:latin typeface="Aptos"/>
                <a:ea typeface="Aptos"/>
                <a:cs typeface="Aptos"/>
              </a:rPr>
              <a:t>FLOWDINE AI  /  VIBEATHON 6.0</a:t>
            </a:r>
          </a:p>
        </p:txBody>
      </p:sp>
      <p:sp>
        <p:nvSpPr>
          <p:cNvPr id="43" name="">
            <a:extLst xmlns:a="http://schemas.openxmlformats.org/drawingml/2006/main">
              <a:ext uri="{FF2B5EF4-FFF2-40B4-BE49-F238E27FC236}">
                <a16:creationId xmlns:a16="http://schemas.microsoft.com/office/drawing/2014/main" id="{5177A46F-BAC7-4439-A6A6-F3922AAD0B8C}"/>
              </a:ext>
            </a:extLst>
          </p:cNvPr>
          <p:cNvSpPr>
            <a:spLocks xmlns:a="http://schemas.openxmlformats.org/drawingml/2006/main" noGrp="1"/>
          </p:cNvSpPr>
          <p:nvPr/>
        </p:nvSpPr>
        <p:spPr>
          <a:xfrm xmlns:a="http://schemas.openxmlformats.org/drawingml/2006/main">
            <a:off x="11049000" y="6572250"/>
            <a:ext cx="4762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750" b="1" i="0">
                <a:solidFill>
                  <a:srgbClr val="B8C1BA"/>
                </a:solidFill>
                <a:latin typeface="Aptos"/>
                <a:ea typeface="Aptos"/>
                <a:cs typeface="Aptos"/>
              </a:defRPr>
            </a:pPr>
            <a:r>
              <a:rPr sz="750" b="1" i="0">
                <a:solidFill>
                  <a:srgbClr val="B8C1BA"/>
                </a:solidFill>
                <a:latin typeface="Aptos"/>
                <a:ea typeface="Aptos"/>
                <a:cs typeface="Aptos"/>
              </a:rPr>
              <a:t>05</a:t>
            </a:r>
          </a:p>
        </p:txBody>
      </p:sp>
    </p:spTree>
    <p:extLst>
      <p:ext uri="{BB962C8B-B14F-4D97-AF65-F5344CB8AC3E}">
        <p14:creationId xmlns:p14="http://schemas.microsoft.com/office/powerpoint/2010/main" val="63061450"/>
      </p:ext>
    </p:extLst>
  </p:cSld>
</p:sld>
</file>

<file path=ppt/slides/slide6.xml><?xml version="1.0" encoding="utf-8"?>
<p:sld xmlns:p="http://schemas.openxmlformats.org/presentationml/2006/main">
  <p:cSld>
    <p:bg>
      <p:bgPr>
        <a:solidFill xmlns:a="http://schemas.openxmlformats.org/drawingml/2006/main">
          <a:srgbClr val="F6F0E4"/>
        </a:solidFill>
      </p:bgPr>
    </p:bg>
    <p:spTree>
      <p:nvGrpSpPr>
        <p:cNvPr id="1" name=""/>
        <p:cNvGrpSpPr/>
        <p:nvPr/>
      </p:nvGrpSpPr>
      <p:grpSpPr>
        <a:xfrm xmlns:a="http://schemas.openxmlformats.org/drawingml/2006/main"/>
      </p:grpSpPr>
      <p:sp>
        <p:nvSpPr>
          <p:cNvPr id="27" name="eyebrow-Signature innovation">
            <a:extLst xmlns:a="http://schemas.openxmlformats.org/drawingml/2006/main">
              <a:ext uri="{FF2B5EF4-FFF2-40B4-BE49-F238E27FC236}">
                <a16:creationId xmlns:a16="http://schemas.microsoft.com/office/drawing/2014/main" id="{41EA6600-BB1C-4289-9C23-107925F13006}"/>
              </a:ext>
            </a:extLst>
          </p:cNvPr>
          <p:cNvSpPr>
            <a:spLocks xmlns:a="http://schemas.openxmlformats.org/drawingml/2006/main" noGrp="1"/>
          </p:cNvSpPr>
          <p:nvPr/>
        </p:nvSpPr>
        <p:spPr>
          <a:xfrm xmlns:a="http://schemas.openxmlformats.org/drawingml/2006/main">
            <a:off x="666750" y="400050"/>
            <a:ext cx="533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i="0">
                <a:solidFill>
                  <a:srgbClr val="D1832E"/>
                </a:solidFill>
                <a:latin typeface="Aptos"/>
                <a:ea typeface="Aptos"/>
                <a:cs typeface="Aptos"/>
              </a:defRPr>
            </a:pPr>
            <a:r>
              <a:rPr sz="975" b="1" i="0">
                <a:solidFill>
                  <a:srgbClr val="D1832E"/>
                </a:solidFill>
                <a:latin typeface="Aptos"/>
                <a:ea typeface="Aptos"/>
                <a:cs typeface="Aptos"/>
              </a:rPr>
              <a:t>SIGNATURE INNOVATION</a:t>
            </a:r>
          </a:p>
        </p:txBody>
      </p:sp>
      <p:sp>
        <p:nvSpPr>
          <p:cNvPr id="2" name="slide-title">
            <a:extLst xmlns:a="http://schemas.openxmlformats.org/drawingml/2006/main">
              <a:ext uri="{FF2B5EF4-FFF2-40B4-BE49-F238E27FC236}">
                <a16:creationId xmlns:a16="http://schemas.microsoft.com/office/drawing/2014/main" id="{91D6521F-2895-44B1-9AF7-E99EE4A32513}"/>
              </a:ext>
            </a:extLst>
          </p:cNvPr>
          <p:cNvSpPr>
            <a:spLocks xmlns:a="http://schemas.openxmlformats.org/drawingml/2006/main" noGrp="1"/>
          </p:cNvSpPr>
          <p:nvPr/>
        </p:nvSpPr>
        <p:spPr>
          <a:xfrm xmlns:a="http://schemas.openxmlformats.org/drawingml/2006/main">
            <a:off x="666750" y="704850"/>
            <a:ext cx="10858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000" b="0" i="0">
                <a:solidFill>
                  <a:srgbClr val="20241F"/>
                </a:solidFill>
                <a:latin typeface="Georgia"/>
                <a:ea typeface="Georgia"/>
                <a:cs typeface="Georgia"/>
              </a:defRPr>
            </a:pPr>
            <a:r>
              <a:rPr sz="3000" b="0" i="0">
                <a:solidFill>
                  <a:srgbClr val="20241F"/>
                </a:solidFill>
                <a:latin typeface="Georgia"/>
                <a:ea typeface="Georgia"/>
                <a:cs typeface="Georgia"/>
              </a:rPr>
              <a:t>Availability is calculated - never manually guessed.</a:t>
            </a:r>
          </a:p>
        </p:txBody>
      </p:sp>
      <p:sp>
        <p:nvSpPr>
          <p:cNvPr id="3" name="">
            <a:extLst xmlns:a="http://schemas.openxmlformats.org/drawingml/2006/main">
              <a:ext uri="{FF2B5EF4-FFF2-40B4-BE49-F238E27FC236}">
                <a16:creationId xmlns:a16="http://schemas.microsoft.com/office/drawing/2014/main" id="{6757CB9D-8538-429F-AC2F-65BE7BC4721E}"/>
              </a:ext>
            </a:extLst>
          </p:cNvPr>
          <p:cNvSpPr>
            <a:spLocks xmlns:a="http://schemas.openxmlformats.org/drawingml/2006/main" noGrp="1"/>
          </p:cNvSpPr>
          <p:nvPr/>
        </p:nvSpPr>
        <p:spPr>
          <a:xfrm xmlns:a="http://schemas.openxmlformats.org/drawingml/2006/main">
            <a:off x="666750" y="1257300"/>
            <a:ext cx="7429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i="0">
                <a:solidFill>
                  <a:srgbClr val="6E7068"/>
                </a:solidFill>
                <a:latin typeface="Aptos"/>
                <a:ea typeface="Aptos"/>
                <a:cs typeface="Aptos"/>
              </a:defRPr>
            </a:pPr>
            <a:r>
              <a:rPr sz="1350" b="0" i="0">
                <a:solidFill>
                  <a:srgbClr val="6E7068"/>
                </a:solidFill>
                <a:latin typeface="Aptos"/>
                <a:ea typeface="Aptos"/>
                <a:cs typeface="Aptos"/>
              </a:rPr>
              <a:t>The limiting recipe ingredient becomes the truthful menu promise.</a:t>
            </a:r>
          </a:p>
        </p:txBody>
      </p:sp>
      <p:sp>
        <p:nvSpPr>
          <p:cNvPr id="4" name="">
            <a:extLst xmlns:a="http://schemas.openxmlformats.org/drawingml/2006/main">
              <a:ext uri="{FF2B5EF4-FFF2-40B4-BE49-F238E27FC236}">
                <a16:creationId xmlns:a16="http://schemas.microsoft.com/office/drawing/2014/main" id="{5DA38FFC-27DC-4C87-984A-22EC2AE10A60}"/>
              </a:ext>
            </a:extLst>
          </p:cNvPr>
          <p:cNvSpPr>
            <a:spLocks xmlns:a="http://schemas.openxmlformats.org/drawingml/2006/main" noGrp="1"/>
          </p:cNvSpPr>
          <p:nvPr/>
        </p:nvSpPr>
        <p:spPr>
          <a:xfrm xmlns:a="http://schemas.openxmlformats.org/drawingml/2006/main">
            <a:off x="628650" y="1790700"/>
            <a:ext cx="5981700" cy="3867150"/>
          </a:xfrm>
          <a:prstGeom xmlns:a="http://schemas.openxmlformats.org/drawingml/2006/main" prst="roundRect">
            <a:avLst>
              <a:gd name="adj" fmla="val 4433"/>
            </a:avLst>
          </a:prstGeom>
          <a:solidFill xmlns:a="http://schemas.openxmlformats.org/drawingml/2006/main">
            <a:srgbClr val="FFFDF8"/>
          </a:solidFill>
          <a:ln xmlns:a="http://schemas.openxmlformats.org/drawingml/2006/main" w="9525">
            <a:solidFill>
              <a:srgbClr val="D8D0C2"/>
            </a:solidFill>
            <a:prstDash val="solid"/>
          </a:ln>
        </p:spPr>
        <p:style>
          <a:lnRef xmlns:a="http://schemas.openxmlformats.org/drawingml/2006/main" idx="0"/>
          <a:fillRef xmlns:a="http://schemas.openxmlformats.org/drawingml/2006/main" idx="0"/>
          <a:effectRef xmlns:a="http://schemas.openxmlformats.org/drawingml/2006/main" idx="7"/>
          <a:fontRef xmlns:a="http://schemas.openxmlformats.org/drawingml/2006/main" idx="major"/>
        </p:style>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a934afd6eb2f4671"/>
          <a:srcRect xmlns:a="http://schemas.openxmlformats.org/drawingml/2006/main" l="6187" t="0" r="6187" b="0"/>
          <a:stretch xmlns:a="http://schemas.openxmlformats.org/drawingml/2006/main">
            <a:fillRect l="0" t="0" r="0" b="0"/>
          </a:stretch>
        </p:blipFill>
        <p:spPr>
          <a:xfrm xmlns:a="http://schemas.openxmlformats.org/drawingml/2006/main">
            <a:off x="666750" y="1828800"/>
            <a:ext cx="5905500" cy="3790950"/>
          </a:xfrm>
          <a:prstGeom xmlns:a="http://schemas.openxmlformats.org/drawingml/2006/main" prst="roundRect">
            <a:avLst>
              <a:gd name="adj" fmla="val 4020"/>
            </a:avLst>
          </a:prstGeom>
        </p:spPr>
      </p:pic>
      <p:sp>
        <p:nvSpPr>
          <p:cNvPr id="6" name="">
            <a:extLst xmlns:a="http://schemas.openxmlformats.org/drawingml/2006/main">
              <a:ext uri="{FF2B5EF4-FFF2-40B4-BE49-F238E27FC236}">
                <a16:creationId xmlns:a16="http://schemas.microsoft.com/office/drawing/2014/main" id="{F9C64ABF-8A11-47F8-904D-92CA746214B2}"/>
              </a:ext>
            </a:extLst>
          </p:cNvPr>
          <p:cNvSpPr>
            <a:spLocks xmlns:a="http://schemas.openxmlformats.org/drawingml/2006/main" noGrp="1"/>
          </p:cNvSpPr>
          <p:nvPr/>
        </p:nvSpPr>
        <p:spPr>
          <a:xfrm xmlns:a="http://schemas.openxmlformats.org/drawingml/2006/main">
            <a:off x="876300" y="1981200"/>
            <a:ext cx="1333500" cy="285750"/>
          </a:xfrm>
          <a:prstGeom xmlns:a="http://schemas.openxmlformats.org/drawingml/2006/main" prst="roundRect">
            <a:avLst>
              <a:gd name="adj" fmla="val 40000"/>
            </a:avLst>
          </a:prstGeom>
          <a:solidFill xmlns:a="http://schemas.openxmlformats.org/drawingml/2006/main">
            <a:srgbClr val="F6F0E4"/>
          </a:solidFill>
          <a:ln xmlns:a="http://schemas.openxmlformats.org/drawingml/2006/main" w="0">
            <a:noFill/>
            <a:prstDash val="solid"/>
          </a:ln>
        </p:spPr>
        <p:txBody>
          <a:bodyPr xmlns:a="http://schemas.openxmlformats.org/drawingml/2006/main" wrap="square" lIns="76200" tIns="0" rIns="76200" bIns="0" anchor="ctr">
            <a:normAutofit fontScale="100000"/>
          </a:bodyPr>
          <a:lstStyle xmlns:a="http://schemas.openxmlformats.org/drawingml/2006/main"/>
          <a:p xmlns:a="http://schemas.openxmlformats.org/drawingml/2006/main">
            <a:pPr algn="ctr">
              <a:defRPr sz="825" b="1" i="0">
                <a:solidFill>
                  <a:srgbClr val="18372D"/>
                </a:solidFill>
                <a:latin typeface="Aptos"/>
                <a:ea typeface="Aptos"/>
                <a:cs typeface="Aptos"/>
              </a:defRPr>
            </a:pPr>
            <a:r>
              <a:rPr sz="825" b="1" i="0">
                <a:solidFill>
                  <a:srgbClr val="18372D"/>
                </a:solidFill>
                <a:latin typeface="Aptos"/>
                <a:ea typeface="Aptos"/>
                <a:cs typeface="Aptos"/>
              </a:rPr>
              <a:t>LIVE MENU</a:t>
            </a:r>
          </a:p>
        </p:txBody>
      </p:sp>
      <p:sp>
        <p:nvSpPr>
          <p:cNvPr id="7" name="">
            <a:extLst xmlns:a="http://schemas.openxmlformats.org/drawingml/2006/main">
              <a:ext uri="{FF2B5EF4-FFF2-40B4-BE49-F238E27FC236}">
                <a16:creationId xmlns:a16="http://schemas.microsoft.com/office/drawing/2014/main" id="{92E9FCEB-3C67-450C-ADD8-BDB63BD97223}"/>
              </a:ext>
            </a:extLst>
          </p:cNvPr>
          <p:cNvSpPr>
            <a:spLocks xmlns:a="http://schemas.openxmlformats.org/drawingml/2006/main" noGrp="1"/>
          </p:cNvSpPr>
          <p:nvPr/>
        </p:nvSpPr>
        <p:spPr>
          <a:xfrm xmlns:a="http://schemas.openxmlformats.org/drawingml/2006/main">
            <a:off x="7162800" y="1924050"/>
            <a:ext cx="3905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i="0">
                <a:solidFill>
                  <a:srgbClr val="D1832E"/>
                </a:solidFill>
                <a:latin typeface="Aptos"/>
                <a:ea typeface="Aptos"/>
                <a:cs typeface="Aptos"/>
              </a:defRPr>
            </a:pPr>
            <a:r>
              <a:rPr sz="1050" b="1" i="0">
                <a:solidFill>
                  <a:srgbClr val="D1832E"/>
                </a:solidFill>
                <a:latin typeface="Aptos"/>
                <a:ea typeface="Aptos"/>
                <a:cs typeface="Aptos"/>
              </a:rPr>
              <a:t>Illustrative low-stock case</a:t>
            </a:r>
          </a:p>
        </p:txBody>
      </p:sp>
      <p:sp>
        <p:nvSpPr>
          <p:cNvPr id="8" name="">
            <a:extLst xmlns:a="http://schemas.openxmlformats.org/drawingml/2006/main">
              <a:ext uri="{FF2B5EF4-FFF2-40B4-BE49-F238E27FC236}">
                <a16:creationId xmlns:a16="http://schemas.microsoft.com/office/drawing/2014/main" id="{A20FCB8E-FB88-4533-804E-3793221E7839}"/>
              </a:ext>
            </a:extLst>
          </p:cNvPr>
          <p:cNvSpPr>
            <a:spLocks xmlns:a="http://schemas.openxmlformats.org/drawingml/2006/main" noGrp="1"/>
          </p:cNvSpPr>
          <p:nvPr/>
        </p:nvSpPr>
        <p:spPr>
          <a:xfrm xmlns:a="http://schemas.openxmlformats.org/drawingml/2006/main">
            <a:off x="7162800" y="2286000"/>
            <a:ext cx="3905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0" i="0">
                <a:solidFill>
                  <a:srgbClr val="20241F"/>
                </a:solidFill>
                <a:latin typeface="Georgia"/>
                <a:ea typeface="Georgia"/>
                <a:cs typeface="Georgia"/>
              </a:defRPr>
            </a:pPr>
            <a:r>
              <a:rPr sz="2325" b="0" i="0">
                <a:solidFill>
                  <a:srgbClr val="20241F"/>
                </a:solidFill>
                <a:latin typeface="Georgia"/>
                <a:ea typeface="Georgia"/>
                <a:cs typeface="Georgia"/>
              </a:rPr>
              <a:t>Ember Paneer Tikka</a:t>
            </a:r>
          </a:p>
        </p:txBody>
      </p:sp>
      <p:sp>
        <p:nvSpPr>
          <p:cNvPr id="9" name="">
            <a:extLst xmlns:a="http://schemas.openxmlformats.org/drawingml/2006/main">
              <a:ext uri="{FF2B5EF4-FFF2-40B4-BE49-F238E27FC236}">
                <a16:creationId xmlns:a16="http://schemas.microsoft.com/office/drawing/2014/main" id="{5D6C4D58-289B-4307-B4DC-EB7578AFF532}"/>
              </a:ext>
            </a:extLst>
          </p:cNvPr>
          <p:cNvSpPr>
            <a:spLocks xmlns:a="http://schemas.openxmlformats.org/drawingml/2006/main" noGrp="1"/>
          </p:cNvSpPr>
          <p:nvPr/>
        </p:nvSpPr>
        <p:spPr>
          <a:xfrm xmlns:a="http://schemas.openxmlformats.org/drawingml/2006/main">
            <a:off x="7162800" y="293370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i="0">
                <a:solidFill>
                  <a:srgbClr val="20241F"/>
                </a:solidFill>
                <a:latin typeface="Aptos"/>
                <a:ea typeface="Aptos"/>
                <a:cs typeface="Aptos"/>
              </a:defRPr>
            </a:pPr>
            <a:r>
              <a:rPr sz="1275" b="1" i="0">
                <a:solidFill>
                  <a:srgbClr val="20241F"/>
                </a:solidFill>
                <a:latin typeface="Aptos"/>
                <a:ea typeface="Aptos"/>
                <a:cs typeface="Aptos"/>
              </a:rPr>
              <a:t>Paneer</a:t>
            </a:r>
          </a:p>
        </p:txBody>
      </p:sp>
      <p:sp>
        <p:nvSpPr>
          <p:cNvPr id="10" name="">
            <a:extLst xmlns:a="http://schemas.openxmlformats.org/drawingml/2006/main">
              <a:ext uri="{FF2B5EF4-FFF2-40B4-BE49-F238E27FC236}">
                <a16:creationId xmlns:a16="http://schemas.microsoft.com/office/drawing/2014/main" id="{C41A09C2-F8F4-4C88-9FC3-AFB26F214DC5}"/>
              </a:ext>
            </a:extLst>
          </p:cNvPr>
          <p:cNvSpPr>
            <a:spLocks xmlns:a="http://schemas.openxmlformats.org/drawingml/2006/main" noGrp="1"/>
          </p:cNvSpPr>
          <p:nvPr/>
        </p:nvSpPr>
        <p:spPr>
          <a:xfrm xmlns:a="http://schemas.openxmlformats.org/drawingml/2006/main">
            <a:off x="8877300" y="2952750"/>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i="0">
                <a:solidFill>
                  <a:srgbClr val="6E7068"/>
                </a:solidFill>
                <a:latin typeface="Aptos"/>
                <a:ea typeface="Aptos"/>
                <a:cs typeface="Aptos"/>
              </a:defRPr>
            </a:pPr>
            <a:r>
              <a:rPr sz="1050" b="0" i="0">
                <a:solidFill>
                  <a:srgbClr val="6E7068"/>
                </a:solidFill>
                <a:latin typeface="Aptos"/>
                <a:ea typeface="Aptos"/>
                <a:cs typeface="Aptos"/>
              </a:rPr>
              <a:t>720g ÷ 180g</a:t>
            </a:r>
          </a:p>
        </p:txBody>
      </p:sp>
      <p:sp>
        <p:nvSpPr>
          <p:cNvPr id="11" name="">
            <a:extLst xmlns:a="http://schemas.openxmlformats.org/drawingml/2006/main">
              <a:ext uri="{FF2B5EF4-FFF2-40B4-BE49-F238E27FC236}">
                <a16:creationId xmlns:a16="http://schemas.microsoft.com/office/drawing/2014/main" id="{7237CA4A-B5B2-49C7-95BB-EB134CF398C0}"/>
              </a:ext>
            </a:extLst>
          </p:cNvPr>
          <p:cNvSpPr>
            <a:spLocks xmlns:a="http://schemas.openxmlformats.org/drawingml/2006/main" noGrp="1"/>
          </p:cNvSpPr>
          <p:nvPr/>
        </p:nvSpPr>
        <p:spPr>
          <a:xfrm xmlns:a="http://schemas.openxmlformats.org/drawingml/2006/main">
            <a:off x="10287000" y="2952750"/>
            <a:ext cx="1047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1" i="0">
                <a:solidFill>
                  <a:srgbClr val="A44E43"/>
                </a:solidFill>
                <a:latin typeface="Aptos"/>
                <a:ea typeface="Aptos"/>
                <a:cs typeface="Aptos"/>
              </a:defRPr>
            </a:pPr>
            <a:r>
              <a:rPr sz="1050" b="1" i="0">
                <a:solidFill>
                  <a:srgbClr val="A44E43"/>
                </a:solidFill>
                <a:latin typeface="Aptos"/>
                <a:ea typeface="Aptos"/>
                <a:cs typeface="Aptos"/>
              </a:rPr>
              <a:t>4 portions</a:t>
            </a:r>
          </a:p>
        </p:txBody>
      </p:sp>
      <p:sp>
        <p:nvSpPr>
          <p:cNvPr id="12" name="">
            <a:extLst xmlns:a="http://schemas.openxmlformats.org/drawingml/2006/main">
              <a:ext uri="{FF2B5EF4-FFF2-40B4-BE49-F238E27FC236}">
                <a16:creationId xmlns:a16="http://schemas.microsoft.com/office/drawing/2014/main" id="{9FEE5B4F-7A6A-4996-AD67-702E4B138B13}"/>
              </a:ext>
            </a:extLst>
          </p:cNvPr>
          <p:cNvSpPr>
            <a:spLocks xmlns:a="http://schemas.openxmlformats.org/drawingml/2006/main" noGrp="1"/>
          </p:cNvSpPr>
          <p:nvPr/>
        </p:nvSpPr>
        <p:spPr>
          <a:xfrm xmlns:a="http://schemas.openxmlformats.org/drawingml/2006/main">
            <a:off x="7162800" y="3295650"/>
            <a:ext cx="4171950" cy="95250"/>
          </a:xfrm>
          <a:prstGeom xmlns:a="http://schemas.openxmlformats.org/drawingml/2006/main" prst="roundRect">
            <a:avLst>
              <a:gd name="adj" fmla="val 50000"/>
            </a:avLst>
          </a:prstGeom>
          <a:solidFill xmlns:a="http://schemas.openxmlformats.org/drawingml/2006/main">
            <a:srgbClr val="D8D0C2"/>
          </a:solidFill>
          <a:ln xmlns:a="http://schemas.openxmlformats.org/drawingml/2006/main" w="0">
            <a:solidFill>
              <a:srgbClr val="D8D0C2"/>
            </a:solidFill>
            <a:prstDash val="solid"/>
          </a:ln>
        </p:spPr>
      </p:sp>
      <p:sp>
        <p:nvSpPr>
          <p:cNvPr id="13" name="">
            <a:extLst xmlns:a="http://schemas.openxmlformats.org/drawingml/2006/main">
              <a:ext uri="{FF2B5EF4-FFF2-40B4-BE49-F238E27FC236}">
                <a16:creationId xmlns:a16="http://schemas.microsoft.com/office/drawing/2014/main" id="{2D127A93-09AF-49FB-99DF-81D944D45A33}"/>
              </a:ext>
            </a:extLst>
          </p:cNvPr>
          <p:cNvSpPr>
            <a:spLocks xmlns:a="http://schemas.openxmlformats.org/drawingml/2006/main" noGrp="1"/>
          </p:cNvSpPr>
          <p:nvPr/>
        </p:nvSpPr>
        <p:spPr>
          <a:xfrm xmlns:a="http://schemas.openxmlformats.org/drawingml/2006/main">
            <a:off x="7162800" y="3295650"/>
            <a:ext cx="1585341" cy="95250"/>
          </a:xfrm>
          <a:prstGeom xmlns:a="http://schemas.openxmlformats.org/drawingml/2006/main" prst="roundRect">
            <a:avLst>
              <a:gd name="adj" fmla="val 50000"/>
            </a:avLst>
          </a:prstGeom>
          <a:solidFill xmlns:a="http://schemas.openxmlformats.org/drawingml/2006/main">
            <a:srgbClr val="A44E43"/>
          </a:solidFill>
          <a:ln xmlns:a="http://schemas.openxmlformats.org/drawingml/2006/main" w="0">
            <a:solidFill>
              <a:srgbClr val="A44E43"/>
            </a:solidFill>
            <a:prstDash val="solid"/>
          </a:ln>
        </p:spPr>
      </p:sp>
      <p:sp>
        <p:nvSpPr>
          <p:cNvPr id="14" name="">
            <a:extLst xmlns:a="http://schemas.openxmlformats.org/drawingml/2006/main">
              <a:ext uri="{FF2B5EF4-FFF2-40B4-BE49-F238E27FC236}">
                <a16:creationId xmlns:a16="http://schemas.microsoft.com/office/drawing/2014/main" id="{E7C4E795-A667-4764-9DEC-9BAC561968EF}"/>
              </a:ext>
            </a:extLst>
          </p:cNvPr>
          <p:cNvSpPr>
            <a:spLocks xmlns:a="http://schemas.openxmlformats.org/drawingml/2006/main" noGrp="1"/>
          </p:cNvSpPr>
          <p:nvPr/>
        </p:nvSpPr>
        <p:spPr>
          <a:xfrm xmlns:a="http://schemas.openxmlformats.org/drawingml/2006/main">
            <a:off x="7162800" y="381000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i="0">
                <a:solidFill>
                  <a:srgbClr val="20241F"/>
                </a:solidFill>
                <a:latin typeface="Aptos"/>
                <a:ea typeface="Aptos"/>
                <a:cs typeface="Aptos"/>
              </a:defRPr>
            </a:pPr>
            <a:r>
              <a:rPr sz="1275" b="1" i="0">
                <a:solidFill>
                  <a:srgbClr val="20241F"/>
                </a:solidFill>
                <a:latin typeface="Aptos"/>
                <a:ea typeface="Aptos"/>
                <a:cs typeface="Aptos"/>
              </a:rPr>
              <a:t>Greek yogurt</a:t>
            </a:r>
          </a:p>
        </p:txBody>
      </p:sp>
      <p:sp>
        <p:nvSpPr>
          <p:cNvPr id="15" name="">
            <a:extLst xmlns:a="http://schemas.openxmlformats.org/drawingml/2006/main">
              <a:ext uri="{FF2B5EF4-FFF2-40B4-BE49-F238E27FC236}">
                <a16:creationId xmlns:a16="http://schemas.microsoft.com/office/drawing/2014/main" id="{45A40BEC-1B30-4383-87CD-2B729AFAF88D}"/>
              </a:ext>
            </a:extLst>
          </p:cNvPr>
          <p:cNvSpPr>
            <a:spLocks xmlns:a="http://schemas.openxmlformats.org/drawingml/2006/main" noGrp="1"/>
          </p:cNvSpPr>
          <p:nvPr/>
        </p:nvSpPr>
        <p:spPr>
          <a:xfrm xmlns:a="http://schemas.openxmlformats.org/drawingml/2006/main">
            <a:off x="8877300" y="3829050"/>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i="0">
                <a:solidFill>
                  <a:srgbClr val="6E7068"/>
                </a:solidFill>
                <a:latin typeface="Aptos"/>
                <a:ea typeface="Aptos"/>
                <a:cs typeface="Aptos"/>
              </a:defRPr>
            </a:pPr>
            <a:r>
              <a:rPr sz="1050" b="0" i="0">
                <a:solidFill>
                  <a:srgbClr val="6E7068"/>
                </a:solidFill>
                <a:latin typeface="Aptos"/>
                <a:ea typeface="Aptos"/>
                <a:cs typeface="Aptos"/>
              </a:rPr>
              <a:t>245ml ÷ 35ml</a:t>
            </a:r>
          </a:p>
        </p:txBody>
      </p:sp>
      <p:sp>
        <p:nvSpPr>
          <p:cNvPr id="16" name="">
            <a:extLst xmlns:a="http://schemas.openxmlformats.org/drawingml/2006/main">
              <a:ext uri="{FF2B5EF4-FFF2-40B4-BE49-F238E27FC236}">
                <a16:creationId xmlns:a16="http://schemas.microsoft.com/office/drawing/2014/main" id="{709FAAD4-F459-4032-AFE0-9420B410176B}"/>
              </a:ext>
            </a:extLst>
          </p:cNvPr>
          <p:cNvSpPr>
            <a:spLocks xmlns:a="http://schemas.openxmlformats.org/drawingml/2006/main" noGrp="1"/>
          </p:cNvSpPr>
          <p:nvPr/>
        </p:nvSpPr>
        <p:spPr>
          <a:xfrm xmlns:a="http://schemas.openxmlformats.org/drawingml/2006/main">
            <a:off x="10287000" y="3829050"/>
            <a:ext cx="1047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1" i="0">
                <a:solidFill>
                  <a:srgbClr val="D1832E"/>
                </a:solidFill>
                <a:latin typeface="Aptos"/>
                <a:ea typeface="Aptos"/>
                <a:cs typeface="Aptos"/>
              </a:defRPr>
            </a:pPr>
            <a:r>
              <a:rPr sz="1050" b="1" i="0">
                <a:solidFill>
                  <a:srgbClr val="D1832E"/>
                </a:solidFill>
                <a:latin typeface="Aptos"/>
                <a:ea typeface="Aptos"/>
                <a:cs typeface="Aptos"/>
              </a:rPr>
              <a:t>7 portions</a:t>
            </a:r>
          </a:p>
        </p:txBody>
      </p:sp>
      <p:sp>
        <p:nvSpPr>
          <p:cNvPr id="17" name="">
            <a:extLst xmlns:a="http://schemas.openxmlformats.org/drawingml/2006/main">
              <a:ext uri="{FF2B5EF4-FFF2-40B4-BE49-F238E27FC236}">
                <a16:creationId xmlns:a16="http://schemas.microsoft.com/office/drawing/2014/main" id="{0B734D5D-990D-4D8A-86C2-CC8C1335E22A}"/>
              </a:ext>
            </a:extLst>
          </p:cNvPr>
          <p:cNvSpPr>
            <a:spLocks xmlns:a="http://schemas.openxmlformats.org/drawingml/2006/main" noGrp="1"/>
          </p:cNvSpPr>
          <p:nvPr/>
        </p:nvSpPr>
        <p:spPr>
          <a:xfrm xmlns:a="http://schemas.openxmlformats.org/drawingml/2006/main">
            <a:off x="7162800" y="4171950"/>
            <a:ext cx="4171950" cy="95250"/>
          </a:xfrm>
          <a:prstGeom xmlns:a="http://schemas.openxmlformats.org/drawingml/2006/main" prst="roundRect">
            <a:avLst>
              <a:gd name="adj" fmla="val 50000"/>
            </a:avLst>
          </a:prstGeom>
          <a:solidFill xmlns:a="http://schemas.openxmlformats.org/drawingml/2006/main">
            <a:srgbClr val="D8D0C2"/>
          </a:solidFill>
          <a:ln xmlns:a="http://schemas.openxmlformats.org/drawingml/2006/main" w="0">
            <a:solidFill>
              <a:srgbClr val="D8D0C2"/>
            </a:solidFill>
            <a:prstDash val="solid"/>
          </a:ln>
        </p:spPr>
      </p:sp>
      <p:sp>
        <p:nvSpPr>
          <p:cNvPr id="18" name="">
            <a:extLst xmlns:a="http://schemas.openxmlformats.org/drawingml/2006/main">
              <a:ext uri="{FF2B5EF4-FFF2-40B4-BE49-F238E27FC236}">
                <a16:creationId xmlns:a16="http://schemas.microsoft.com/office/drawing/2014/main" id="{3EDEFA6F-E2B9-461A-AA42-08787D2A06C3}"/>
              </a:ext>
            </a:extLst>
          </p:cNvPr>
          <p:cNvSpPr>
            <a:spLocks xmlns:a="http://schemas.openxmlformats.org/drawingml/2006/main" noGrp="1"/>
          </p:cNvSpPr>
          <p:nvPr/>
        </p:nvSpPr>
        <p:spPr>
          <a:xfrm xmlns:a="http://schemas.openxmlformats.org/drawingml/2006/main">
            <a:off x="7162800" y="4171950"/>
            <a:ext cx="2586609" cy="95250"/>
          </a:xfrm>
          <a:prstGeom xmlns:a="http://schemas.openxmlformats.org/drawingml/2006/main" prst="roundRect">
            <a:avLst>
              <a:gd name="adj" fmla="val 50000"/>
            </a:avLst>
          </a:prstGeom>
          <a:solidFill xmlns:a="http://schemas.openxmlformats.org/drawingml/2006/main">
            <a:srgbClr val="D1832E"/>
          </a:solidFill>
          <a:ln xmlns:a="http://schemas.openxmlformats.org/drawingml/2006/main" w="0">
            <a:solidFill>
              <a:srgbClr val="D1832E"/>
            </a:solidFill>
            <a:prstDash val="solid"/>
          </a:ln>
        </p:spPr>
      </p:sp>
      <p:sp>
        <p:nvSpPr>
          <p:cNvPr id="19" name="">
            <a:extLst xmlns:a="http://schemas.openxmlformats.org/drawingml/2006/main">
              <a:ext uri="{FF2B5EF4-FFF2-40B4-BE49-F238E27FC236}">
                <a16:creationId xmlns:a16="http://schemas.microsoft.com/office/drawing/2014/main" id="{26A9527B-F729-441C-98A4-494145C5D6A6}"/>
              </a:ext>
            </a:extLst>
          </p:cNvPr>
          <p:cNvSpPr>
            <a:spLocks xmlns:a="http://schemas.openxmlformats.org/drawingml/2006/main" noGrp="1"/>
          </p:cNvSpPr>
          <p:nvPr/>
        </p:nvSpPr>
        <p:spPr>
          <a:xfrm xmlns:a="http://schemas.openxmlformats.org/drawingml/2006/main">
            <a:off x="7162800" y="4743450"/>
            <a:ext cx="4171950" cy="0"/>
          </a:xfrm>
          <a:prstGeom xmlns:a="http://schemas.openxmlformats.org/drawingml/2006/main" prst="line">
            <a:avLst/>
          </a:prstGeom>
          <a:noFill xmlns:a="http://schemas.openxmlformats.org/drawingml/2006/main"/>
          <a:ln xmlns:a="http://schemas.openxmlformats.org/drawingml/2006/main" w="9525">
            <a:solidFill>
              <a:srgbClr val="D8D0C2"/>
            </a:solidFill>
            <a:prstDash val="solid"/>
          </a:ln>
        </p:spPr>
      </p:sp>
      <p:sp>
        <p:nvSpPr>
          <p:cNvPr id="20" name="">
            <a:extLst xmlns:a="http://schemas.openxmlformats.org/drawingml/2006/main">
              <a:ext uri="{FF2B5EF4-FFF2-40B4-BE49-F238E27FC236}">
                <a16:creationId xmlns:a16="http://schemas.microsoft.com/office/drawing/2014/main" id="{9C0A5BD1-E3E9-4634-91AF-278861945019}"/>
              </a:ext>
            </a:extLst>
          </p:cNvPr>
          <p:cNvSpPr>
            <a:spLocks xmlns:a="http://schemas.openxmlformats.org/drawingml/2006/main" noGrp="1"/>
          </p:cNvSpPr>
          <p:nvPr/>
        </p:nvSpPr>
        <p:spPr>
          <a:xfrm xmlns:a="http://schemas.openxmlformats.org/drawingml/2006/main">
            <a:off x="7162800" y="4972050"/>
            <a:ext cx="1619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1" i="0">
                <a:solidFill>
                  <a:srgbClr val="18372D"/>
                </a:solidFill>
                <a:latin typeface="Aptos"/>
                <a:ea typeface="Aptos"/>
                <a:cs typeface="Aptos"/>
              </a:defRPr>
            </a:pPr>
            <a:r>
              <a:rPr sz="1725" b="1" i="0">
                <a:solidFill>
                  <a:srgbClr val="18372D"/>
                </a:solidFill>
                <a:latin typeface="Aptos"/>
                <a:ea typeface="Aptos"/>
                <a:cs typeface="Aptos"/>
              </a:rPr>
              <a:t>MIN(4, 7)</a:t>
            </a:r>
          </a:p>
        </p:txBody>
      </p:sp>
      <p:sp>
        <p:nvSpPr>
          <p:cNvPr id="21" name="">
            <a:extLst xmlns:a="http://schemas.openxmlformats.org/drawingml/2006/main">
              <a:ext uri="{FF2B5EF4-FFF2-40B4-BE49-F238E27FC236}">
                <a16:creationId xmlns:a16="http://schemas.microsoft.com/office/drawing/2014/main" id="{31FD482B-2BA8-4F9A-B6A3-892628A0F29F}"/>
              </a:ext>
            </a:extLst>
          </p:cNvPr>
          <p:cNvSpPr>
            <a:spLocks xmlns:a="http://schemas.openxmlformats.org/drawingml/2006/main" noGrp="1"/>
          </p:cNvSpPr>
          <p:nvPr/>
        </p:nvSpPr>
        <p:spPr>
          <a:xfrm xmlns:a="http://schemas.openxmlformats.org/drawingml/2006/main">
            <a:off x="8877300" y="4857750"/>
            <a:ext cx="2457450" cy="552450"/>
          </a:xfrm>
          <a:prstGeom xmlns:a="http://schemas.openxmlformats.org/drawingml/2006/main" prst="roundRect">
            <a:avLst>
              <a:gd name="adj" fmla="val 24138"/>
            </a:avLst>
          </a:prstGeom>
          <a:solidFill xmlns:a="http://schemas.openxmlformats.org/drawingml/2006/main">
            <a:srgbClr val="F4E2C7"/>
          </a:solidFill>
          <a:ln xmlns:a="http://schemas.openxmlformats.org/drawingml/2006/main" w="9525">
            <a:solidFill>
              <a:srgbClr val="D1832E"/>
            </a:solidFill>
            <a:prstDash val="solid"/>
          </a:ln>
        </p:spPr>
      </p:sp>
      <p:sp>
        <p:nvSpPr>
          <p:cNvPr id="22" name="">
            <a:extLst xmlns:a="http://schemas.openxmlformats.org/drawingml/2006/main">
              <a:ext uri="{FF2B5EF4-FFF2-40B4-BE49-F238E27FC236}">
                <a16:creationId xmlns:a16="http://schemas.microsoft.com/office/drawing/2014/main" id="{0367F59D-EF76-45B3-8B1C-3DF4BBD9344F}"/>
              </a:ext>
            </a:extLst>
          </p:cNvPr>
          <p:cNvSpPr>
            <a:spLocks xmlns:a="http://schemas.openxmlformats.org/drawingml/2006/main" noGrp="1"/>
          </p:cNvSpPr>
          <p:nvPr/>
        </p:nvSpPr>
        <p:spPr>
          <a:xfrm xmlns:a="http://schemas.openxmlformats.org/drawingml/2006/main">
            <a:off x="8877300" y="5029200"/>
            <a:ext cx="2457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i="0">
                <a:solidFill>
                  <a:srgbClr val="A44E43"/>
                </a:solidFill>
                <a:latin typeface="Aptos"/>
                <a:ea typeface="Aptos"/>
                <a:cs typeface="Aptos"/>
              </a:defRPr>
            </a:pPr>
            <a:r>
              <a:rPr sz="1350" b="1" i="0">
                <a:solidFill>
                  <a:srgbClr val="A44E43"/>
                </a:solidFill>
                <a:latin typeface="Aptos"/>
                <a:ea typeface="Aptos"/>
                <a:cs typeface="Aptos"/>
              </a:rPr>
              <a:t>ONLY 4 LEFT</a:t>
            </a:r>
          </a:p>
        </p:txBody>
      </p:sp>
      <p:sp>
        <p:nvSpPr>
          <p:cNvPr id="23" name="">
            <a:extLst xmlns:a="http://schemas.openxmlformats.org/drawingml/2006/main">
              <a:ext uri="{FF2B5EF4-FFF2-40B4-BE49-F238E27FC236}">
                <a16:creationId xmlns:a16="http://schemas.microsoft.com/office/drawing/2014/main" id="{3D3EA03B-A1AE-47D4-9741-BB1ABDF550DF}"/>
              </a:ext>
            </a:extLst>
          </p:cNvPr>
          <p:cNvSpPr>
            <a:spLocks xmlns:a="http://schemas.openxmlformats.org/drawingml/2006/main" noGrp="1"/>
          </p:cNvSpPr>
          <p:nvPr/>
        </p:nvSpPr>
        <p:spPr>
          <a:xfrm xmlns:a="http://schemas.openxmlformats.org/drawingml/2006/main">
            <a:off x="7162800" y="5638800"/>
            <a:ext cx="41719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i="0">
                <a:solidFill>
                  <a:srgbClr val="30342E"/>
                </a:solidFill>
                <a:latin typeface="Aptos"/>
                <a:ea typeface="Aptos"/>
                <a:cs typeface="Aptos"/>
              </a:defRPr>
            </a:pPr>
            <a:r>
              <a:rPr sz="1275" b="1" i="0">
                <a:solidFill>
                  <a:srgbClr val="30342E"/>
                </a:solidFill>
                <a:latin typeface="Aptos"/>
                <a:ea typeface="Aptos"/>
                <a:cs typeface="Aptos"/>
              </a:rPr>
              <a:t>At zero, ordering is blocked automatically.</a:t>
            </a:r>
          </a:p>
        </p:txBody>
      </p:sp>
      <p:sp>
        <p:nvSpPr>
          <p:cNvPr id="24" name="">
            <a:extLst xmlns:a="http://schemas.openxmlformats.org/drawingml/2006/main">
              <a:ext uri="{FF2B5EF4-FFF2-40B4-BE49-F238E27FC236}">
                <a16:creationId xmlns:a16="http://schemas.microsoft.com/office/drawing/2014/main" id="{883D5556-8D02-4F5F-B274-78EF8CED770F}"/>
              </a:ext>
            </a:extLst>
          </p:cNvPr>
          <p:cNvSpPr>
            <a:spLocks xmlns:a="http://schemas.openxmlformats.org/drawingml/2006/main" noGrp="1"/>
          </p:cNvSpPr>
          <p:nvPr/>
        </p:nvSpPr>
        <p:spPr>
          <a:xfrm xmlns:a="http://schemas.openxmlformats.org/drawingml/2006/main">
            <a:off x="666750" y="6496050"/>
            <a:ext cx="10858500" cy="0"/>
          </a:xfrm>
          <a:prstGeom xmlns:a="http://schemas.openxmlformats.org/drawingml/2006/main" prst="line">
            <a:avLst/>
          </a:prstGeom>
          <a:noFill xmlns:a="http://schemas.openxmlformats.org/drawingml/2006/main"/>
          <a:ln xmlns:a="http://schemas.openxmlformats.org/drawingml/2006/main" w="9525">
            <a:solidFill>
              <a:srgbClr val="D8D0C2"/>
            </a:solidFill>
            <a:prstDash val="solid"/>
          </a:ln>
        </p:spPr>
      </p:sp>
      <p:sp>
        <p:nvSpPr>
          <p:cNvPr id="25" name="">
            <a:extLst xmlns:a="http://schemas.openxmlformats.org/drawingml/2006/main">
              <a:ext uri="{FF2B5EF4-FFF2-40B4-BE49-F238E27FC236}">
                <a16:creationId xmlns:a16="http://schemas.microsoft.com/office/drawing/2014/main" id="{45C51A78-33E7-4D5F-A0D3-BB646DAA7BD9}"/>
              </a:ext>
            </a:extLst>
          </p:cNvPr>
          <p:cNvSpPr>
            <a:spLocks xmlns:a="http://schemas.openxmlformats.org/drawingml/2006/main" noGrp="1"/>
          </p:cNvSpPr>
          <p:nvPr/>
        </p:nvSpPr>
        <p:spPr>
          <a:xfrm xmlns:a="http://schemas.openxmlformats.org/drawingml/2006/main">
            <a:off x="666750" y="6572250"/>
            <a:ext cx="3429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1" i="0">
                <a:solidFill>
                  <a:srgbClr val="8C8B82"/>
                </a:solidFill>
                <a:latin typeface="Aptos"/>
                <a:ea typeface="Aptos"/>
                <a:cs typeface="Aptos"/>
              </a:defRPr>
            </a:pPr>
            <a:r>
              <a:rPr sz="750" b="1" i="0">
                <a:solidFill>
                  <a:srgbClr val="8C8B82"/>
                </a:solidFill>
                <a:latin typeface="Aptos"/>
                <a:ea typeface="Aptos"/>
                <a:cs typeface="Aptos"/>
              </a:rPr>
              <a:t>FLOWDINE AI  /  VIBEATHON 6.0</a:t>
            </a:r>
          </a:p>
        </p:txBody>
      </p:sp>
      <p:sp>
        <p:nvSpPr>
          <p:cNvPr id="26" name="">
            <a:extLst xmlns:a="http://schemas.openxmlformats.org/drawingml/2006/main">
              <a:ext uri="{FF2B5EF4-FFF2-40B4-BE49-F238E27FC236}">
                <a16:creationId xmlns:a16="http://schemas.microsoft.com/office/drawing/2014/main" id="{766B47F0-7020-485F-AEBB-E49B1EF86FA3}"/>
              </a:ext>
            </a:extLst>
          </p:cNvPr>
          <p:cNvSpPr>
            <a:spLocks xmlns:a="http://schemas.openxmlformats.org/drawingml/2006/main" noGrp="1"/>
          </p:cNvSpPr>
          <p:nvPr/>
        </p:nvSpPr>
        <p:spPr>
          <a:xfrm xmlns:a="http://schemas.openxmlformats.org/drawingml/2006/main">
            <a:off x="11049000" y="6572250"/>
            <a:ext cx="4762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750" b="1" i="0">
                <a:solidFill>
                  <a:srgbClr val="8C8B82"/>
                </a:solidFill>
                <a:latin typeface="Aptos"/>
                <a:ea typeface="Aptos"/>
                <a:cs typeface="Aptos"/>
              </a:defRPr>
            </a:pPr>
            <a:r>
              <a:rPr sz="750" b="1" i="0">
                <a:solidFill>
                  <a:srgbClr val="8C8B82"/>
                </a:solidFill>
                <a:latin typeface="Aptos"/>
                <a:ea typeface="Aptos"/>
                <a:cs typeface="Aptos"/>
              </a:rPr>
              <a:t>06</a:t>
            </a:r>
          </a:p>
        </p:txBody>
      </p:sp>
    </p:spTree>
    <p:extLst>
      <p:ext uri="{BB962C8B-B14F-4D97-AF65-F5344CB8AC3E}">
        <p14:creationId xmlns:p14="http://schemas.microsoft.com/office/powerpoint/2010/main" val="2091689123"/>
      </p:ext>
    </p:extLst>
  </p:cSld>
</p:sld>
</file>

<file path=ppt/slides/slide7.xml><?xml version="1.0" encoding="utf-8"?>
<p:sld xmlns:p="http://schemas.openxmlformats.org/presentationml/2006/main">
  <p:cSld>
    <p:bg>
      <p:bgPr>
        <a:solidFill xmlns:a="http://schemas.openxmlformats.org/drawingml/2006/main">
          <a:srgbClr val="20241F"/>
        </a:solidFill>
      </p:bgPr>
    </p:bg>
    <p:spTree>
      <p:nvGrpSpPr>
        <p:cNvPr id="1" name=""/>
        <p:cNvGrpSpPr/>
        <p:nvPr/>
      </p:nvGrpSpPr>
      <p:grpSpPr>
        <a:xfrm xmlns:a="http://schemas.openxmlformats.org/drawingml/2006/main"/>
      </p:grpSpPr>
      <p:sp>
        <p:nvSpPr>
          <p:cNvPr id="26" name="eyebrow-Role-based experience">
            <a:extLst xmlns:a="http://schemas.openxmlformats.org/drawingml/2006/main">
              <a:ext uri="{FF2B5EF4-FFF2-40B4-BE49-F238E27FC236}">
                <a16:creationId xmlns:a16="http://schemas.microsoft.com/office/drawing/2014/main" id="{F611373E-EA4F-4D8E-BCA8-AE760EACA65E}"/>
              </a:ext>
            </a:extLst>
          </p:cNvPr>
          <p:cNvSpPr>
            <a:spLocks xmlns:a="http://schemas.openxmlformats.org/drawingml/2006/main" noGrp="1"/>
          </p:cNvSpPr>
          <p:nvPr/>
        </p:nvSpPr>
        <p:spPr>
          <a:xfrm xmlns:a="http://schemas.openxmlformats.org/drawingml/2006/main">
            <a:off x="666750" y="323850"/>
            <a:ext cx="533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i="0">
                <a:solidFill>
                  <a:srgbClr val="E6A34E"/>
                </a:solidFill>
                <a:latin typeface="Aptos"/>
                <a:ea typeface="Aptos"/>
                <a:cs typeface="Aptos"/>
              </a:defRPr>
            </a:pPr>
            <a:r>
              <a:rPr sz="975" b="1" i="0">
                <a:solidFill>
                  <a:srgbClr val="E6A34E"/>
                </a:solidFill>
                <a:latin typeface="Aptos"/>
                <a:ea typeface="Aptos"/>
                <a:cs typeface="Aptos"/>
              </a:rPr>
              <a:t>ROLE-BASED EXPERIENCE</a:t>
            </a:r>
          </a:p>
        </p:txBody>
      </p:sp>
      <p:sp>
        <p:nvSpPr>
          <p:cNvPr id="2" name="slide-title">
            <a:extLst xmlns:a="http://schemas.openxmlformats.org/drawingml/2006/main">
              <a:ext uri="{FF2B5EF4-FFF2-40B4-BE49-F238E27FC236}">
                <a16:creationId xmlns:a16="http://schemas.microsoft.com/office/drawing/2014/main" id="{7532B451-095D-44BC-83E5-960FB8B1AFF8}"/>
              </a:ext>
            </a:extLst>
          </p:cNvPr>
          <p:cNvSpPr>
            <a:spLocks xmlns:a="http://schemas.openxmlformats.org/drawingml/2006/main" noGrp="1"/>
          </p:cNvSpPr>
          <p:nvPr/>
        </p:nvSpPr>
        <p:spPr>
          <a:xfrm xmlns:a="http://schemas.openxmlformats.org/drawingml/2006/main">
            <a:off x="666750" y="628650"/>
            <a:ext cx="9715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0" i="0">
                <a:solidFill>
                  <a:srgbClr val="F6F0E4"/>
                </a:solidFill>
                <a:latin typeface="Georgia"/>
                <a:ea typeface="Georgia"/>
                <a:cs typeface="Georgia"/>
              </a:defRPr>
            </a:pPr>
            <a:r>
              <a:rPr sz="2850" b="0" i="0">
                <a:solidFill>
                  <a:srgbClr val="F6F0E4"/>
                </a:solidFill>
                <a:latin typeface="Georgia"/>
                <a:ea typeface="Georgia"/>
                <a:cs typeface="Georgia"/>
              </a:rPr>
              <a:t>The same truth, designed for the next decision.</a:t>
            </a:r>
          </a:p>
        </p:txBody>
      </p:sp>
      <p:sp>
        <p:nvSpPr>
          <p:cNvPr id="3" name="">
            <a:extLst xmlns:a="http://schemas.openxmlformats.org/drawingml/2006/main">
              <a:ext uri="{FF2B5EF4-FFF2-40B4-BE49-F238E27FC236}">
                <a16:creationId xmlns:a16="http://schemas.microsoft.com/office/drawing/2014/main" id="{1862EF2B-9731-4FFD-81EE-71A276E24605}"/>
              </a:ext>
            </a:extLst>
          </p:cNvPr>
          <p:cNvSpPr>
            <a:spLocks xmlns:a="http://schemas.openxmlformats.org/drawingml/2006/main" noGrp="1"/>
          </p:cNvSpPr>
          <p:nvPr/>
        </p:nvSpPr>
        <p:spPr>
          <a:xfrm xmlns:a="http://schemas.openxmlformats.org/drawingml/2006/main">
            <a:off x="628650" y="1352550"/>
            <a:ext cx="5372100" cy="2209800"/>
          </a:xfrm>
          <a:prstGeom xmlns:a="http://schemas.openxmlformats.org/drawingml/2006/main" prst="roundRect">
            <a:avLst>
              <a:gd name="adj" fmla="val 7759"/>
            </a:avLst>
          </a:prstGeom>
          <a:solidFill xmlns:a="http://schemas.openxmlformats.org/drawingml/2006/main">
            <a:srgbClr val="26302A"/>
          </a:solidFill>
          <a:ln xmlns:a="http://schemas.openxmlformats.org/drawingml/2006/main" w="9525">
            <a:solidFill>
              <a:srgbClr val="445148"/>
            </a:solidFill>
            <a:prstDash val="solid"/>
          </a:ln>
        </p:spPr>
        <p:style>
          <a:lnRef xmlns:a="http://schemas.openxmlformats.org/drawingml/2006/main" idx="0"/>
          <a:fillRef xmlns:a="http://schemas.openxmlformats.org/drawingml/2006/main" idx="0"/>
          <a:effectRef xmlns:a="http://schemas.openxmlformats.org/drawingml/2006/main" idx="7"/>
          <a:fontRef xmlns:a="http://schemas.openxmlformats.org/drawingml/2006/main" idx="major"/>
        </p:style>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67b5fdc0923e4a41"/>
          <a:srcRect xmlns:a="http://schemas.openxmlformats.org/drawingml/2006/main" l="0" t="14189" r="0" b="14189"/>
          <a:stretch xmlns:a="http://schemas.openxmlformats.org/drawingml/2006/main">
            <a:fillRect l="0" t="0" r="0" b="0"/>
          </a:stretch>
        </p:blipFill>
        <p:spPr>
          <a:xfrm xmlns:a="http://schemas.openxmlformats.org/drawingml/2006/main">
            <a:off x="666750" y="1390650"/>
            <a:ext cx="5295900" cy="2133600"/>
          </a:xfrm>
          <a:prstGeom xmlns:a="http://schemas.openxmlformats.org/drawingml/2006/main" prst="roundRect">
            <a:avLst>
              <a:gd name="adj" fmla="val 7143"/>
            </a:avLst>
          </a:prstGeom>
        </p:spPr>
      </p:pic>
      <p:sp>
        <p:nvSpPr>
          <p:cNvPr id="5" name="">
            <a:extLst xmlns:a="http://schemas.openxmlformats.org/drawingml/2006/main">
              <a:ext uri="{FF2B5EF4-FFF2-40B4-BE49-F238E27FC236}">
                <a16:creationId xmlns:a16="http://schemas.microsoft.com/office/drawing/2014/main" id="{7878D1F4-FAC6-4CBA-911A-C20A6E0DA45E}"/>
              </a:ext>
            </a:extLst>
          </p:cNvPr>
          <p:cNvSpPr>
            <a:spLocks xmlns:a="http://schemas.openxmlformats.org/drawingml/2006/main" noGrp="1"/>
          </p:cNvSpPr>
          <p:nvPr/>
        </p:nvSpPr>
        <p:spPr>
          <a:xfrm xmlns:a="http://schemas.openxmlformats.org/drawingml/2006/main">
            <a:off x="819150" y="1543050"/>
            <a:ext cx="1752600" cy="495300"/>
          </a:xfrm>
          <a:prstGeom xmlns:a="http://schemas.openxmlformats.org/drawingml/2006/main" prst="roundRect">
            <a:avLst>
              <a:gd name="adj" fmla="val 23077"/>
            </a:avLst>
          </a:prstGeom>
          <a:solidFill xmlns:a="http://schemas.openxmlformats.org/drawingml/2006/main">
            <a:srgbClr val="18372D"/>
          </a:solidFill>
          <a:ln xmlns:a="http://schemas.openxmlformats.org/drawingml/2006/main" w="9525">
            <a:solidFill>
              <a:srgbClr val="D1832E"/>
            </a:solidFill>
            <a:prstDash val="solid"/>
          </a:ln>
        </p:spPr>
      </p:sp>
      <p:sp>
        <p:nvSpPr>
          <p:cNvPr id="6" name="">
            <a:extLst xmlns:a="http://schemas.openxmlformats.org/drawingml/2006/main">
              <a:ext uri="{FF2B5EF4-FFF2-40B4-BE49-F238E27FC236}">
                <a16:creationId xmlns:a16="http://schemas.microsoft.com/office/drawing/2014/main" id="{A69EF345-F521-4427-801B-7B892875306E}"/>
              </a:ext>
            </a:extLst>
          </p:cNvPr>
          <p:cNvSpPr>
            <a:spLocks xmlns:a="http://schemas.openxmlformats.org/drawingml/2006/main" noGrp="1"/>
          </p:cNvSpPr>
          <p:nvPr/>
        </p:nvSpPr>
        <p:spPr>
          <a:xfrm xmlns:a="http://schemas.openxmlformats.org/drawingml/2006/main">
            <a:off x="952500" y="1628775"/>
            <a:ext cx="1466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i="0">
                <a:solidFill>
                  <a:srgbClr val="E6A34E"/>
                </a:solidFill>
                <a:latin typeface="Aptos"/>
                <a:ea typeface="Aptos"/>
                <a:cs typeface="Aptos"/>
              </a:defRPr>
            </a:pPr>
            <a:r>
              <a:rPr sz="900" b="1" i="0">
                <a:solidFill>
                  <a:srgbClr val="E6A34E"/>
                </a:solidFill>
                <a:latin typeface="Aptos"/>
                <a:ea typeface="Aptos"/>
                <a:cs typeface="Aptos"/>
              </a:rPr>
              <a:t>CUSTOMER</a:t>
            </a:r>
          </a:p>
        </p:txBody>
      </p:sp>
      <p:sp>
        <p:nvSpPr>
          <p:cNvPr id="7" name="">
            <a:extLst xmlns:a="http://schemas.openxmlformats.org/drawingml/2006/main">
              <a:ext uri="{FF2B5EF4-FFF2-40B4-BE49-F238E27FC236}">
                <a16:creationId xmlns:a16="http://schemas.microsoft.com/office/drawing/2014/main" id="{3C243B93-AAEE-436E-ACCF-CD007B276C3C}"/>
              </a:ext>
            </a:extLst>
          </p:cNvPr>
          <p:cNvSpPr>
            <a:spLocks xmlns:a="http://schemas.openxmlformats.org/drawingml/2006/main" noGrp="1"/>
          </p:cNvSpPr>
          <p:nvPr/>
        </p:nvSpPr>
        <p:spPr>
          <a:xfrm xmlns:a="http://schemas.openxmlformats.org/drawingml/2006/main">
            <a:off x="952500" y="1809750"/>
            <a:ext cx="14668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i="0">
                <a:solidFill>
                  <a:srgbClr val="F6F0E4"/>
                </a:solidFill>
                <a:latin typeface="Aptos"/>
                <a:ea typeface="Aptos"/>
                <a:cs typeface="Aptos"/>
              </a:defRPr>
            </a:pPr>
            <a:r>
              <a:rPr sz="825" b="0" i="0">
                <a:solidFill>
                  <a:srgbClr val="F6F0E4"/>
                </a:solidFill>
                <a:latin typeface="Aptos"/>
                <a:ea typeface="Aptos"/>
                <a:cs typeface="Aptos"/>
              </a:rPr>
              <a:t>Live menu + ordering</a:t>
            </a:r>
          </a:p>
        </p:txBody>
      </p:sp>
      <p:sp>
        <p:nvSpPr>
          <p:cNvPr id="8" name="">
            <a:extLst xmlns:a="http://schemas.openxmlformats.org/drawingml/2006/main">
              <a:ext uri="{FF2B5EF4-FFF2-40B4-BE49-F238E27FC236}">
                <a16:creationId xmlns:a16="http://schemas.microsoft.com/office/drawing/2014/main" id="{5D91B242-B7DF-4DA8-8F04-47E8F9FBC587}"/>
              </a:ext>
            </a:extLst>
          </p:cNvPr>
          <p:cNvSpPr>
            <a:spLocks xmlns:a="http://schemas.openxmlformats.org/drawingml/2006/main" noGrp="1"/>
          </p:cNvSpPr>
          <p:nvPr/>
        </p:nvSpPr>
        <p:spPr>
          <a:xfrm xmlns:a="http://schemas.openxmlformats.org/drawingml/2006/main">
            <a:off x="6191250" y="1352550"/>
            <a:ext cx="5372100" cy="2209800"/>
          </a:xfrm>
          <a:prstGeom xmlns:a="http://schemas.openxmlformats.org/drawingml/2006/main" prst="roundRect">
            <a:avLst>
              <a:gd name="adj" fmla="val 7759"/>
            </a:avLst>
          </a:prstGeom>
          <a:solidFill xmlns:a="http://schemas.openxmlformats.org/drawingml/2006/main">
            <a:srgbClr val="26302A"/>
          </a:solidFill>
          <a:ln xmlns:a="http://schemas.openxmlformats.org/drawingml/2006/main" w="9525">
            <a:solidFill>
              <a:srgbClr val="445148"/>
            </a:solidFill>
            <a:prstDash val="solid"/>
          </a:ln>
        </p:spPr>
        <p:style>
          <a:lnRef xmlns:a="http://schemas.openxmlformats.org/drawingml/2006/main" idx="0"/>
          <a:fillRef xmlns:a="http://schemas.openxmlformats.org/drawingml/2006/main" idx="0"/>
          <a:effectRef xmlns:a="http://schemas.openxmlformats.org/drawingml/2006/main" idx="7"/>
          <a:fontRef xmlns:a="http://schemas.openxmlformats.org/drawingml/2006/main" idx="major"/>
        </p:style>
      </p:sp>
      <p:pic>
        <p:nvPicPr>
          <p:cNvPr id="34" name=""/>
          <p:cNvPicPr>
            <a:picLocks xmlns:a="http://schemas.openxmlformats.org/drawingml/2006/main" noChangeAspect="1"/>
          </p:cNvPicPr>
          <p:nvPr/>
        </p:nvPicPr>
        <p:blipFill>
          <a:blip xmlns:r="http://schemas.openxmlformats.org/officeDocument/2006/relationships" xmlns:a="http://schemas.openxmlformats.org/drawingml/2006/main" r:embed="R5700c823b742498b"/>
          <a:srcRect xmlns:a="http://schemas.openxmlformats.org/drawingml/2006/main" l="0" t="14189" r="0" b="14189"/>
          <a:stretch xmlns:a="http://schemas.openxmlformats.org/drawingml/2006/main">
            <a:fillRect l="0" t="0" r="0" b="0"/>
          </a:stretch>
        </p:blipFill>
        <p:spPr>
          <a:xfrm xmlns:a="http://schemas.openxmlformats.org/drawingml/2006/main">
            <a:off x="6229350" y="1390650"/>
            <a:ext cx="5295900" cy="2133600"/>
          </a:xfrm>
          <a:prstGeom xmlns:a="http://schemas.openxmlformats.org/drawingml/2006/main" prst="roundRect">
            <a:avLst>
              <a:gd name="adj" fmla="val 7143"/>
            </a:avLst>
          </a:prstGeom>
        </p:spPr>
      </p:pic>
      <p:sp>
        <p:nvSpPr>
          <p:cNvPr id="10" name="">
            <a:extLst xmlns:a="http://schemas.openxmlformats.org/drawingml/2006/main">
              <a:ext uri="{FF2B5EF4-FFF2-40B4-BE49-F238E27FC236}">
                <a16:creationId xmlns:a16="http://schemas.microsoft.com/office/drawing/2014/main" id="{344AE1D5-69BF-438A-A8B7-893202966694}"/>
              </a:ext>
            </a:extLst>
          </p:cNvPr>
          <p:cNvSpPr>
            <a:spLocks xmlns:a="http://schemas.openxmlformats.org/drawingml/2006/main" noGrp="1"/>
          </p:cNvSpPr>
          <p:nvPr/>
        </p:nvSpPr>
        <p:spPr>
          <a:xfrm xmlns:a="http://schemas.openxmlformats.org/drawingml/2006/main">
            <a:off x="6381750" y="1543050"/>
            <a:ext cx="1752600" cy="495300"/>
          </a:xfrm>
          <a:prstGeom xmlns:a="http://schemas.openxmlformats.org/drawingml/2006/main" prst="roundRect">
            <a:avLst>
              <a:gd name="adj" fmla="val 23077"/>
            </a:avLst>
          </a:prstGeom>
          <a:solidFill xmlns:a="http://schemas.openxmlformats.org/drawingml/2006/main">
            <a:srgbClr val="18372D"/>
          </a:solidFill>
          <a:ln xmlns:a="http://schemas.openxmlformats.org/drawingml/2006/main" w="9525">
            <a:solidFill>
              <a:srgbClr val="D1832E"/>
            </a:solidFill>
            <a:prstDash val="solid"/>
          </a:ln>
        </p:spPr>
      </p:sp>
      <p:sp>
        <p:nvSpPr>
          <p:cNvPr id="11" name="">
            <a:extLst xmlns:a="http://schemas.openxmlformats.org/drawingml/2006/main">
              <a:ext uri="{FF2B5EF4-FFF2-40B4-BE49-F238E27FC236}">
                <a16:creationId xmlns:a16="http://schemas.microsoft.com/office/drawing/2014/main" id="{71621FD2-E041-4C0A-9870-BF8611952A85}"/>
              </a:ext>
            </a:extLst>
          </p:cNvPr>
          <p:cNvSpPr>
            <a:spLocks xmlns:a="http://schemas.openxmlformats.org/drawingml/2006/main" noGrp="1"/>
          </p:cNvSpPr>
          <p:nvPr/>
        </p:nvSpPr>
        <p:spPr>
          <a:xfrm xmlns:a="http://schemas.openxmlformats.org/drawingml/2006/main">
            <a:off x="6515100" y="1628775"/>
            <a:ext cx="1466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i="0">
                <a:solidFill>
                  <a:srgbClr val="E6A34E"/>
                </a:solidFill>
                <a:latin typeface="Aptos"/>
                <a:ea typeface="Aptos"/>
                <a:cs typeface="Aptos"/>
              </a:defRPr>
            </a:pPr>
            <a:r>
              <a:rPr sz="900" b="1" i="0">
                <a:solidFill>
                  <a:srgbClr val="E6A34E"/>
                </a:solidFill>
                <a:latin typeface="Aptos"/>
                <a:ea typeface="Aptos"/>
                <a:cs typeface="Aptos"/>
              </a:rPr>
              <a:t>KITCHEN</a:t>
            </a:r>
          </a:p>
        </p:txBody>
      </p:sp>
      <p:sp>
        <p:nvSpPr>
          <p:cNvPr id="12" name="">
            <a:extLst xmlns:a="http://schemas.openxmlformats.org/drawingml/2006/main">
              <a:ext uri="{FF2B5EF4-FFF2-40B4-BE49-F238E27FC236}">
                <a16:creationId xmlns:a16="http://schemas.microsoft.com/office/drawing/2014/main" id="{8CF855E8-4467-4B07-9980-CCF47852AF6D}"/>
              </a:ext>
            </a:extLst>
          </p:cNvPr>
          <p:cNvSpPr>
            <a:spLocks xmlns:a="http://schemas.openxmlformats.org/drawingml/2006/main" noGrp="1"/>
          </p:cNvSpPr>
          <p:nvPr/>
        </p:nvSpPr>
        <p:spPr>
          <a:xfrm xmlns:a="http://schemas.openxmlformats.org/drawingml/2006/main">
            <a:off x="6515100" y="1809750"/>
            <a:ext cx="14668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i="0">
                <a:solidFill>
                  <a:srgbClr val="F6F0E4"/>
                </a:solidFill>
                <a:latin typeface="Aptos"/>
                <a:ea typeface="Aptos"/>
                <a:cs typeface="Aptos"/>
              </a:defRPr>
            </a:pPr>
            <a:r>
              <a:rPr sz="825" b="0" i="0">
                <a:solidFill>
                  <a:srgbClr val="F6F0E4"/>
                </a:solidFill>
                <a:latin typeface="Aptos"/>
                <a:ea typeface="Aptos"/>
                <a:cs typeface="Aptos"/>
              </a:rPr>
              <a:t>Prioritized ticket flow</a:t>
            </a:r>
          </a:p>
        </p:txBody>
      </p:sp>
      <p:sp>
        <p:nvSpPr>
          <p:cNvPr id="13" name="">
            <a:extLst xmlns:a="http://schemas.openxmlformats.org/drawingml/2006/main">
              <a:ext uri="{FF2B5EF4-FFF2-40B4-BE49-F238E27FC236}">
                <a16:creationId xmlns:a16="http://schemas.microsoft.com/office/drawing/2014/main" id="{DC148B36-DA83-4BA0-9E22-82449635F725}"/>
              </a:ext>
            </a:extLst>
          </p:cNvPr>
          <p:cNvSpPr>
            <a:spLocks xmlns:a="http://schemas.openxmlformats.org/drawingml/2006/main" noGrp="1"/>
          </p:cNvSpPr>
          <p:nvPr/>
        </p:nvSpPr>
        <p:spPr>
          <a:xfrm xmlns:a="http://schemas.openxmlformats.org/drawingml/2006/main">
            <a:off x="628650" y="3905250"/>
            <a:ext cx="5372100" cy="2209800"/>
          </a:xfrm>
          <a:prstGeom xmlns:a="http://schemas.openxmlformats.org/drawingml/2006/main" prst="roundRect">
            <a:avLst>
              <a:gd name="adj" fmla="val 7759"/>
            </a:avLst>
          </a:prstGeom>
          <a:solidFill xmlns:a="http://schemas.openxmlformats.org/drawingml/2006/main">
            <a:srgbClr val="26302A"/>
          </a:solidFill>
          <a:ln xmlns:a="http://schemas.openxmlformats.org/drawingml/2006/main" w="9525">
            <a:solidFill>
              <a:srgbClr val="445148"/>
            </a:solidFill>
            <a:prstDash val="solid"/>
          </a:ln>
        </p:spPr>
        <p:style>
          <a:lnRef xmlns:a="http://schemas.openxmlformats.org/drawingml/2006/main" idx="0"/>
          <a:fillRef xmlns:a="http://schemas.openxmlformats.org/drawingml/2006/main" idx="0"/>
          <a:effectRef xmlns:a="http://schemas.openxmlformats.org/drawingml/2006/main" idx="7"/>
          <a:fontRef xmlns:a="http://schemas.openxmlformats.org/drawingml/2006/main" idx="major"/>
        </p:style>
      </p:sp>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546de3845d94480a"/>
          <a:srcRect xmlns:a="http://schemas.openxmlformats.org/drawingml/2006/main" l="0" t="14189" r="0" b="14189"/>
          <a:stretch xmlns:a="http://schemas.openxmlformats.org/drawingml/2006/main">
            <a:fillRect l="0" t="0" r="0" b="0"/>
          </a:stretch>
        </p:blipFill>
        <p:spPr>
          <a:xfrm xmlns:a="http://schemas.openxmlformats.org/drawingml/2006/main">
            <a:off x="666750" y="3943350"/>
            <a:ext cx="5295900" cy="2133600"/>
          </a:xfrm>
          <a:prstGeom xmlns:a="http://schemas.openxmlformats.org/drawingml/2006/main" prst="roundRect">
            <a:avLst>
              <a:gd name="adj" fmla="val 7143"/>
            </a:avLst>
          </a:prstGeom>
        </p:spPr>
      </p:pic>
      <p:sp>
        <p:nvSpPr>
          <p:cNvPr id="15" name="">
            <a:extLst xmlns:a="http://schemas.openxmlformats.org/drawingml/2006/main">
              <a:ext uri="{FF2B5EF4-FFF2-40B4-BE49-F238E27FC236}">
                <a16:creationId xmlns:a16="http://schemas.microsoft.com/office/drawing/2014/main" id="{C1524D4A-6A49-4788-97FD-ADC69F9711D0}"/>
              </a:ext>
            </a:extLst>
          </p:cNvPr>
          <p:cNvSpPr>
            <a:spLocks xmlns:a="http://schemas.openxmlformats.org/drawingml/2006/main" noGrp="1"/>
          </p:cNvSpPr>
          <p:nvPr/>
        </p:nvSpPr>
        <p:spPr>
          <a:xfrm xmlns:a="http://schemas.openxmlformats.org/drawingml/2006/main">
            <a:off x="819150" y="4095750"/>
            <a:ext cx="1752600" cy="495300"/>
          </a:xfrm>
          <a:prstGeom xmlns:a="http://schemas.openxmlformats.org/drawingml/2006/main" prst="roundRect">
            <a:avLst>
              <a:gd name="adj" fmla="val 23077"/>
            </a:avLst>
          </a:prstGeom>
          <a:solidFill xmlns:a="http://schemas.openxmlformats.org/drawingml/2006/main">
            <a:srgbClr val="18372D"/>
          </a:solidFill>
          <a:ln xmlns:a="http://schemas.openxmlformats.org/drawingml/2006/main" w="9525">
            <a:solidFill>
              <a:srgbClr val="D1832E"/>
            </a:solidFill>
            <a:prstDash val="solid"/>
          </a:ln>
        </p:spPr>
      </p:sp>
      <p:sp>
        <p:nvSpPr>
          <p:cNvPr id="16" name="">
            <a:extLst xmlns:a="http://schemas.openxmlformats.org/drawingml/2006/main">
              <a:ext uri="{FF2B5EF4-FFF2-40B4-BE49-F238E27FC236}">
                <a16:creationId xmlns:a16="http://schemas.microsoft.com/office/drawing/2014/main" id="{E986D4C0-EF9F-4D25-8E8C-47D6EFC1A93B}"/>
              </a:ext>
            </a:extLst>
          </p:cNvPr>
          <p:cNvSpPr>
            <a:spLocks xmlns:a="http://schemas.openxmlformats.org/drawingml/2006/main" noGrp="1"/>
          </p:cNvSpPr>
          <p:nvPr/>
        </p:nvSpPr>
        <p:spPr>
          <a:xfrm xmlns:a="http://schemas.openxmlformats.org/drawingml/2006/main">
            <a:off x="952500" y="4181475"/>
            <a:ext cx="1466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i="0">
                <a:solidFill>
                  <a:srgbClr val="E6A34E"/>
                </a:solidFill>
                <a:latin typeface="Aptos"/>
                <a:ea typeface="Aptos"/>
                <a:cs typeface="Aptos"/>
              </a:defRPr>
            </a:pPr>
            <a:r>
              <a:rPr sz="900" b="1" i="0">
                <a:solidFill>
                  <a:srgbClr val="E6A34E"/>
                </a:solidFill>
                <a:latin typeface="Aptos"/>
                <a:ea typeface="Aptos"/>
                <a:cs typeface="Aptos"/>
              </a:rPr>
              <a:t>WAITER</a:t>
            </a:r>
          </a:p>
        </p:txBody>
      </p:sp>
      <p:sp>
        <p:nvSpPr>
          <p:cNvPr id="17" name="">
            <a:extLst xmlns:a="http://schemas.openxmlformats.org/drawingml/2006/main">
              <a:ext uri="{FF2B5EF4-FFF2-40B4-BE49-F238E27FC236}">
                <a16:creationId xmlns:a16="http://schemas.microsoft.com/office/drawing/2014/main" id="{9FB54511-638B-44F4-91C2-CFAF7F836594}"/>
              </a:ext>
            </a:extLst>
          </p:cNvPr>
          <p:cNvSpPr>
            <a:spLocks xmlns:a="http://schemas.openxmlformats.org/drawingml/2006/main" noGrp="1"/>
          </p:cNvSpPr>
          <p:nvPr/>
        </p:nvSpPr>
        <p:spPr>
          <a:xfrm xmlns:a="http://schemas.openxmlformats.org/drawingml/2006/main">
            <a:off x="952500" y="4362450"/>
            <a:ext cx="14668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i="0">
                <a:solidFill>
                  <a:srgbClr val="F6F0E4"/>
                </a:solidFill>
                <a:latin typeface="Aptos"/>
                <a:ea typeface="Aptos"/>
                <a:cs typeface="Aptos"/>
              </a:defRPr>
            </a:pPr>
            <a:r>
              <a:rPr sz="825" b="0" i="0">
                <a:solidFill>
                  <a:srgbClr val="F6F0E4"/>
                </a:solidFill>
                <a:latin typeface="Aptos"/>
                <a:ea typeface="Aptos"/>
                <a:cs typeface="Aptos"/>
              </a:rPr>
              <a:t>Tasks + table service</a:t>
            </a:r>
          </a:p>
        </p:txBody>
      </p:sp>
      <p:sp>
        <p:nvSpPr>
          <p:cNvPr id="18" name="">
            <a:extLst xmlns:a="http://schemas.openxmlformats.org/drawingml/2006/main">
              <a:ext uri="{FF2B5EF4-FFF2-40B4-BE49-F238E27FC236}">
                <a16:creationId xmlns:a16="http://schemas.microsoft.com/office/drawing/2014/main" id="{573ED0DF-1409-4438-B5BB-4F428CA7246A}"/>
              </a:ext>
            </a:extLst>
          </p:cNvPr>
          <p:cNvSpPr>
            <a:spLocks xmlns:a="http://schemas.openxmlformats.org/drawingml/2006/main" noGrp="1"/>
          </p:cNvSpPr>
          <p:nvPr/>
        </p:nvSpPr>
        <p:spPr>
          <a:xfrm xmlns:a="http://schemas.openxmlformats.org/drawingml/2006/main">
            <a:off x="6191250" y="3905250"/>
            <a:ext cx="5372100" cy="2209800"/>
          </a:xfrm>
          <a:prstGeom xmlns:a="http://schemas.openxmlformats.org/drawingml/2006/main" prst="roundRect">
            <a:avLst>
              <a:gd name="adj" fmla="val 7759"/>
            </a:avLst>
          </a:prstGeom>
          <a:solidFill xmlns:a="http://schemas.openxmlformats.org/drawingml/2006/main">
            <a:srgbClr val="26302A"/>
          </a:solidFill>
          <a:ln xmlns:a="http://schemas.openxmlformats.org/drawingml/2006/main" w="9525">
            <a:solidFill>
              <a:srgbClr val="445148"/>
            </a:solidFill>
            <a:prstDash val="solid"/>
          </a:ln>
        </p:spPr>
        <p:style>
          <a:lnRef xmlns:a="http://schemas.openxmlformats.org/drawingml/2006/main" idx="0"/>
          <a:fillRef xmlns:a="http://schemas.openxmlformats.org/drawingml/2006/main" idx="0"/>
          <a:effectRef xmlns:a="http://schemas.openxmlformats.org/drawingml/2006/main" idx="7"/>
          <a:fontRef xmlns:a="http://schemas.openxmlformats.org/drawingml/2006/main" idx="major"/>
        </p:style>
      </p:sp>
      <p:pic>
        <p:nvPicPr>
          <p:cNvPr id="44" name=""/>
          <p:cNvPicPr>
            <a:picLocks xmlns:a="http://schemas.openxmlformats.org/drawingml/2006/main" noChangeAspect="1"/>
          </p:cNvPicPr>
          <p:nvPr/>
        </p:nvPicPr>
        <p:blipFill>
          <a:blip xmlns:r="http://schemas.openxmlformats.org/officeDocument/2006/relationships" xmlns:a="http://schemas.openxmlformats.org/drawingml/2006/main" r:embed="Ra7f23f4453b140e5"/>
          <a:srcRect xmlns:a="http://schemas.openxmlformats.org/drawingml/2006/main" l="0" t="14189" r="0" b="14189"/>
          <a:stretch xmlns:a="http://schemas.openxmlformats.org/drawingml/2006/main">
            <a:fillRect l="0" t="0" r="0" b="0"/>
          </a:stretch>
        </p:blipFill>
        <p:spPr>
          <a:xfrm xmlns:a="http://schemas.openxmlformats.org/drawingml/2006/main">
            <a:off x="6229350" y="3943350"/>
            <a:ext cx="5295900" cy="2133600"/>
          </a:xfrm>
          <a:prstGeom xmlns:a="http://schemas.openxmlformats.org/drawingml/2006/main" prst="roundRect">
            <a:avLst>
              <a:gd name="adj" fmla="val 7143"/>
            </a:avLst>
          </a:prstGeom>
        </p:spPr>
      </p:pic>
      <p:sp>
        <p:nvSpPr>
          <p:cNvPr id="20" name="">
            <a:extLst xmlns:a="http://schemas.openxmlformats.org/drawingml/2006/main">
              <a:ext uri="{FF2B5EF4-FFF2-40B4-BE49-F238E27FC236}">
                <a16:creationId xmlns:a16="http://schemas.microsoft.com/office/drawing/2014/main" id="{A60D9AEA-93B6-4061-A2DF-2BC96EBD63C1}"/>
              </a:ext>
            </a:extLst>
          </p:cNvPr>
          <p:cNvSpPr>
            <a:spLocks xmlns:a="http://schemas.openxmlformats.org/drawingml/2006/main" noGrp="1"/>
          </p:cNvSpPr>
          <p:nvPr/>
        </p:nvSpPr>
        <p:spPr>
          <a:xfrm xmlns:a="http://schemas.openxmlformats.org/drawingml/2006/main">
            <a:off x="6381750" y="4095750"/>
            <a:ext cx="1752600" cy="495300"/>
          </a:xfrm>
          <a:prstGeom xmlns:a="http://schemas.openxmlformats.org/drawingml/2006/main" prst="roundRect">
            <a:avLst>
              <a:gd name="adj" fmla="val 23077"/>
            </a:avLst>
          </a:prstGeom>
          <a:solidFill xmlns:a="http://schemas.openxmlformats.org/drawingml/2006/main">
            <a:srgbClr val="18372D"/>
          </a:solidFill>
          <a:ln xmlns:a="http://schemas.openxmlformats.org/drawingml/2006/main" w="9525">
            <a:solidFill>
              <a:srgbClr val="D1832E"/>
            </a:solidFill>
            <a:prstDash val="solid"/>
          </a:ln>
        </p:spPr>
      </p:sp>
      <p:sp>
        <p:nvSpPr>
          <p:cNvPr id="21" name="">
            <a:extLst xmlns:a="http://schemas.openxmlformats.org/drawingml/2006/main">
              <a:ext uri="{FF2B5EF4-FFF2-40B4-BE49-F238E27FC236}">
                <a16:creationId xmlns:a16="http://schemas.microsoft.com/office/drawing/2014/main" id="{72A11B97-A3C8-4A84-BA0E-A93779464669}"/>
              </a:ext>
            </a:extLst>
          </p:cNvPr>
          <p:cNvSpPr>
            <a:spLocks xmlns:a="http://schemas.openxmlformats.org/drawingml/2006/main" noGrp="1"/>
          </p:cNvSpPr>
          <p:nvPr/>
        </p:nvSpPr>
        <p:spPr>
          <a:xfrm xmlns:a="http://schemas.openxmlformats.org/drawingml/2006/main">
            <a:off x="6515100" y="4181475"/>
            <a:ext cx="1466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i="0">
                <a:solidFill>
                  <a:srgbClr val="E6A34E"/>
                </a:solidFill>
                <a:latin typeface="Aptos"/>
                <a:ea typeface="Aptos"/>
                <a:cs typeface="Aptos"/>
              </a:defRPr>
            </a:pPr>
            <a:r>
              <a:rPr sz="900" b="1" i="0">
                <a:solidFill>
                  <a:srgbClr val="E6A34E"/>
                </a:solidFill>
                <a:latin typeface="Aptos"/>
                <a:ea typeface="Aptos"/>
                <a:cs typeface="Aptos"/>
              </a:rPr>
              <a:t>MANAGER</a:t>
            </a:r>
          </a:p>
        </p:txBody>
      </p:sp>
      <p:sp>
        <p:nvSpPr>
          <p:cNvPr id="22" name="">
            <a:extLst xmlns:a="http://schemas.openxmlformats.org/drawingml/2006/main">
              <a:ext uri="{FF2B5EF4-FFF2-40B4-BE49-F238E27FC236}">
                <a16:creationId xmlns:a16="http://schemas.microsoft.com/office/drawing/2014/main" id="{BC1CACEA-87F5-4002-9E27-D38D25B3C18A}"/>
              </a:ext>
            </a:extLst>
          </p:cNvPr>
          <p:cNvSpPr>
            <a:spLocks xmlns:a="http://schemas.openxmlformats.org/drawingml/2006/main" noGrp="1"/>
          </p:cNvSpPr>
          <p:nvPr/>
        </p:nvSpPr>
        <p:spPr>
          <a:xfrm xmlns:a="http://schemas.openxmlformats.org/drawingml/2006/main">
            <a:off x="6515100" y="4362450"/>
            <a:ext cx="14668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i="0">
                <a:solidFill>
                  <a:srgbClr val="F6F0E4"/>
                </a:solidFill>
                <a:latin typeface="Aptos"/>
                <a:ea typeface="Aptos"/>
                <a:cs typeface="Aptos"/>
              </a:defRPr>
            </a:pPr>
            <a:r>
              <a:rPr sz="825" b="0" i="0">
                <a:solidFill>
                  <a:srgbClr val="F6F0E4"/>
                </a:solidFill>
                <a:latin typeface="Aptos"/>
                <a:ea typeface="Aptos"/>
                <a:cs typeface="Aptos"/>
              </a:rPr>
              <a:t>Command center</a:t>
            </a:r>
          </a:p>
        </p:txBody>
      </p:sp>
      <p:sp>
        <p:nvSpPr>
          <p:cNvPr id="23" name="">
            <a:extLst xmlns:a="http://schemas.openxmlformats.org/drawingml/2006/main">
              <a:ext uri="{FF2B5EF4-FFF2-40B4-BE49-F238E27FC236}">
                <a16:creationId xmlns:a16="http://schemas.microsoft.com/office/drawing/2014/main" id="{FB92898D-BF1B-4735-8406-D36CE01BB83E}"/>
              </a:ext>
            </a:extLst>
          </p:cNvPr>
          <p:cNvSpPr>
            <a:spLocks xmlns:a="http://schemas.openxmlformats.org/drawingml/2006/main" noGrp="1"/>
          </p:cNvSpPr>
          <p:nvPr/>
        </p:nvSpPr>
        <p:spPr>
          <a:xfrm xmlns:a="http://schemas.openxmlformats.org/drawingml/2006/main">
            <a:off x="666750" y="6496050"/>
            <a:ext cx="10858500" cy="0"/>
          </a:xfrm>
          <a:prstGeom xmlns:a="http://schemas.openxmlformats.org/drawingml/2006/main" prst="line">
            <a:avLst/>
          </a:prstGeom>
          <a:noFill xmlns:a="http://schemas.openxmlformats.org/drawingml/2006/main"/>
          <a:ln xmlns:a="http://schemas.openxmlformats.org/drawingml/2006/main" w="9525">
            <a:solidFill>
              <a:srgbClr val="365448"/>
            </a:solidFill>
            <a:prstDash val="solid"/>
          </a:ln>
        </p:spPr>
      </p:sp>
      <p:sp>
        <p:nvSpPr>
          <p:cNvPr id="24" name="">
            <a:extLst xmlns:a="http://schemas.openxmlformats.org/drawingml/2006/main">
              <a:ext uri="{FF2B5EF4-FFF2-40B4-BE49-F238E27FC236}">
                <a16:creationId xmlns:a16="http://schemas.microsoft.com/office/drawing/2014/main" id="{32581A6D-8E22-4C0B-B4C4-F7788FC10F7C}"/>
              </a:ext>
            </a:extLst>
          </p:cNvPr>
          <p:cNvSpPr>
            <a:spLocks xmlns:a="http://schemas.openxmlformats.org/drawingml/2006/main" noGrp="1"/>
          </p:cNvSpPr>
          <p:nvPr/>
        </p:nvSpPr>
        <p:spPr>
          <a:xfrm xmlns:a="http://schemas.openxmlformats.org/drawingml/2006/main">
            <a:off x="666750" y="6572250"/>
            <a:ext cx="3429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1" i="0">
                <a:solidFill>
                  <a:srgbClr val="B8C1BA"/>
                </a:solidFill>
                <a:latin typeface="Aptos"/>
                <a:ea typeface="Aptos"/>
                <a:cs typeface="Aptos"/>
              </a:defRPr>
            </a:pPr>
            <a:r>
              <a:rPr sz="750" b="1" i="0">
                <a:solidFill>
                  <a:srgbClr val="B8C1BA"/>
                </a:solidFill>
                <a:latin typeface="Aptos"/>
                <a:ea typeface="Aptos"/>
                <a:cs typeface="Aptos"/>
              </a:rPr>
              <a:t>FLOWDINE AI  /  VIBEATHON 6.0</a:t>
            </a:r>
          </a:p>
        </p:txBody>
      </p:sp>
      <p:sp>
        <p:nvSpPr>
          <p:cNvPr id="25" name="">
            <a:extLst xmlns:a="http://schemas.openxmlformats.org/drawingml/2006/main">
              <a:ext uri="{FF2B5EF4-FFF2-40B4-BE49-F238E27FC236}">
                <a16:creationId xmlns:a16="http://schemas.microsoft.com/office/drawing/2014/main" id="{B7E1C76E-5A46-4C01-97D4-6EA38DE0B86F}"/>
              </a:ext>
            </a:extLst>
          </p:cNvPr>
          <p:cNvSpPr>
            <a:spLocks xmlns:a="http://schemas.openxmlformats.org/drawingml/2006/main" noGrp="1"/>
          </p:cNvSpPr>
          <p:nvPr/>
        </p:nvSpPr>
        <p:spPr>
          <a:xfrm xmlns:a="http://schemas.openxmlformats.org/drawingml/2006/main">
            <a:off x="11049000" y="6572250"/>
            <a:ext cx="4762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750" b="1" i="0">
                <a:solidFill>
                  <a:srgbClr val="B8C1BA"/>
                </a:solidFill>
                <a:latin typeface="Aptos"/>
                <a:ea typeface="Aptos"/>
                <a:cs typeface="Aptos"/>
              </a:defRPr>
            </a:pPr>
            <a:r>
              <a:rPr sz="750" b="1" i="0">
                <a:solidFill>
                  <a:srgbClr val="B8C1BA"/>
                </a:solidFill>
                <a:latin typeface="Aptos"/>
                <a:ea typeface="Aptos"/>
                <a:cs typeface="Aptos"/>
              </a:rPr>
              <a:t>07</a:t>
            </a:r>
          </a:p>
        </p:txBody>
      </p:sp>
    </p:spTree>
    <p:extLst>
      <p:ext uri="{BB962C8B-B14F-4D97-AF65-F5344CB8AC3E}">
        <p14:creationId xmlns:p14="http://schemas.microsoft.com/office/powerpoint/2010/main" val="215570407"/>
      </p:ext>
    </p:extLst>
  </p:cSld>
</p:sld>
</file>

<file path=ppt/slides/slide8.xml><?xml version="1.0" encoding="utf-8"?>
<p:sld xmlns:p="http://schemas.openxmlformats.org/presentationml/2006/main">
  <p:cSld>
    <p:bg>
      <p:bgPr>
        <a:solidFill xmlns:a="http://schemas.openxmlformats.org/drawingml/2006/main">
          <a:srgbClr val="F6F0E4"/>
        </a:solidFill>
      </p:bgPr>
    </p:bg>
    <p:spTree>
      <p:nvGrpSpPr>
        <p:cNvPr id="1" name=""/>
        <p:cNvGrpSpPr/>
        <p:nvPr/>
      </p:nvGrpSpPr>
      <p:grpSpPr>
        <a:xfrm xmlns:a="http://schemas.openxmlformats.org/drawingml/2006/main"/>
      </p:grpSpPr>
      <p:sp>
        <p:nvSpPr>
          <p:cNvPr id="26" name="eyebrow-Intelligent operations">
            <a:extLst xmlns:a="http://schemas.openxmlformats.org/drawingml/2006/main">
              <a:ext uri="{FF2B5EF4-FFF2-40B4-BE49-F238E27FC236}">
                <a16:creationId xmlns:a16="http://schemas.microsoft.com/office/drawing/2014/main" id="{9A22924A-F456-4C06-9764-E73081D49E26}"/>
              </a:ext>
            </a:extLst>
          </p:cNvPr>
          <p:cNvSpPr>
            <a:spLocks xmlns:a="http://schemas.openxmlformats.org/drawingml/2006/main" noGrp="1"/>
          </p:cNvSpPr>
          <p:nvPr/>
        </p:nvSpPr>
        <p:spPr>
          <a:xfrm xmlns:a="http://schemas.openxmlformats.org/drawingml/2006/main">
            <a:off x="666750" y="400050"/>
            <a:ext cx="533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i="0">
                <a:solidFill>
                  <a:srgbClr val="D1832E"/>
                </a:solidFill>
                <a:latin typeface="Aptos"/>
                <a:ea typeface="Aptos"/>
                <a:cs typeface="Aptos"/>
              </a:defRPr>
            </a:pPr>
            <a:r>
              <a:rPr sz="975" b="1" i="0">
                <a:solidFill>
                  <a:srgbClr val="D1832E"/>
                </a:solidFill>
                <a:latin typeface="Aptos"/>
                <a:ea typeface="Aptos"/>
                <a:cs typeface="Aptos"/>
              </a:rPr>
              <a:t>INTELLIGENT OPERATIONS</a:t>
            </a:r>
          </a:p>
        </p:txBody>
      </p:sp>
      <p:sp>
        <p:nvSpPr>
          <p:cNvPr id="2" name="slide-title">
            <a:extLst xmlns:a="http://schemas.openxmlformats.org/drawingml/2006/main">
              <a:ext uri="{FF2B5EF4-FFF2-40B4-BE49-F238E27FC236}">
                <a16:creationId xmlns:a16="http://schemas.microsoft.com/office/drawing/2014/main" id="{95A00551-BE83-4452-A227-FA709A3BF42F}"/>
              </a:ext>
            </a:extLst>
          </p:cNvPr>
          <p:cNvSpPr>
            <a:spLocks xmlns:a="http://schemas.openxmlformats.org/drawingml/2006/main" noGrp="1"/>
          </p:cNvSpPr>
          <p:nvPr/>
        </p:nvSpPr>
        <p:spPr>
          <a:xfrm xmlns:a="http://schemas.openxmlformats.org/drawingml/2006/main">
            <a:off x="666750" y="704850"/>
            <a:ext cx="10858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000" b="0" i="0">
                <a:solidFill>
                  <a:srgbClr val="20241F"/>
                </a:solidFill>
                <a:latin typeface="Georgia"/>
                <a:ea typeface="Georgia"/>
                <a:cs typeface="Georgia"/>
              </a:defRPr>
            </a:pPr>
            <a:r>
              <a:rPr sz="3000" b="0" i="0">
                <a:solidFill>
                  <a:srgbClr val="20241F"/>
                </a:solidFill>
                <a:latin typeface="Georgia"/>
                <a:ea typeface="Georgia"/>
                <a:cs typeface="Georgia"/>
              </a:rPr>
              <a:t>AI advises. Deterministic signals stay in control.</a:t>
            </a:r>
          </a:p>
        </p:txBody>
      </p:sp>
      <p:sp>
        <p:nvSpPr>
          <p:cNvPr id="3" name="">
            <a:extLst xmlns:a="http://schemas.openxmlformats.org/drawingml/2006/main">
              <a:ext uri="{FF2B5EF4-FFF2-40B4-BE49-F238E27FC236}">
                <a16:creationId xmlns:a16="http://schemas.microsoft.com/office/drawing/2014/main" id="{146AF05B-A5F4-40EA-8152-95B80223288B}"/>
              </a:ext>
            </a:extLst>
          </p:cNvPr>
          <p:cNvSpPr>
            <a:spLocks xmlns:a="http://schemas.openxmlformats.org/drawingml/2006/main" noGrp="1"/>
          </p:cNvSpPr>
          <p:nvPr/>
        </p:nvSpPr>
        <p:spPr>
          <a:xfrm xmlns:a="http://schemas.openxmlformats.org/drawingml/2006/main">
            <a:off x="666750" y="1257300"/>
            <a:ext cx="7524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i="0">
                <a:solidFill>
                  <a:srgbClr val="6E7068"/>
                </a:solidFill>
                <a:latin typeface="Aptos"/>
                <a:ea typeface="Aptos"/>
                <a:cs typeface="Aptos"/>
              </a:defRPr>
            </a:pPr>
            <a:r>
              <a:rPr sz="1350" b="0" i="0">
                <a:solidFill>
                  <a:srgbClr val="6E7068"/>
                </a:solidFill>
                <a:latin typeface="Aptos"/>
                <a:ea typeface="Aptos"/>
                <a:cs typeface="Aptos"/>
              </a:rPr>
              <a:t>The manager gets prioritized action, not another dashboard to interpret.</a:t>
            </a:r>
          </a:p>
        </p:txBody>
      </p:sp>
      <p:sp>
        <p:nvSpPr>
          <p:cNvPr id="4" name="">
            <a:extLst xmlns:a="http://schemas.openxmlformats.org/drawingml/2006/main">
              <a:ext uri="{FF2B5EF4-FFF2-40B4-BE49-F238E27FC236}">
                <a16:creationId xmlns:a16="http://schemas.microsoft.com/office/drawing/2014/main" id="{5BEB37F1-B3E0-4C95-94AF-FF633D2EA923}"/>
              </a:ext>
            </a:extLst>
          </p:cNvPr>
          <p:cNvSpPr>
            <a:spLocks xmlns:a="http://schemas.openxmlformats.org/drawingml/2006/main" noGrp="1"/>
          </p:cNvSpPr>
          <p:nvPr/>
        </p:nvSpPr>
        <p:spPr>
          <a:xfrm xmlns:a="http://schemas.openxmlformats.org/drawingml/2006/main">
            <a:off x="666750" y="1924050"/>
            <a:ext cx="1190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i="0">
                <a:solidFill>
                  <a:srgbClr val="D1832E"/>
                </a:solidFill>
                <a:latin typeface="Aptos"/>
                <a:ea typeface="Aptos"/>
                <a:cs typeface="Aptos"/>
              </a:defRPr>
            </a:pPr>
            <a:r>
              <a:rPr sz="900" b="1" i="0">
                <a:solidFill>
                  <a:srgbClr val="D1832E"/>
                </a:solidFill>
                <a:latin typeface="Aptos"/>
                <a:ea typeface="Aptos"/>
                <a:cs typeface="Aptos"/>
              </a:rPr>
              <a:t>PREDICT</a:t>
            </a:r>
          </a:p>
        </p:txBody>
      </p:sp>
      <p:sp>
        <p:nvSpPr>
          <p:cNvPr id="5" name="">
            <a:extLst xmlns:a="http://schemas.openxmlformats.org/drawingml/2006/main">
              <a:ext uri="{FF2B5EF4-FFF2-40B4-BE49-F238E27FC236}">
                <a16:creationId xmlns:a16="http://schemas.microsoft.com/office/drawing/2014/main" id="{CD54D4D1-487A-4FEC-A58D-08F92B44616F}"/>
              </a:ext>
            </a:extLst>
          </p:cNvPr>
          <p:cNvSpPr>
            <a:spLocks xmlns:a="http://schemas.openxmlformats.org/drawingml/2006/main" noGrp="1"/>
          </p:cNvSpPr>
          <p:nvPr/>
        </p:nvSpPr>
        <p:spPr>
          <a:xfrm xmlns:a="http://schemas.openxmlformats.org/drawingml/2006/main">
            <a:off x="666750" y="2190750"/>
            <a:ext cx="31242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0" i="0">
                <a:solidFill>
                  <a:srgbClr val="20241F"/>
                </a:solidFill>
                <a:latin typeface="Georgia"/>
                <a:ea typeface="Georgia"/>
                <a:cs typeface="Georgia"/>
              </a:defRPr>
            </a:pPr>
            <a:r>
              <a:rPr sz="1650" b="0" i="0">
                <a:solidFill>
                  <a:srgbClr val="20241F"/>
                </a:solidFill>
                <a:latin typeface="Georgia"/>
                <a:ea typeface="Georgia"/>
                <a:cs typeface="Georgia"/>
              </a:rPr>
              <a:t>Demand forecast</a:t>
            </a:r>
          </a:p>
        </p:txBody>
      </p:sp>
      <p:sp>
        <p:nvSpPr>
          <p:cNvPr id="6" name="">
            <a:extLst xmlns:a="http://schemas.openxmlformats.org/drawingml/2006/main">
              <a:ext uri="{FF2B5EF4-FFF2-40B4-BE49-F238E27FC236}">
                <a16:creationId xmlns:a16="http://schemas.microsoft.com/office/drawing/2014/main" id="{A6227619-7F09-423E-BAFF-6FB2763F2487}"/>
              </a:ext>
            </a:extLst>
          </p:cNvPr>
          <p:cNvSpPr>
            <a:spLocks xmlns:a="http://schemas.openxmlformats.org/drawingml/2006/main" noGrp="1"/>
          </p:cNvSpPr>
          <p:nvPr/>
        </p:nvSpPr>
        <p:spPr>
          <a:xfrm xmlns:a="http://schemas.openxmlformats.org/drawingml/2006/main">
            <a:off x="666750" y="2505075"/>
            <a:ext cx="3238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i="0">
                <a:solidFill>
                  <a:srgbClr val="6E7068"/>
                </a:solidFill>
                <a:latin typeface="Aptos"/>
                <a:ea typeface="Aptos"/>
                <a:cs typeface="Aptos"/>
              </a:defRPr>
            </a:pPr>
            <a:r>
              <a:rPr sz="1050" b="0" i="0">
                <a:solidFill>
                  <a:srgbClr val="6E7068"/>
                </a:solidFill>
                <a:latin typeface="Aptos"/>
                <a:ea typeface="Aptos"/>
                <a:cs typeface="Aptos"/>
              </a:rPr>
              <a:t>Weighted recent service history</a:t>
            </a:r>
          </a:p>
        </p:txBody>
      </p:sp>
      <p:sp>
        <p:nvSpPr>
          <p:cNvPr id="7" name="">
            <a:extLst xmlns:a="http://schemas.openxmlformats.org/drawingml/2006/main">
              <a:ext uri="{FF2B5EF4-FFF2-40B4-BE49-F238E27FC236}">
                <a16:creationId xmlns:a16="http://schemas.microsoft.com/office/drawing/2014/main" id="{D54BEC90-DF71-4A18-A18C-B004BBC7CB0D}"/>
              </a:ext>
            </a:extLst>
          </p:cNvPr>
          <p:cNvSpPr>
            <a:spLocks xmlns:a="http://schemas.openxmlformats.org/drawingml/2006/main" noGrp="1"/>
          </p:cNvSpPr>
          <p:nvPr/>
        </p:nvSpPr>
        <p:spPr>
          <a:xfrm xmlns:a="http://schemas.openxmlformats.org/drawingml/2006/main">
            <a:off x="666750" y="2762250"/>
            <a:ext cx="3238500" cy="0"/>
          </a:xfrm>
          <a:prstGeom xmlns:a="http://schemas.openxmlformats.org/drawingml/2006/main" prst="line">
            <a:avLst/>
          </a:prstGeom>
          <a:noFill xmlns:a="http://schemas.openxmlformats.org/drawingml/2006/main"/>
          <a:ln xmlns:a="http://schemas.openxmlformats.org/drawingml/2006/main" w="9525">
            <a:solidFill>
              <a:srgbClr val="D8D0C2"/>
            </a:solidFill>
            <a:prstDash val="solid"/>
          </a:ln>
        </p:spPr>
      </p:sp>
      <p:sp>
        <p:nvSpPr>
          <p:cNvPr id="8" name="">
            <a:extLst xmlns:a="http://schemas.openxmlformats.org/drawingml/2006/main">
              <a:ext uri="{FF2B5EF4-FFF2-40B4-BE49-F238E27FC236}">
                <a16:creationId xmlns:a16="http://schemas.microsoft.com/office/drawing/2014/main" id="{44B52736-34F7-4617-AC6F-2A2526FA83B5}"/>
              </a:ext>
            </a:extLst>
          </p:cNvPr>
          <p:cNvSpPr>
            <a:spLocks xmlns:a="http://schemas.openxmlformats.org/drawingml/2006/main" noGrp="1"/>
          </p:cNvSpPr>
          <p:nvPr/>
        </p:nvSpPr>
        <p:spPr>
          <a:xfrm xmlns:a="http://schemas.openxmlformats.org/drawingml/2006/main">
            <a:off x="666750" y="2838450"/>
            <a:ext cx="1190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i="0">
                <a:solidFill>
                  <a:srgbClr val="D1832E"/>
                </a:solidFill>
                <a:latin typeface="Aptos"/>
                <a:ea typeface="Aptos"/>
                <a:cs typeface="Aptos"/>
              </a:defRPr>
            </a:pPr>
            <a:r>
              <a:rPr sz="900" b="1" i="0">
                <a:solidFill>
                  <a:srgbClr val="D1832E"/>
                </a:solidFill>
                <a:latin typeface="Aptos"/>
                <a:ea typeface="Aptos"/>
                <a:cs typeface="Aptos"/>
              </a:rPr>
              <a:t>PROTECT</a:t>
            </a:r>
          </a:p>
        </p:txBody>
      </p:sp>
      <p:sp>
        <p:nvSpPr>
          <p:cNvPr id="9" name="">
            <a:extLst xmlns:a="http://schemas.openxmlformats.org/drawingml/2006/main">
              <a:ext uri="{FF2B5EF4-FFF2-40B4-BE49-F238E27FC236}">
                <a16:creationId xmlns:a16="http://schemas.microsoft.com/office/drawing/2014/main" id="{B85BE5C5-5F34-4381-9FDB-10BF9848C70D}"/>
              </a:ext>
            </a:extLst>
          </p:cNvPr>
          <p:cNvSpPr>
            <a:spLocks xmlns:a="http://schemas.openxmlformats.org/drawingml/2006/main" noGrp="1"/>
          </p:cNvSpPr>
          <p:nvPr/>
        </p:nvSpPr>
        <p:spPr>
          <a:xfrm xmlns:a="http://schemas.openxmlformats.org/drawingml/2006/main">
            <a:off x="666750" y="3105150"/>
            <a:ext cx="31242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0" i="0">
                <a:solidFill>
                  <a:srgbClr val="20241F"/>
                </a:solidFill>
                <a:latin typeface="Georgia"/>
                <a:ea typeface="Georgia"/>
                <a:cs typeface="Georgia"/>
              </a:defRPr>
            </a:pPr>
            <a:r>
              <a:rPr sz="1650" b="0" i="0">
                <a:solidFill>
                  <a:srgbClr val="20241F"/>
                </a:solidFill>
                <a:latin typeface="Georgia"/>
                <a:ea typeface="Georgia"/>
                <a:cs typeface="Georgia"/>
              </a:rPr>
              <a:t>Stockout watch</a:t>
            </a:r>
          </a:p>
        </p:txBody>
      </p:sp>
      <p:sp>
        <p:nvSpPr>
          <p:cNvPr id="10" name="">
            <a:extLst xmlns:a="http://schemas.openxmlformats.org/drawingml/2006/main">
              <a:ext uri="{FF2B5EF4-FFF2-40B4-BE49-F238E27FC236}">
                <a16:creationId xmlns:a16="http://schemas.microsoft.com/office/drawing/2014/main" id="{DBC4632E-FA46-41AD-BADC-386327B973D7}"/>
              </a:ext>
            </a:extLst>
          </p:cNvPr>
          <p:cNvSpPr>
            <a:spLocks xmlns:a="http://schemas.openxmlformats.org/drawingml/2006/main" noGrp="1"/>
          </p:cNvSpPr>
          <p:nvPr/>
        </p:nvSpPr>
        <p:spPr>
          <a:xfrm xmlns:a="http://schemas.openxmlformats.org/drawingml/2006/main">
            <a:off x="666750" y="3419475"/>
            <a:ext cx="3238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i="0">
                <a:solidFill>
                  <a:srgbClr val="6E7068"/>
                </a:solidFill>
                <a:latin typeface="Aptos"/>
                <a:ea typeface="Aptos"/>
                <a:cs typeface="Aptos"/>
              </a:defRPr>
            </a:pPr>
            <a:r>
              <a:rPr sz="1050" b="0" i="0">
                <a:solidFill>
                  <a:srgbClr val="6E7068"/>
                </a:solidFill>
                <a:latin typeface="Aptos"/>
                <a:ea typeface="Aptos"/>
                <a:cs typeface="Aptos"/>
              </a:rPr>
              <a:t>Recipe-aware inventory risk</a:t>
            </a:r>
          </a:p>
        </p:txBody>
      </p:sp>
      <p:sp>
        <p:nvSpPr>
          <p:cNvPr id="11" name="">
            <a:extLst xmlns:a="http://schemas.openxmlformats.org/drawingml/2006/main">
              <a:ext uri="{FF2B5EF4-FFF2-40B4-BE49-F238E27FC236}">
                <a16:creationId xmlns:a16="http://schemas.microsoft.com/office/drawing/2014/main" id="{411790FC-431D-485D-9E04-1A8510F13379}"/>
              </a:ext>
            </a:extLst>
          </p:cNvPr>
          <p:cNvSpPr>
            <a:spLocks xmlns:a="http://schemas.openxmlformats.org/drawingml/2006/main" noGrp="1"/>
          </p:cNvSpPr>
          <p:nvPr/>
        </p:nvSpPr>
        <p:spPr>
          <a:xfrm xmlns:a="http://schemas.openxmlformats.org/drawingml/2006/main">
            <a:off x="666750" y="3676650"/>
            <a:ext cx="3238500" cy="0"/>
          </a:xfrm>
          <a:prstGeom xmlns:a="http://schemas.openxmlformats.org/drawingml/2006/main" prst="line">
            <a:avLst/>
          </a:prstGeom>
          <a:noFill xmlns:a="http://schemas.openxmlformats.org/drawingml/2006/main"/>
          <a:ln xmlns:a="http://schemas.openxmlformats.org/drawingml/2006/main" w="9525">
            <a:solidFill>
              <a:srgbClr val="D8D0C2"/>
            </a:solidFill>
            <a:prstDash val="solid"/>
          </a:ln>
        </p:spPr>
      </p:sp>
      <p:sp>
        <p:nvSpPr>
          <p:cNvPr id="12" name="">
            <a:extLst xmlns:a="http://schemas.openxmlformats.org/drawingml/2006/main">
              <a:ext uri="{FF2B5EF4-FFF2-40B4-BE49-F238E27FC236}">
                <a16:creationId xmlns:a16="http://schemas.microsoft.com/office/drawing/2014/main" id="{74AE82D4-7301-4A4E-8C83-0725044AA596}"/>
              </a:ext>
            </a:extLst>
          </p:cNvPr>
          <p:cNvSpPr>
            <a:spLocks xmlns:a="http://schemas.openxmlformats.org/drawingml/2006/main" noGrp="1"/>
          </p:cNvSpPr>
          <p:nvPr/>
        </p:nvSpPr>
        <p:spPr>
          <a:xfrm xmlns:a="http://schemas.openxmlformats.org/drawingml/2006/main">
            <a:off x="666750" y="3752850"/>
            <a:ext cx="1190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i="0">
                <a:solidFill>
                  <a:srgbClr val="A44E43"/>
                </a:solidFill>
                <a:latin typeface="Aptos"/>
                <a:ea typeface="Aptos"/>
                <a:cs typeface="Aptos"/>
              </a:defRPr>
            </a:pPr>
            <a:r>
              <a:rPr sz="900" b="1" i="0">
                <a:solidFill>
                  <a:srgbClr val="A44E43"/>
                </a:solidFill>
                <a:latin typeface="Aptos"/>
                <a:ea typeface="Aptos"/>
                <a:cs typeface="Aptos"/>
              </a:rPr>
              <a:t>PRIORITIZE</a:t>
            </a:r>
          </a:p>
        </p:txBody>
      </p:sp>
      <p:sp>
        <p:nvSpPr>
          <p:cNvPr id="13" name="">
            <a:extLst xmlns:a="http://schemas.openxmlformats.org/drawingml/2006/main">
              <a:ext uri="{FF2B5EF4-FFF2-40B4-BE49-F238E27FC236}">
                <a16:creationId xmlns:a16="http://schemas.microsoft.com/office/drawing/2014/main" id="{25D78E19-368A-4CE7-960E-ED043E08267C}"/>
              </a:ext>
            </a:extLst>
          </p:cNvPr>
          <p:cNvSpPr>
            <a:spLocks xmlns:a="http://schemas.openxmlformats.org/drawingml/2006/main" noGrp="1"/>
          </p:cNvSpPr>
          <p:nvPr/>
        </p:nvSpPr>
        <p:spPr>
          <a:xfrm xmlns:a="http://schemas.openxmlformats.org/drawingml/2006/main">
            <a:off x="666750" y="4019550"/>
            <a:ext cx="31242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0" i="0">
                <a:solidFill>
                  <a:srgbClr val="20241F"/>
                </a:solidFill>
                <a:latin typeface="Georgia"/>
                <a:ea typeface="Georgia"/>
                <a:cs typeface="Georgia"/>
              </a:defRPr>
            </a:pPr>
            <a:r>
              <a:rPr sz="1650" b="0" i="0">
                <a:solidFill>
                  <a:srgbClr val="20241F"/>
                </a:solidFill>
                <a:latin typeface="Georgia"/>
                <a:ea typeface="Georgia"/>
                <a:cs typeface="Georgia"/>
              </a:rPr>
              <a:t>Bottleneck detection</a:t>
            </a:r>
          </a:p>
        </p:txBody>
      </p:sp>
      <p:sp>
        <p:nvSpPr>
          <p:cNvPr id="14" name="">
            <a:extLst xmlns:a="http://schemas.openxmlformats.org/drawingml/2006/main">
              <a:ext uri="{FF2B5EF4-FFF2-40B4-BE49-F238E27FC236}">
                <a16:creationId xmlns:a16="http://schemas.microsoft.com/office/drawing/2014/main" id="{FCDD6A84-37BC-4A92-ACD0-5C08A6C1E6D6}"/>
              </a:ext>
            </a:extLst>
          </p:cNvPr>
          <p:cNvSpPr>
            <a:spLocks xmlns:a="http://schemas.openxmlformats.org/drawingml/2006/main" noGrp="1"/>
          </p:cNvSpPr>
          <p:nvPr/>
        </p:nvSpPr>
        <p:spPr>
          <a:xfrm xmlns:a="http://schemas.openxmlformats.org/drawingml/2006/main">
            <a:off x="666750" y="4333875"/>
            <a:ext cx="3238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i="0">
                <a:solidFill>
                  <a:srgbClr val="6E7068"/>
                </a:solidFill>
                <a:latin typeface="Aptos"/>
                <a:ea typeface="Aptos"/>
                <a:cs typeface="Aptos"/>
              </a:defRPr>
            </a:pPr>
            <a:r>
              <a:rPr sz="1050" b="0" i="0">
                <a:solidFill>
                  <a:srgbClr val="6E7068"/>
                </a:solidFill>
                <a:latin typeface="Aptos"/>
                <a:ea typeface="Aptos"/>
                <a:cs typeface="Aptos"/>
              </a:rPr>
              <a:t>Late tickets and service pressure</a:t>
            </a:r>
          </a:p>
        </p:txBody>
      </p:sp>
      <p:sp>
        <p:nvSpPr>
          <p:cNvPr id="15" name="">
            <a:extLst xmlns:a="http://schemas.openxmlformats.org/drawingml/2006/main">
              <a:ext uri="{FF2B5EF4-FFF2-40B4-BE49-F238E27FC236}">
                <a16:creationId xmlns:a16="http://schemas.microsoft.com/office/drawing/2014/main" id="{533F292C-0627-40C5-9CC6-50EBD4931EF3}"/>
              </a:ext>
            </a:extLst>
          </p:cNvPr>
          <p:cNvSpPr>
            <a:spLocks xmlns:a="http://schemas.openxmlformats.org/drawingml/2006/main" noGrp="1"/>
          </p:cNvSpPr>
          <p:nvPr/>
        </p:nvSpPr>
        <p:spPr>
          <a:xfrm xmlns:a="http://schemas.openxmlformats.org/drawingml/2006/main">
            <a:off x="666750" y="4591050"/>
            <a:ext cx="3238500" cy="0"/>
          </a:xfrm>
          <a:prstGeom xmlns:a="http://schemas.openxmlformats.org/drawingml/2006/main" prst="line">
            <a:avLst/>
          </a:prstGeom>
          <a:noFill xmlns:a="http://schemas.openxmlformats.org/drawingml/2006/main"/>
          <a:ln xmlns:a="http://schemas.openxmlformats.org/drawingml/2006/main" w="9525">
            <a:solidFill>
              <a:srgbClr val="D8D0C2"/>
            </a:solidFill>
            <a:prstDash val="solid"/>
          </a:ln>
        </p:spPr>
      </p:sp>
      <p:sp>
        <p:nvSpPr>
          <p:cNvPr id="16" name="">
            <a:extLst xmlns:a="http://schemas.openxmlformats.org/drawingml/2006/main">
              <a:ext uri="{FF2B5EF4-FFF2-40B4-BE49-F238E27FC236}">
                <a16:creationId xmlns:a16="http://schemas.microsoft.com/office/drawing/2014/main" id="{7E0D1BA8-72F6-4AA5-99C7-D03DB3993EF1}"/>
              </a:ext>
            </a:extLst>
          </p:cNvPr>
          <p:cNvSpPr>
            <a:spLocks xmlns:a="http://schemas.openxmlformats.org/drawingml/2006/main" noGrp="1"/>
          </p:cNvSpPr>
          <p:nvPr/>
        </p:nvSpPr>
        <p:spPr>
          <a:xfrm xmlns:a="http://schemas.openxmlformats.org/drawingml/2006/main">
            <a:off x="666750" y="4667250"/>
            <a:ext cx="1190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i="0">
                <a:solidFill>
                  <a:srgbClr val="D1832E"/>
                </a:solidFill>
                <a:latin typeface="Aptos"/>
                <a:ea typeface="Aptos"/>
                <a:cs typeface="Aptos"/>
              </a:defRPr>
            </a:pPr>
            <a:r>
              <a:rPr sz="900" b="1" i="0">
                <a:solidFill>
                  <a:srgbClr val="D1832E"/>
                </a:solidFill>
                <a:latin typeface="Aptos"/>
                <a:ea typeface="Aptos"/>
                <a:cs typeface="Aptos"/>
              </a:rPr>
              <a:t>RECOMMEND</a:t>
            </a:r>
          </a:p>
        </p:txBody>
      </p:sp>
      <p:sp>
        <p:nvSpPr>
          <p:cNvPr id="17" name="">
            <a:extLst xmlns:a="http://schemas.openxmlformats.org/drawingml/2006/main">
              <a:ext uri="{FF2B5EF4-FFF2-40B4-BE49-F238E27FC236}">
                <a16:creationId xmlns:a16="http://schemas.microsoft.com/office/drawing/2014/main" id="{405FEBAE-237C-426E-BE0F-7BD2CAFDEF54}"/>
              </a:ext>
            </a:extLst>
          </p:cNvPr>
          <p:cNvSpPr>
            <a:spLocks xmlns:a="http://schemas.openxmlformats.org/drawingml/2006/main" noGrp="1"/>
          </p:cNvSpPr>
          <p:nvPr/>
        </p:nvSpPr>
        <p:spPr>
          <a:xfrm xmlns:a="http://schemas.openxmlformats.org/drawingml/2006/main">
            <a:off x="666750" y="4933950"/>
            <a:ext cx="31242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0" i="0">
                <a:solidFill>
                  <a:srgbClr val="20241F"/>
                </a:solidFill>
                <a:latin typeface="Georgia"/>
                <a:ea typeface="Georgia"/>
                <a:cs typeface="Georgia"/>
              </a:defRPr>
            </a:pPr>
            <a:r>
              <a:rPr sz="1650" b="0" i="0">
                <a:solidFill>
                  <a:srgbClr val="20241F"/>
                </a:solidFill>
                <a:latin typeface="Georgia"/>
                <a:ea typeface="Georgia"/>
                <a:cs typeface="Georgia"/>
              </a:rPr>
              <a:t>Smart suggestions</a:t>
            </a:r>
          </a:p>
        </p:txBody>
      </p:sp>
      <p:sp>
        <p:nvSpPr>
          <p:cNvPr id="18" name="">
            <a:extLst xmlns:a="http://schemas.openxmlformats.org/drawingml/2006/main">
              <a:ext uri="{FF2B5EF4-FFF2-40B4-BE49-F238E27FC236}">
                <a16:creationId xmlns:a16="http://schemas.microsoft.com/office/drawing/2014/main" id="{1B864538-130A-426C-9C40-FA1ED8FD531D}"/>
              </a:ext>
            </a:extLst>
          </p:cNvPr>
          <p:cNvSpPr>
            <a:spLocks xmlns:a="http://schemas.openxmlformats.org/drawingml/2006/main" noGrp="1"/>
          </p:cNvSpPr>
          <p:nvPr/>
        </p:nvSpPr>
        <p:spPr>
          <a:xfrm xmlns:a="http://schemas.openxmlformats.org/drawingml/2006/main">
            <a:off x="666750" y="5248275"/>
            <a:ext cx="3238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i="0">
                <a:solidFill>
                  <a:srgbClr val="6E7068"/>
                </a:solidFill>
                <a:latin typeface="Aptos"/>
                <a:ea typeface="Aptos"/>
                <a:cs typeface="Aptos"/>
              </a:defRPr>
            </a:pPr>
            <a:r>
              <a:rPr sz="1050" b="0" i="0">
                <a:solidFill>
                  <a:srgbClr val="6E7068"/>
                </a:solidFill>
                <a:latin typeface="Aptos"/>
                <a:ea typeface="Aptos"/>
                <a:cs typeface="Aptos"/>
              </a:rPr>
              <a:t>Available, popular, load-safe dishes</a:t>
            </a:r>
          </a:p>
        </p:txBody>
      </p:sp>
      <p:sp>
        <p:nvSpPr>
          <p:cNvPr id="19" name="">
            <a:extLst xmlns:a="http://schemas.openxmlformats.org/drawingml/2006/main">
              <a:ext uri="{FF2B5EF4-FFF2-40B4-BE49-F238E27FC236}">
                <a16:creationId xmlns:a16="http://schemas.microsoft.com/office/drawing/2014/main" id="{C62286EA-FB80-43D6-9CB6-618119B33183}"/>
              </a:ext>
            </a:extLst>
          </p:cNvPr>
          <p:cNvSpPr>
            <a:spLocks xmlns:a="http://schemas.openxmlformats.org/drawingml/2006/main" noGrp="1"/>
          </p:cNvSpPr>
          <p:nvPr/>
        </p:nvSpPr>
        <p:spPr>
          <a:xfrm xmlns:a="http://schemas.openxmlformats.org/drawingml/2006/main">
            <a:off x="4248150" y="1733550"/>
            <a:ext cx="7315200" cy="4095750"/>
          </a:xfrm>
          <a:prstGeom xmlns:a="http://schemas.openxmlformats.org/drawingml/2006/main" prst="roundRect">
            <a:avLst>
              <a:gd name="adj" fmla="val 4186"/>
            </a:avLst>
          </a:prstGeom>
          <a:solidFill xmlns:a="http://schemas.openxmlformats.org/drawingml/2006/main">
            <a:srgbClr val="FFFDF8"/>
          </a:solidFill>
          <a:ln xmlns:a="http://schemas.openxmlformats.org/drawingml/2006/main" w="9525">
            <a:solidFill>
              <a:srgbClr val="D8D0C2"/>
            </a:solidFill>
            <a:prstDash val="solid"/>
          </a:ln>
        </p:spPr>
        <p:style>
          <a:lnRef xmlns:a="http://schemas.openxmlformats.org/drawingml/2006/main" idx="0"/>
          <a:fillRef xmlns:a="http://schemas.openxmlformats.org/drawingml/2006/main" idx="0"/>
          <a:effectRef xmlns:a="http://schemas.openxmlformats.org/drawingml/2006/main" idx="7"/>
          <a:fontRef xmlns:a="http://schemas.openxmlformats.org/drawingml/2006/main" idx="major"/>
        </p:style>
      </p:sp>
      <p:pic>
        <p:nvPicPr>
          <p:cNvPr id="45" name=""/>
          <p:cNvPicPr>
            <a:picLocks xmlns:a="http://schemas.openxmlformats.org/drawingml/2006/main" noChangeAspect="1"/>
          </p:cNvPicPr>
          <p:nvPr/>
        </p:nvPicPr>
        <p:blipFill>
          <a:blip xmlns:r="http://schemas.openxmlformats.org/officeDocument/2006/relationships" xmlns:a="http://schemas.openxmlformats.org/drawingml/2006/main" r:embed="Ra819894f78184514"/>
          <a:srcRect xmlns:a="http://schemas.openxmlformats.org/drawingml/2006/main" l="0" t="643" r="0" b="643"/>
          <a:stretch xmlns:a="http://schemas.openxmlformats.org/drawingml/2006/main">
            <a:fillRect l="0" t="0" r="0" b="0"/>
          </a:stretch>
        </p:blipFill>
        <p:spPr>
          <a:xfrm xmlns:a="http://schemas.openxmlformats.org/drawingml/2006/main">
            <a:off x="4286250" y="1771650"/>
            <a:ext cx="7239000" cy="4019550"/>
          </a:xfrm>
          <a:prstGeom xmlns:a="http://schemas.openxmlformats.org/drawingml/2006/main" prst="roundRect">
            <a:avLst>
              <a:gd name="adj" fmla="val 3791"/>
            </a:avLst>
          </a:prstGeom>
        </p:spPr>
      </p:pic>
      <p:sp>
        <p:nvSpPr>
          <p:cNvPr id="21" name="">
            <a:extLst xmlns:a="http://schemas.openxmlformats.org/drawingml/2006/main">
              <a:ext uri="{FF2B5EF4-FFF2-40B4-BE49-F238E27FC236}">
                <a16:creationId xmlns:a16="http://schemas.microsoft.com/office/drawing/2014/main" id="{A8EAF11D-05DD-47E1-BA49-C0DDD458527D}"/>
              </a:ext>
            </a:extLst>
          </p:cNvPr>
          <p:cNvSpPr>
            <a:spLocks xmlns:a="http://schemas.openxmlformats.org/drawingml/2006/main" noGrp="1"/>
          </p:cNvSpPr>
          <p:nvPr/>
        </p:nvSpPr>
        <p:spPr>
          <a:xfrm xmlns:a="http://schemas.openxmlformats.org/drawingml/2006/main">
            <a:off x="6762750" y="5543550"/>
            <a:ext cx="4533900" cy="552450"/>
          </a:xfrm>
          <a:prstGeom xmlns:a="http://schemas.openxmlformats.org/drawingml/2006/main" prst="roundRect">
            <a:avLst>
              <a:gd name="adj" fmla="val 24138"/>
            </a:avLst>
          </a:prstGeom>
          <a:solidFill xmlns:a="http://schemas.openxmlformats.org/drawingml/2006/main">
            <a:srgbClr val="18372D"/>
          </a:solidFill>
          <a:ln xmlns:a="http://schemas.openxmlformats.org/drawingml/2006/main" w="0">
            <a:solidFill>
              <a:srgbClr val="18372D"/>
            </a:solidFill>
            <a:prstDash val="solid"/>
          </a:ln>
        </p:spPr>
      </p:sp>
      <p:sp>
        <p:nvSpPr>
          <p:cNvPr id="22" name="">
            <a:extLst xmlns:a="http://schemas.openxmlformats.org/drawingml/2006/main">
              <a:ext uri="{FF2B5EF4-FFF2-40B4-BE49-F238E27FC236}">
                <a16:creationId xmlns:a16="http://schemas.microsoft.com/office/drawing/2014/main" id="{AD574AE1-4F48-42D6-B2E1-663B6E00713C}"/>
              </a:ext>
            </a:extLst>
          </p:cNvPr>
          <p:cNvSpPr>
            <a:spLocks xmlns:a="http://schemas.openxmlformats.org/drawingml/2006/main" noGrp="1"/>
          </p:cNvSpPr>
          <p:nvPr/>
        </p:nvSpPr>
        <p:spPr>
          <a:xfrm xmlns:a="http://schemas.openxmlformats.org/drawingml/2006/main">
            <a:off x="6972300" y="5705475"/>
            <a:ext cx="4114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b="1" i="0">
                <a:solidFill>
                  <a:srgbClr val="F6F0E4"/>
                </a:solidFill>
                <a:latin typeface="Aptos"/>
                <a:ea typeface="Aptos"/>
                <a:cs typeface="Aptos"/>
              </a:defRPr>
            </a:pPr>
            <a:r>
              <a:rPr sz="1050" b="1" i="0">
                <a:solidFill>
                  <a:srgbClr val="F6F0E4"/>
                </a:solidFill>
                <a:latin typeface="Aptos"/>
                <a:ea typeface="Aptos"/>
                <a:cs typeface="Aptos"/>
              </a:rPr>
              <a:t>Gemini when configured • evidence-based fallback without a key</a:t>
            </a:r>
          </a:p>
        </p:txBody>
      </p:sp>
      <p:sp>
        <p:nvSpPr>
          <p:cNvPr id="23" name="">
            <a:extLst xmlns:a="http://schemas.openxmlformats.org/drawingml/2006/main">
              <a:ext uri="{FF2B5EF4-FFF2-40B4-BE49-F238E27FC236}">
                <a16:creationId xmlns:a16="http://schemas.microsoft.com/office/drawing/2014/main" id="{CA421F21-AFF3-4109-BDAA-811AF537AF15}"/>
              </a:ext>
            </a:extLst>
          </p:cNvPr>
          <p:cNvSpPr>
            <a:spLocks xmlns:a="http://schemas.openxmlformats.org/drawingml/2006/main" noGrp="1"/>
          </p:cNvSpPr>
          <p:nvPr/>
        </p:nvSpPr>
        <p:spPr>
          <a:xfrm xmlns:a="http://schemas.openxmlformats.org/drawingml/2006/main">
            <a:off x="666750" y="6496050"/>
            <a:ext cx="10858500" cy="0"/>
          </a:xfrm>
          <a:prstGeom xmlns:a="http://schemas.openxmlformats.org/drawingml/2006/main" prst="line">
            <a:avLst/>
          </a:prstGeom>
          <a:noFill xmlns:a="http://schemas.openxmlformats.org/drawingml/2006/main"/>
          <a:ln xmlns:a="http://schemas.openxmlformats.org/drawingml/2006/main" w="9525">
            <a:solidFill>
              <a:srgbClr val="D8D0C2"/>
            </a:solidFill>
            <a:prstDash val="solid"/>
          </a:ln>
        </p:spPr>
      </p:sp>
      <p:sp>
        <p:nvSpPr>
          <p:cNvPr id="24" name="">
            <a:extLst xmlns:a="http://schemas.openxmlformats.org/drawingml/2006/main">
              <a:ext uri="{FF2B5EF4-FFF2-40B4-BE49-F238E27FC236}">
                <a16:creationId xmlns:a16="http://schemas.microsoft.com/office/drawing/2014/main" id="{3DE1F7D9-EB37-4EFC-B85A-25BEEEBB5B97}"/>
              </a:ext>
            </a:extLst>
          </p:cNvPr>
          <p:cNvSpPr>
            <a:spLocks xmlns:a="http://schemas.openxmlformats.org/drawingml/2006/main" noGrp="1"/>
          </p:cNvSpPr>
          <p:nvPr/>
        </p:nvSpPr>
        <p:spPr>
          <a:xfrm xmlns:a="http://schemas.openxmlformats.org/drawingml/2006/main">
            <a:off x="666750" y="6572250"/>
            <a:ext cx="3429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1" i="0">
                <a:solidFill>
                  <a:srgbClr val="8C8B82"/>
                </a:solidFill>
                <a:latin typeface="Aptos"/>
                <a:ea typeface="Aptos"/>
                <a:cs typeface="Aptos"/>
              </a:defRPr>
            </a:pPr>
            <a:r>
              <a:rPr sz="750" b="1" i="0">
                <a:solidFill>
                  <a:srgbClr val="8C8B82"/>
                </a:solidFill>
                <a:latin typeface="Aptos"/>
                <a:ea typeface="Aptos"/>
                <a:cs typeface="Aptos"/>
              </a:rPr>
              <a:t>FLOWDINE AI  /  VIBEATHON 6.0</a:t>
            </a:r>
          </a:p>
        </p:txBody>
      </p:sp>
      <p:sp>
        <p:nvSpPr>
          <p:cNvPr id="25" name="">
            <a:extLst xmlns:a="http://schemas.openxmlformats.org/drawingml/2006/main">
              <a:ext uri="{FF2B5EF4-FFF2-40B4-BE49-F238E27FC236}">
                <a16:creationId xmlns:a16="http://schemas.microsoft.com/office/drawing/2014/main" id="{84D65F69-4DA4-4962-8294-C704D35E3771}"/>
              </a:ext>
            </a:extLst>
          </p:cNvPr>
          <p:cNvSpPr>
            <a:spLocks xmlns:a="http://schemas.openxmlformats.org/drawingml/2006/main" noGrp="1"/>
          </p:cNvSpPr>
          <p:nvPr/>
        </p:nvSpPr>
        <p:spPr>
          <a:xfrm xmlns:a="http://schemas.openxmlformats.org/drawingml/2006/main">
            <a:off x="11049000" y="6572250"/>
            <a:ext cx="4762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750" b="1" i="0">
                <a:solidFill>
                  <a:srgbClr val="8C8B82"/>
                </a:solidFill>
                <a:latin typeface="Aptos"/>
                <a:ea typeface="Aptos"/>
                <a:cs typeface="Aptos"/>
              </a:defRPr>
            </a:pPr>
            <a:r>
              <a:rPr sz="750" b="1" i="0">
                <a:solidFill>
                  <a:srgbClr val="8C8B82"/>
                </a:solidFill>
                <a:latin typeface="Aptos"/>
                <a:ea typeface="Aptos"/>
                <a:cs typeface="Aptos"/>
              </a:rPr>
              <a:t>08</a:t>
            </a:r>
          </a:p>
        </p:txBody>
      </p:sp>
    </p:spTree>
    <p:extLst>
      <p:ext uri="{BB962C8B-B14F-4D97-AF65-F5344CB8AC3E}">
        <p14:creationId xmlns:p14="http://schemas.microsoft.com/office/powerpoint/2010/main" val="1092724578"/>
      </p:ext>
    </p:extLst>
  </p:cSld>
</p:sld>
</file>

<file path=ppt/slides/slide9.xml><?xml version="1.0" encoding="utf-8"?>
<p:sld xmlns:p="http://schemas.openxmlformats.org/presentationml/2006/main">
  <p:cSld>
    <p:bg>
      <p:bgPr>
        <a:solidFill xmlns:a="http://schemas.openxmlformats.org/drawingml/2006/main">
          <a:srgbClr val="F6F0E4"/>
        </a:solidFill>
      </p:bgPr>
    </p:bg>
    <p:spTree>
      <p:nvGrpSpPr>
        <p:cNvPr id="1" name=""/>
        <p:cNvGrpSpPr/>
        <p:nvPr/>
      </p:nvGrpSpPr>
      <p:grpSpPr>
        <a:xfrm xmlns:a="http://schemas.openxmlformats.org/drawingml/2006/main"/>
      </p:grpSpPr>
      <p:sp>
        <p:nvSpPr>
          <p:cNvPr id="23" name="eyebrow-Management command center">
            <a:extLst xmlns:a="http://schemas.openxmlformats.org/drawingml/2006/main">
              <a:ext uri="{FF2B5EF4-FFF2-40B4-BE49-F238E27FC236}">
                <a16:creationId xmlns:a16="http://schemas.microsoft.com/office/drawing/2014/main" id="{7ED467F8-FAC4-4060-A8B7-B5FD2E248D3D}"/>
              </a:ext>
            </a:extLst>
          </p:cNvPr>
          <p:cNvSpPr>
            <a:spLocks xmlns:a="http://schemas.openxmlformats.org/drawingml/2006/main" noGrp="1"/>
          </p:cNvSpPr>
          <p:nvPr/>
        </p:nvSpPr>
        <p:spPr>
          <a:xfrm xmlns:a="http://schemas.openxmlformats.org/drawingml/2006/main">
            <a:off x="666750" y="400050"/>
            <a:ext cx="533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i="0">
                <a:solidFill>
                  <a:srgbClr val="D1832E"/>
                </a:solidFill>
                <a:latin typeface="Aptos"/>
                <a:ea typeface="Aptos"/>
                <a:cs typeface="Aptos"/>
              </a:defRPr>
            </a:pPr>
            <a:r>
              <a:rPr sz="975" b="1" i="0">
                <a:solidFill>
                  <a:srgbClr val="D1832E"/>
                </a:solidFill>
                <a:latin typeface="Aptos"/>
                <a:ea typeface="Aptos"/>
                <a:cs typeface="Aptos"/>
              </a:rPr>
              <a:t>MANAGEMENT COMMAND CENTER</a:t>
            </a:r>
          </a:p>
        </p:txBody>
      </p:sp>
      <p:sp>
        <p:nvSpPr>
          <p:cNvPr id="2" name="slide-title">
            <a:extLst xmlns:a="http://schemas.openxmlformats.org/drawingml/2006/main">
              <a:ext uri="{FF2B5EF4-FFF2-40B4-BE49-F238E27FC236}">
                <a16:creationId xmlns:a16="http://schemas.microsoft.com/office/drawing/2014/main" id="{9DFAD1EF-BCB7-4979-BC64-E9A465C069AD}"/>
              </a:ext>
            </a:extLst>
          </p:cNvPr>
          <p:cNvSpPr>
            <a:spLocks xmlns:a="http://schemas.openxmlformats.org/drawingml/2006/main" noGrp="1"/>
          </p:cNvSpPr>
          <p:nvPr/>
        </p:nvSpPr>
        <p:spPr>
          <a:xfrm xmlns:a="http://schemas.openxmlformats.org/drawingml/2006/main">
            <a:off x="666750" y="704850"/>
            <a:ext cx="10858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000" b="0" i="0">
                <a:solidFill>
                  <a:srgbClr val="20241F"/>
                </a:solidFill>
                <a:latin typeface="Georgia"/>
                <a:ea typeface="Georgia"/>
                <a:cs typeface="Georgia"/>
              </a:defRPr>
            </a:pPr>
            <a:r>
              <a:rPr sz="3000" b="0" i="0">
                <a:solidFill>
                  <a:srgbClr val="20241F"/>
                </a:solidFill>
                <a:latin typeface="Georgia"/>
                <a:ea typeface="Georgia"/>
                <a:cs typeface="Georgia"/>
              </a:rPr>
              <a:t>A manager can read the whole service in seconds.</a:t>
            </a:r>
          </a:p>
        </p:txBody>
      </p:sp>
      <p:sp>
        <p:nvSpPr>
          <p:cNvPr id="3" name="">
            <a:extLst xmlns:a="http://schemas.openxmlformats.org/drawingml/2006/main">
              <a:ext uri="{FF2B5EF4-FFF2-40B4-BE49-F238E27FC236}">
                <a16:creationId xmlns:a16="http://schemas.microsoft.com/office/drawing/2014/main" id="{2A2B59E4-3EDB-43B9-B040-63AAE15C2D5D}"/>
              </a:ext>
            </a:extLst>
          </p:cNvPr>
          <p:cNvSpPr>
            <a:spLocks xmlns:a="http://schemas.openxmlformats.org/drawingml/2006/main" noGrp="1"/>
          </p:cNvSpPr>
          <p:nvPr/>
        </p:nvSpPr>
        <p:spPr>
          <a:xfrm xmlns:a="http://schemas.openxmlformats.org/drawingml/2006/main">
            <a:off x="628650" y="1409700"/>
            <a:ext cx="7219950" cy="4267200"/>
          </a:xfrm>
          <a:prstGeom xmlns:a="http://schemas.openxmlformats.org/drawingml/2006/main" prst="roundRect">
            <a:avLst>
              <a:gd name="adj" fmla="val 4018"/>
            </a:avLst>
          </a:prstGeom>
          <a:solidFill xmlns:a="http://schemas.openxmlformats.org/drawingml/2006/main">
            <a:srgbClr val="FFFDF8"/>
          </a:solidFill>
          <a:ln xmlns:a="http://schemas.openxmlformats.org/drawingml/2006/main" w="9525">
            <a:solidFill>
              <a:srgbClr val="D8D0C2"/>
            </a:solidFill>
            <a:prstDash val="solid"/>
          </a:ln>
        </p:spPr>
        <p:style>
          <a:lnRef xmlns:a="http://schemas.openxmlformats.org/drawingml/2006/main" idx="0"/>
          <a:fillRef xmlns:a="http://schemas.openxmlformats.org/drawingml/2006/main" idx="0"/>
          <a:effectRef xmlns:a="http://schemas.openxmlformats.org/drawingml/2006/main" idx="7"/>
          <a:fontRef xmlns:a="http://schemas.openxmlformats.org/drawingml/2006/main" idx="major"/>
        </p:style>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b9c8494d9f2648bb"/>
          <a:srcRect xmlns:a="http://schemas.openxmlformats.org/drawingml/2006/main" l="2060" t="0" r="2060" b="0"/>
          <a:stretch xmlns:a="http://schemas.openxmlformats.org/drawingml/2006/main">
            <a:fillRect l="0" t="0" r="0" b="0"/>
          </a:stretch>
        </p:blipFill>
        <p:spPr>
          <a:xfrm xmlns:a="http://schemas.openxmlformats.org/drawingml/2006/main">
            <a:off x="666750" y="1447800"/>
            <a:ext cx="7143750" cy="4191000"/>
          </a:xfrm>
          <a:prstGeom xmlns:a="http://schemas.openxmlformats.org/drawingml/2006/main" prst="roundRect">
            <a:avLst>
              <a:gd name="adj" fmla="val 3636"/>
            </a:avLst>
          </a:prstGeom>
        </p:spPr>
      </p:pic>
      <p:sp>
        <p:nvSpPr>
          <p:cNvPr id="5" name="">
            <a:extLst xmlns:a="http://schemas.openxmlformats.org/drawingml/2006/main">
              <a:ext uri="{FF2B5EF4-FFF2-40B4-BE49-F238E27FC236}">
                <a16:creationId xmlns:a16="http://schemas.microsoft.com/office/drawing/2014/main" id="{921DE175-337A-4D75-90DA-9FC7F4232F33}"/>
              </a:ext>
            </a:extLst>
          </p:cNvPr>
          <p:cNvSpPr>
            <a:spLocks xmlns:a="http://schemas.openxmlformats.org/drawingml/2006/main" noGrp="1"/>
          </p:cNvSpPr>
          <p:nvPr/>
        </p:nvSpPr>
        <p:spPr>
          <a:xfrm xmlns:a="http://schemas.openxmlformats.org/drawingml/2006/main">
            <a:off x="8239125" y="1524000"/>
            <a:ext cx="1476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250" b="0" i="0">
                <a:solidFill>
                  <a:srgbClr val="18372D"/>
                </a:solidFill>
                <a:latin typeface="Georgia"/>
                <a:ea typeface="Georgia"/>
                <a:cs typeface="Georgia"/>
              </a:defRPr>
            </a:pPr>
            <a:r>
              <a:rPr sz="2250" b="0" i="0">
                <a:solidFill>
                  <a:srgbClr val="18372D"/>
                </a:solidFill>
                <a:latin typeface="Georgia"/>
                <a:ea typeface="Georgia"/>
                <a:cs typeface="Georgia"/>
              </a:rPr>
              <a:t>₹35,680</a:t>
            </a:r>
          </a:p>
        </p:txBody>
      </p:sp>
      <p:sp>
        <p:nvSpPr>
          <p:cNvPr id="6" name="">
            <a:extLst xmlns:a="http://schemas.openxmlformats.org/drawingml/2006/main">
              <a:ext uri="{FF2B5EF4-FFF2-40B4-BE49-F238E27FC236}">
                <a16:creationId xmlns:a16="http://schemas.microsoft.com/office/drawing/2014/main" id="{7219D980-AD0D-4D23-A77C-C5F4F52BA88B}"/>
              </a:ext>
            </a:extLst>
          </p:cNvPr>
          <p:cNvSpPr>
            <a:spLocks xmlns:a="http://schemas.openxmlformats.org/drawingml/2006/main" noGrp="1"/>
          </p:cNvSpPr>
          <p:nvPr/>
        </p:nvSpPr>
        <p:spPr>
          <a:xfrm xmlns:a="http://schemas.openxmlformats.org/drawingml/2006/main">
            <a:off x="8239125" y="1943100"/>
            <a:ext cx="14763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i="0">
                <a:solidFill>
                  <a:srgbClr val="6E7068"/>
                </a:solidFill>
                <a:latin typeface="Aptos"/>
                <a:ea typeface="Aptos"/>
                <a:cs typeface="Aptos"/>
              </a:defRPr>
            </a:pPr>
            <a:r>
              <a:rPr sz="825" b="1" i="0">
                <a:solidFill>
                  <a:srgbClr val="6E7068"/>
                </a:solidFill>
                <a:latin typeface="Aptos"/>
                <a:ea typeface="Aptos"/>
                <a:cs typeface="Aptos"/>
              </a:rPr>
              <a:t>REVENUE TODAY</a:t>
            </a:r>
          </a:p>
        </p:txBody>
      </p:sp>
      <p:sp>
        <p:nvSpPr>
          <p:cNvPr id="7" name="">
            <a:extLst xmlns:a="http://schemas.openxmlformats.org/drawingml/2006/main">
              <a:ext uri="{FF2B5EF4-FFF2-40B4-BE49-F238E27FC236}">
                <a16:creationId xmlns:a16="http://schemas.microsoft.com/office/drawing/2014/main" id="{57BB6D94-55DA-4A72-A347-5195B7F6AA37}"/>
              </a:ext>
            </a:extLst>
          </p:cNvPr>
          <p:cNvSpPr>
            <a:spLocks xmlns:a="http://schemas.openxmlformats.org/drawingml/2006/main" noGrp="1"/>
          </p:cNvSpPr>
          <p:nvPr/>
        </p:nvSpPr>
        <p:spPr>
          <a:xfrm xmlns:a="http://schemas.openxmlformats.org/drawingml/2006/main">
            <a:off x="9906000" y="1524000"/>
            <a:ext cx="1333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250" b="0" i="0">
                <a:solidFill>
                  <a:srgbClr val="D1832E"/>
                </a:solidFill>
                <a:latin typeface="Georgia"/>
                <a:ea typeface="Georgia"/>
                <a:cs typeface="Georgia"/>
              </a:defRPr>
            </a:pPr>
            <a:r>
              <a:rPr sz="2250" b="0" i="0">
                <a:solidFill>
                  <a:srgbClr val="D1832E"/>
                </a:solidFill>
                <a:latin typeface="Georgia"/>
                <a:ea typeface="Georgia"/>
                <a:cs typeface="Georgia"/>
              </a:rPr>
              <a:t>5</a:t>
            </a:r>
          </a:p>
        </p:txBody>
      </p:sp>
      <p:sp>
        <p:nvSpPr>
          <p:cNvPr id="8" name="">
            <a:extLst xmlns:a="http://schemas.openxmlformats.org/drawingml/2006/main">
              <a:ext uri="{FF2B5EF4-FFF2-40B4-BE49-F238E27FC236}">
                <a16:creationId xmlns:a16="http://schemas.microsoft.com/office/drawing/2014/main" id="{32A116AA-0275-46B3-883A-E2A39B47373A}"/>
              </a:ext>
            </a:extLst>
          </p:cNvPr>
          <p:cNvSpPr>
            <a:spLocks xmlns:a="http://schemas.openxmlformats.org/drawingml/2006/main" noGrp="1"/>
          </p:cNvSpPr>
          <p:nvPr/>
        </p:nvSpPr>
        <p:spPr>
          <a:xfrm xmlns:a="http://schemas.openxmlformats.org/drawingml/2006/main">
            <a:off x="9906000" y="1943100"/>
            <a:ext cx="1333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i="0">
                <a:solidFill>
                  <a:srgbClr val="6E7068"/>
                </a:solidFill>
                <a:latin typeface="Aptos"/>
                <a:ea typeface="Aptos"/>
                <a:cs typeface="Aptos"/>
              </a:defRPr>
            </a:pPr>
            <a:r>
              <a:rPr sz="825" b="1" i="0">
                <a:solidFill>
                  <a:srgbClr val="6E7068"/>
                </a:solidFill>
                <a:latin typeface="Aptos"/>
                <a:ea typeface="Aptos"/>
                <a:cs typeface="Aptos"/>
              </a:rPr>
              <a:t>ACTIVE ORDERS</a:t>
            </a:r>
          </a:p>
        </p:txBody>
      </p:sp>
      <p:sp>
        <p:nvSpPr>
          <p:cNvPr id="9" name="">
            <a:extLst xmlns:a="http://schemas.openxmlformats.org/drawingml/2006/main">
              <a:ext uri="{FF2B5EF4-FFF2-40B4-BE49-F238E27FC236}">
                <a16:creationId xmlns:a16="http://schemas.microsoft.com/office/drawing/2014/main" id="{603C990F-326F-484F-ACD7-08132265F48B}"/>
              </a:ext>
            </a:extLst>
          </p:cNvPr>
          <p:cNvSpPr>
            <a:spLocks xmlns:a="http://schemas.openxmlformats.org/drawingml/2006/main" noGrp="1"/>
          </p:cNvSpPr>
          <p:nvPr/>
        </p:nvSpPr>
        <p:spPr>
          <a:xfrm xmlns:a="http://schemas.openxmlformats.org/drawingml/2006/main">
            <a:off x="8239125" y="2305050"/>
            <a:ext cx="1476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250" b="0" i="0">
                <a:solidFill>
                  <a:srgbClr val="18372D"/>
                </a:solidFill>
                <a:latin typeface="Georgia"/>
                <a:ea typeface="Georgia"/>
                <a:cs typeface="Georgia"/>
              </a:defRPr>
            </a:pPr>
            <a:r>
              <a:rPr sz="2250" b="0" i="0">
                <a:solidFill>
                  <a:srgbClr val="18372D"/>
                </a:solidFill>
                <a:latin typeface="Georgia"/>
                <a:ea typeface="Georgia"/>
                <a:cs typeface="Georgia"/>
              </a:rPr>
              <a:t>50%</a:t>
            </a:r>
          </a:p>
        </p:txBody>
      </p:sp>
      <p:sp>
        <p:nvSpPr>
          <p:cNvPr id="10" name="">
            <a:extLst xmlns:a="http://schemas.openxmlformats.org/drawingml/2006/main">
              <a:ext uri="{FF2B5EF4-FFF2-40B4-BE49-F238E27FC236}">
                <a16:creationId xmlns:a16="http://schemas.microsoft.com/office/drawing/2014/main" id="{1F66324C-CD3D-41DA-9112-E3D7D3D94209}"/>
              </a:ext>
            </a:extLst>
          </p:cNvPr>
          <p:cNvSpPr>
            <a:spLocks xmlns:a="http://schemas.openxmlformats.org/drawingml/2006/main" noGrp="1"/>
          </p:cNvSpPr>
          <p:nvPr/>
        </p:nvSpPr>
        <p:spPr>
          <a:xfrm xmlns:a="http://schemas.openxmlformats.org/drawingml/2006/main">
            <a:off x="8239125" y="2724150"/>
            <a:ext cx="14763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i="0">
                <a:solidFill>
                  <a:srgbClr val="6E7068"/>
                </a:solidFill>
                <a:latin typeface="Aptos"/>
                <a:ea typeface="Aptos"/>
                <a:cs typeface="Aptos"/>
              </a:defRPr>
            </a:pPr>
            <a:r>
              <a:rPr sz="825" b="1" i="0">
                <a:solidFill>
                  <a:srgbClr val="6E7068"/>
                </a:solidFill>
                <a:latin typeface="Aptos"/>
                <a:ea typeface="Aptos"/>
                <a:cs typeface="Aptos"/>
              </a:rPr>
              <a:t>TABLE OCCUPANCY</a:t>
            </a:r>
          </a:p>
        </p:txBody>
      </p:sp>
      <p:sp>
        <p:nvSpPr>
          <p:cNvPr id="11" name="">
            <a:extLst xmlns:a="http://schemas.openxmlformats.org/drawingml/2006/main">
              <a:ext uri="{FF2B5EF4-FFF2-40B4-BE49-F238E27FC236}">
                <a16:creationId xmlns:a16="http://schemas.microsoft.com/office/drawing/2014/main" id="{8DA3E714-0ED0-480C-BC10-DDC161DF8547}"/>
              </a:ext>
            </a:extLst>
          </p:cNvPr>
          <p:cNvSpPr>
            <a:spLocks xmlns:a="http://schemas.openxmlformats.org/drawingml/2006/main" noGrp="1"/>
          </p:cNvSpPr>
          <p:nvPr/>
        </p:nvSpPr>
        <p:spPr>
          <a:xfrm xmlns:a="http://schemas.openxmlformats.org/drawingml/2006/main">
            <a:off x="9906000" y="2305050"/>
            <a:ext cx="1333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250" b="0" i="0">
                <a:solidFill>
                  <a:srgbClr val="A44E43"/>
                </a:solidFill>
                <a:latin typeface="Georgia"/>
                <a:ea typeface="Georgia"/>
                <a:cs typeface="Georgia"/>
              </a:defRPr>
            </a:pPr>
            <a:r>
              <a:rPr sz="2250" b="0" i="0">
                <a:solidFill>
                  <a:srgbClr val="A44E43"/>
                </a:solidFill>
                <a:latin typeface="Georgia"/>
                <a:ea typeface="Georgia"/>
                <a:cs typeface="Georgia"/>
              </a:rPr>
              <a:t>5</a:t>
            </a:r>
          </a:p>
        </p:txBody>
      </p:sp>
      <p:sp>
        <p:nvSpPr>
          <p:cNvPr id="12" name="">
            <a:extLst xmlns:a="http://schemas.openxmlformats.org/drawingml/2006/main">
              <a:ext uri="{FF2B5EF4-FFF2-40B4-BE49-F238E27FC236}">
                <a16:creationId xmlns:a16="http://schemas.microsoft.com/office/drawing/2014/main" id="{E78D4ED9-EB01-47F2-89D0-6E52CB90C224}"/>
              </a:ext>
            </a:extLst>
          </p:cNvPr>
          <p:cNvSpPr>
            <a:spLocks xmlns:a="http://schemas.openxmlformats.org/drawingml/2006/main" noGrp="1"/>
          </p:cNvSpPr>
          <p:nvPr/>
        </p:nvSpPr>
        <p:spPr>
          <a:xfrm xmlns:a="http://schemas.openxmlformats.org/drawingml/2006/main">
            <a:off x="9906000" y="2724150"/>
            <a:ext cx="1333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i="0">
                <a:solidFill>
                  <a:srgbClr val="6E7068"/>
                </a:solidFill>
                <a:latin typeface="Aptos"/>
                <a:ea typeface="Aptos"/>
                <a:cs typeface="Aptos"/>
              </a:defRPr>
            </a:pPr>
            <a:r>
              <a:rPr sz="825" b="1" i="0">
                <a:solidFill>
                  <a:srgbClr val="6E7068"/>
                </a:solidFill>
                <a:latin typeface="Aptos"/>
                <a:ea typeface="Aptos"/>
                <a:cs typeface="Aptos"/>
              </a:rPr>
              <a:t>DELAYED TICKETS</a:t>
            </a:r>
          </a:p>
        </p:txBody>
      </p:sp>
      <p:sp>
        <p:nvSpPr>
          <p:cNvPr id="13" name="">
            <a:extLst xmlns:a="http://schemas.openxmlformats.org/drawingml/2006/main">
              <a:ext uri="{FF2B5EF4-FFF2-40B4-BE49-F238E27FC236}">
                <a16:creationId xmlns:a16="http://schemas.microsoft.com/office/drawing/2014/main" id="{D8B4E3B2-EC90-433F-99E3-B20A7D1D180A}"/>
              </a:ext>
            </a:extLst>
          </p:cNvPr>
          <p:cNvSpPr>
            <a:spLocks xmlns:a="http://schemas.openxmlformats.org/drawingml/2006/main" noGrp="1"/>
          </p:cNvSpPr>
          <p:nvPr/>
        </p:nvSpPr>
        <p:spPr>
          <a:xfrm xmlns:a="http://schemas.openxmlformats.org/drawingml/2006/main">
            <a:off x="8239125" y="3086100"/>
            <a:ext cx="1476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250" b="0" i="0">
                <a:solidFill>
                  <a:srgbClr val="A44E43"/>
                </a:solidFill>
                <a:latin typeface="Georgia"/>
                <a:ea typeface="Georgia"/>
                <a:cs typeface="Georgia"/>
              </a:defRPr>
            </a:pPr>
            <a:r>
              <a:rPr sz="2250" b="0" i="0">
                <a:solidFill>
                  <a:srgbClr val="A44E43"/>
                </a:solidFill>
                <a:latin typeface="Georgia"/>
                <a:ea typeface="Georgia"/>
                <a:cs typeface="Georgia"/>
              </a:rPr>
              <a:t>9</a:t>
            </a:r>
          </a:p>
        </p:txBody>
      </p:sp>
      <p:sp>
        <p:nvSpPr>
          <p:cNvPr id="14" name="">
            <a:extLst xmlns:a="http://schemas.openxmlformats.org/drawingml/2006/main">
              <a:ext uri="{FF2B5EF4-FFF2-40B4-BE49-F238E27FC236}">
                <a16:creationId xmlns:a16="http://schemas.microsoft.com/office/drawing/2014/main" id="{F688EB5B-D450-450E-A81A-8AC180A03D1B}"/>
              </a:ext>
            </a:extLst>
          </p:cNvPr>
          <p:cNvSpPr>
            <a:spLocks xmlns:a="http://schemas.openxmlformats.org/drawingml/2006/main" noGrp="1"/>
          </p:cNvSpPr>
          <p:nvPr/>
        </p:nvSpPr>
        <p:spPr>
          <a:xfrm xmlns:a="http://schemas.openxmlformats.org/drawingml/2006/main">
            <a:off x="8239125" y="3505200"/>
            <a:ext cx="14763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i="0">
                <a:solidFill>
                  <a:srgbClr val="6E7068"/>
                </a:solidFill>
                <a:latin typeface="Aptos"/>
                <a:ea typeface="Aptos"/>
                <a:cs typeface="Aptos"/>
              </a:defRPr>
            </a:pPr>
            <a:r>
              <a:rPr sz="825" b="1" i="0">
                <a:solidFill>
                  <a:srgbClr val="6E7068"/>
                </a:solidFill>
                <a:latin typeface="Aptos"/>
                <a:ea typeface="Aptos"/>
                <a:cs typeface="Aptos"/>
              </a:rPr>
              <a:t>LOW-STOCK INGREDIENTS</a:t>
            </a:r>
          </a:p>
        </p:txBody>
      </p:sp>
      <p:sp>
        <p:nvSpPr>
          <p:cNvPr id="15" name="">
            <a:extLst xmlns:a="http://schemas.openxmlformats.org/drawingml/2006/main">
              <a:ext uri="{FF2B5EF4-FFF2-40B4-BE49-F238E27FC236}">
                <a16:creationId xmlns:a16="http://schemas.microsoft.com/office/drawing/2014/main" id="{296071FE-8C2C-4196-88DA-860327952921}"/>
              </a:ext>
            </a:extLst>
          </p:cNvPr>
          <p:cNvSpPr>
            <a:spLocks xmlns:a="http://schemas.openxmlformats.org/drawingml/2006/main" noGrp="1"/>
          </p:cNvSpPr>
          <p:nvPr/>
        </p:nvSpPr>
        <p:spPr>
          <a:xfrm xmlns:a="http://schemas.openxmlformats.org/drawingml/2006/main">
            <a:off x="9906000" y="3086100"/>
            <a:ext cx="1333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250" b="0" i="0">
                <a:solidFill>
                  <a:srgbClr val="D1832E"/>
                </a:solidFill>
                <a:latin typeface="Georgia"/>
                <a:ea typeface="Georgia"/>
                <a:cs typeface="Georgia"/>
              </a:defRPr>
            </a:pPr>
            <a:r>
              <a:rPr sz="2250" b="0" i="0">
                <a:solidFill>
                  <a:srgbClr val="D1832E"/>
                </a:solidFill>
                <a:latin typeface="Georgia"/>
                <a:ea typeface="Georgia"/>
                <a:cs typeface="Georgia"/>
              </a:rPr>
              <a:t>₹469</a:t>
            </a:r>
          </a:p>
        </p:txBody>
      </p:sp>
      <p:sp>
        <p:nvSpPr>
          <p:cNvPr id="16" name="">
            <a:extLst xmlns:a="http://schemas.openxmlformats.org/drawingml/2006/main">
              <a:ext uri="{FF2B5EF4-FFF2-40B4-BE49-F238E27FC236}">
                <a16:creationId xmlns:a16="http://schemas.microsoft.com/office/drawing/2014/main" id="{E30160B4-7211-458C-9AE3-74C5A3716570}"/>
              </a:ext>
            </a:extLst>
          </p:cNvPr>
          <p:cNvSpPr>
            <a:spLocks xmlns:a="http://schemas.openxmlformats.org/drawingml/2006/main" noGrp="1"/>
          </p:cNvSpPr>
          <p:nvPr/>
        </p:nvSpPr>
        <p:spPr>
          <a:xfrm xmlns:a="http://schemas.openxmlformats.org/drawingml/2006/main">
            <a:off x="9906000" y="3505200"/>
            <a:ext cx="1333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i="0">
                <a:solidFill>
                  <a:srgbClr val="6E7068"/>
                </a:solidFill>
                <a:latin typeface="Aptos"/>
                <a:ea typeface="Aptos"/>
                <a:cs typeface="Aptos"/>
              </a:defRPr>
            </a:pPr>
            <a:r>
              <a:rPr sz="825" b="1" i="0">
                <a:solidFill>
                  <a:srgbClr val="6E7068"/>
                </a:solidFill>
                <a:latin typeface="Aptos"/>
                <a:ea typeface="Aptos"/>
                <a:cs typeface="Aptos"/>
              </a:rPr>
              <a:t>AVERAGE ORDER</a:t>
            </a:r>
          </a:p>
        </p:txBody>
      </p:sp>
      <p:sp>
        <p:nvSpPr>
          <p:cNvPr id="17" name="">
            <a:extLst xmlns:a="http://schemas.openxmlformats.org/drawingml/2006/main">
              <a:ext uri="{FF2B5EF4-FFF2-40B4-BE49-F238E27FC236}">
                <a16:creationId xmlns:a16="http://schemas.microsoft.com/office/drawing/2014/main" id="{3E5D0FAC-13C4-41D3-B288-3BBECD9036C2}"/>
              </a:ext>
            </a:extLst>
          </p:cNvPr>
          <p:cNvSpPr>
            <a:spLocks xmlns:a="http://schemas.openxmlformats.org/drawingml/2006/main" noGrp="1"/>
          </p:cNvSpPr>
          <p:nvPr/>
        </p:nvSpPr>
        <p:spPr>
          <a:xfrm xmlns:a="http://schemas.openxmlformats.org/drawingml/2006/main">
            <a:off x="8229600" y="3971925"/>
            <a:ext cx="304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i="0">
                <a:solidFill>
                  <a:srgbClr val="D1832E"/>
                </a:solidFill>
                <a:latin typeface="Aptos"/>
                <a:ea typeface="Aptos"/>
                <a:cs typeface="Aptos"/>
              </a:defRPr>
            </a:pPr>
            <a:r>
              <a:rPr sz="900" b="1" i="0">
                <a:solidFill>
                  <a:srgbClr val="D1832E"/>
                </a:solidFill>
                <a:latin typeface="Aptos"/>
                <a:ea typeface="Aptos"/>
                <a:cs typeface="Aptos"/>
              </a:rPr>
              <a:t>LIVE SERVICE MIX</a:t>
            </a:r>
          </a:p>
        </p:txBody>
      </p:sp>
      <p:graphicFrame>
        <p:nvGraphicFramePr>
          <p:cNvPr id="40" name="Chart"/>
          <p:cNvGraphicFramePr/>
          <p:nvPr/>
        </p:nvGraphicFramePr>
        <p:xfrm>
          <a:off xmlns:a="http://schemas.openxmlformats.org/drawingml/2006/main" x="8153400" y="4248150"/>
          <a:ext xmlns:a="http://schemas.openxmlformats.org/drawingml/2006/main" cx="3333750" cy="1504950"/>
        </p:xfrm>
        <a:graphic xmlns:a="http://schemas.openxmlformats.org/drawingml/2006/main">
          <a:graphicData uri="http://schemas.openxmlformats.org/drawingml/2006/chart">
            <c:chart xmlns:r="http://schemas.openxmlformats.org/officeDocument/2006/relationships" xmlns:c="http://schemas.openxmlformats.org/drawingml/2006/chart" r:id="R7b841262b2be47d0"/>
          </a:graphicData>
        </a:graphic>
      </p:graphicFrame>
      <p:sp>
        <p:nvSpPr>
          <p:cNvPr id="19" name="">
            <a:extLst xmlns:a="http://schemas.openxmlformats.org/drawingml/2006/main">
              <a:ext uri="{FF2B5EF4-FFF2-40B4-BE49-F238E27FC236}">
                <a16:creationId xmlns:a16="http://schemas.microsoft.com/office/drawing/2014/main" id="{73E857C4-5596-4D93-B9B6-33A6840081A8}"/>
              </a:ext>
            </a:extLst>
          </p:cNvPr>
          <p:cNvSpPr>
            <a:spLocks xmlns:a="http://schemas.openxmlformats.org/drawingml/2006/main" noGrp="1"/>
          </p:cNvSpPr>
          <p:nvPr/>
        </p:nvSpPr>
        <p:spPr>
          <a:xfrm xmlns:a="http://schemas.openxmlformats.org/drawingml/2006/main">
            <a:off x="8229600" y="5810250"/>
            <a:ext cx="3238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i="0">
                <a:solidFill>
                  <a:srgbClr val="6E7068"/>
                </a:solidFill>
                <a:latin typeface="Aptos"/>
                <a:ea typeface="Aptos"/>
                <a:cs typeface="Aptos"/>
              </a:defRPr>
            </a:pPr>
            <a:r>
              <a:rPr sz="825" b="0" i="0">
                <a:solidFill>
                  <a:srgbClr val="6E7068"/>
                </a:solidFill>
                <a:latin typeface="Aptos"/>
                <a:ea typeface="Aptos"/>
                <a:cs typeface="Aptos"/>
              </a:rPr>
              <a:t>Current seeded tickets • item quantities</a:t>
            </a:r>
          </a:p>
        </p:txBody>
      </p:sp>
      <p:sp>
        <p:nvSpPr>
          <p:cNvPr id="20" name="">
            <a:extLst xmlns:a="http://schemas.openxmlformats.org/drawingml/2006/main">
              <a:ext uri="{FF2B5EF4-FFF2-40B4-BE49-F238E27FC236}">
                <a16:creationId xmlns:a16="http://schemas.microsoft.com/office/drawing/2014/main" id="{F742A196-87D7-4049-9847-C2726B1BC08F}"/>
              </a:ext>
            </a:extLst>
          </p:cNvPr>
          <p:cNvSpPr>
            <a:spLocks xmlns:a="http://schemas.openxmlformats.org/drawingml/2006/main" noGrp="1"/>
          </p:cNvSpPr>
          <p:nvPr/>
        </p:nvSpPr>
        <p:spPr>
          <a:xfrm xmlns:a="http://schemas.openxmlformats.org/drawingml/2006/main">
            <a:off x="666750" y="6496050"/>
            <a:ext cx="10858500" cy="0"/>
          </a:xfrm>
          <a:prstGeom xmlns:a="http://schemas.openxmlformats.org/drawingml/2006/main" prst="line">
            <a:avLst/>
          </a:prstGeom>
          <a:noFill xmlns:a="http://schemas.openxmlformats.org/drawingml/2006/main"/>
          <a:ln xmlns:a="http://schemas.openxmlformats.org/drawingml/2006/main" w="9525">
            <a:solidFill>
              <a:srgbClr val="D8D0C2"/>
            </a:solidFill>
            <a:prstDash val="solid"/>
          </a:ln>
        </p:spPr>
      </p:sp>
      <p:sp>
        <p:nvSpPr>
          <p:cNvPr id="21" name="">
            <a:extLst xmlns:a="http://schemas.openxmlformats.org/drawingml/2006/main">
              <a:ext uri="{FF2B5EF4-FFF2-40B4-BE49-F238E27FC236}">
                <a16:creationId xmlns:a16="http://schemas.microsoft.com/office/drawing/2014/main" id="{AF02C73B-4382-4455-A7AA-C8775F51BBDC}"/>
              </a:ext>
            </a:extLst>
          </p:cNvPr>
          <p:cNvSpPr>
            <a:spLocks xmlns:a="http://schemas.openxmlformats.org/drawingml/2006/main" noGrp="1"/>
          </p:cNvSpPr>
          <p:nvPr/>
        </p:nvSpPr>
        <p:spPr>
          <a:xfrm xmlns:a="http://schemas.openxmlformats.org/drawingml/2006/main">
            <a:off x="666750" y="6572250"/>
            <a:ext cx="3429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1" i="0">
                <a:solidFill>
                  <a:srgbClr val="8C8B82"/>
                </a:solidFill>
                <a:latin typeface="Aptos"/>
                <a:ea typeface="Aptos"/>
                <a:cs typeface="Aptos"/>
              </a:defRPr>
            </a:pPr>
            <a:r>
              <a:rPr sz="750" b="1" i="0">
                <a:solidFill>
                  <a:srgbClr val="8C8B82"/>
                </a:solidFill>
                <a:latin typeface="Aptos"/>
                <a:ea typeface="Aptos"/>
                <a:cs typeface="Aptos"/>
              </a:rPr>
              <a:t>FLOWDINE AI  /  VIBEATHON 6.0</a:t>
            </a:r>
          </a:p>
        </p:txBody>
      </p:sp>
      <p:sp>
        <p:nvSpPr>
          <p:cNvPr id="22" name="">
            <a:extLst xmlns:a="http://schemas.openxmlformats.org/drawingml/2006/main">
              <a:ext uri="{FF2B5EF4-FFF2-40B4-BE49-F238E27FC236}">
                <a16:creationId xmlns:a16="http://schemas.microsoft.com/office/drawing/2014/main" id="{2FE87A81-4BE2-4ABF-909B-451ABCB1ECAC}"/>
              </a:ext>
            </a:extLst>
          </p:cNvPr>
          <p:cNvSpPr>
            <a:spLocks xmlns:a="http://schemas.openxmlformats.org/drawingml/2006/main" noGrp="1"/>
          </p:cNvSpPr>
          <p:nvPr/>
        </p:nvSpPr>
        <p:spPr>
          <a:xfrm xmlns:a="http://schemas.openxmlformats.org/drawingml/2006/main">
            <a:off x="11049000" y="6572250"/>
            <a:ext cx="4762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750" b="1" i="0">
                <a:solidFill>
                  <a:srgbClr val="8C8B82"/>
                </a:solidFill>
                <a:latin typeface="Aptos"/>
                <a:ea typeface="Aptos"/>
                <a:cs typeface="Aptos"/>
              </a:defRPr>
            </a:pPr>
            <a:r>
              <a:rPr sz="750" b="1" i="0">
                <a:solidFill>
                  <a:srgbClr val="8C8B82"/>
                </a:solidFill>
                <a:latin typeface="Aptos"/>
                <a:ea typeface="Aptos"/>
                <a:cs typeface="Aptos"/>
              </a:rPr>
              <a:t>09</a:t>
            </a:r>
          </a:p>
        </p:txBody>
      </p:sp>
    </p:spTree>
    <p:extLst>
      <p:ext uri="{BB962C8B-B14F-4D97-AF65-F5344CB8AC3E}">
        <p14:creationId xmlns:p14="http://schemas.microsoft.com/office/powerpoint/2010/main" val="791758277"/>
      </p:ext>
    </p:extLst>
  </p:cSld>
</p:sld>
</file>

<file path=ppt/slides/slide10.xml><?xml version="1.0" encoding="utf-8"?>
<p:sld xmlns:p="http://schemas.openxmlformats.org/presentationml/2006/main">
  <p:cSld>
    <p:bg>
      <p:bgPr>
        <a:solidFill xmlns:a="http://schemas.openxmlformats.org/drawingml/2006/main">
          <a:srgbClr val="18372D"/>
        </a:solidFill>
      </p:bgPr>
    </p:bg>
    <p:spTree>
      <p:nvGrpSpPr>
        <p:cNvPr id="1" name=""/>
        <p:cNvGrpSpPr/>
        <p:nvPr/>
      </p:nvGrpSpPr>
      <p:grpSpPr>
        <a:xfrm xmlns:a="http://schemas.openxmlformats.org/drawingml/2006/main"/>
      </p:grpSpPr>
      <p:sp>
        <p:nvSpPr>
          <p:cNvPr id="38" name="eyebrow-Technology architecture">
            <a:extLst xmlns:a="http://schemas.openxmlformats.org/drawingml/2006/main">
              <a:ext uri="{FF2B5EF4-FFF2-40B4-BE49-F238E27FC236}">
                <a16:creationId xmlns:a16="http://schemas.microsoft.com/office/drawing/2014/main" id="{A4E34A43-0C52-4FFD-A020-B1784BC7D721}"/>
              </a:ext>
            </a:extLst>
          </p:cNvPr>
          <p:cNvSpPr>
            <a:spLocks xmlns:a="http://schemas.openxmlformats.org/drawingml/2006/main" noGrp="1"/>
          </p:cNvSpPr>
          <p:nvPr/>
        </p:nvSpPr>
        <p:spPr>
          <a:xfrm xmlns:a="http://schemas.openxmlformats.org/drawingml/2006/main">
            <a:off x="666750" y="381000"/>
            <a:ext cx="533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i="0">
                <a:solidFill>
                  <a:srgbClr val="E6A34E"/>
                </a:solidFill>
                <a:latin typeface="Aptos"/>
                <a:ea typeface="Aptos"/>
                <a:cs typeface="Aptos"/>
              </a:defRPr>
            </a:pPr>
            <a:r>
              <a:rPr sz="975" b="1" i="0">
                <a:solidFill>
                  <a:srgbClr val="E6A34E"/>
                </a:solidFill>
                <a:latin typeface="Aptos"/>
                <a:ea typeface="Aptos"/>
                <a:cs typeface="Aptos"/>
              </a:rPr>
              <a:t>TECHNOLOGY ARCHITECTURE</a:t>
            </a:r>
          </a:p>
        </p:txBody>
      </p:sp>
      <p:sp>
        <p:nvSpPr>
          <p:cNvPr id="2" name="slide-title">
            <a:extLst xmlns:a="http://schemas.openxmlformats.org/drawingml/2006/main">
              <a:ext uri="{FF2B5EF4-FFF2-40B4-BE49-F238E27FC236}">
                <a16:creationId xmlns:a16="http://schemas.microsoft.com/office/drawing/2014/main" id="{4FE422A1-E2A7-4560-A4F9-2B7674735DC0}"/>
              </a:ext>
            </a:extLst>
          </p:cNvPr>
          <p:cNvSpPr>
            <a:spLocks xmlns:a="http://schemas.openxmlformats.org/drawingml/2006/main" noGrp="1"/>
          </p:cNvSpPr>
          <p:nvPr/>
        </p:nvSpPr>
        <p:spPr>
          <a:xfrm xmlns:a="http://schemas.openxmlformats.org/drawingml/2006/main">
            <a:off x="666750" y="704850"/>
            <a:ext cx="10096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000" b="0" i="0">
                <a:solidFill>
                  <a:srgbClr val="F6F0E4"/>
                </a:solidFill>
                <a:latin typeface="Georgia"/>
                <a:ea typeface="Georgia"/>
                <a:cs typeface="Georgia"/>
              </a:defRPr>
            </a:pPr>
            <a:r>
              <a:rPr sz="3000" b="0" i="0">
                <a:solidFill>
                  <a:srgbClr val="F6F0E4"/>
                </a:solidFill>
                <a:latin typeface="Georgia"/>
                <a:ea typeface="Georgia"/>
                <a:cs typeface="Georgia"/>
              </a:rPr>
              <a:t>Production-shaped today. Production-hardened by design.</a:t>
            </a:r>
          </a:p>
        </p:txBody>
      </p:sp>
      <p:sp>
        <p:nvSpPr>
          <p:cNvPr id="3" name="">
            <a:extLst xmlns:a="http://schemas.openxmlformats.org/drawingml/2006/main">
              <a:ext uri="{FF2B5EF4-FFF2-40B4-BE49-F238E27FC236}">
                <a16:creationId xmlns:a16="http://schemas.microsoft.com/office/drawing/2014/main" id="{2B5AF506-2B4D-4853-8D78-5D906A15DC20}"/>
              </a:ext>
            </a:extLst>
          </p:cNvPr>
          <p:cNvSpPr>
            <a:spLocks xmlns:a="http://schemas.openxmlformats.org/drawingml/2006/main" noGrp="1"/>
          </p:cNvSpPr>
          <p:nvPr/>
        </p:nvSpPr>
        <p:spPr>
          <a:xfrm xmlns:a="http://schemas.openxmlformats.org/drawingml/2006/main">
            <a:off x="666750" y="1504950"/>
            <a:ext cx="2571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i="0">
                <a:solidFill>
                  <a:srgbClr val="E6A34E"/>
                </a:solidFill>
                <a:latin typeface="Aptos"/>
                <a:ea typeface="Aptos"/>
                <a:cs typeface="Aptos"/>
              </a:defRPr>
            </a:pPr>
            <a:r>
              <a:rPr sz="900" b="1" i="0">
                <a:solidFill>
                  <a:srgbClr val="E6A34E"/>
                </a:solidFill>
                <a:latin typeface="Aptos"/>
                <a:ea typeface="Aptos"/>
                <a:cs typeface="Aptos"/>
              </a:rPr>
              <a:t>LIVE JUDGE DEPLOYMENT</a:t>
            </a:r>
          </a:p>
        </p:txBody>
      </p:sp>
      <p:sp>
        <p:nvSpPr>
          <p:cNvPr id="4" name="">
            <a:extLst xmlns:a="http://schemas.openxmlformats.org/drawingml/2006/main">
              <a:ext uri="{FF2B5EF4-FFF2-40B4-BE49-F238E27FC236}">
                <a16:creationId xmlns:a16="http://schemas.microsoft.com/office/drawing/2014/main" id="{681F0278-F76A-4B0C-9857-E602875F9642}"/>
              </a:ext>
            </a:extLst>
          </p:cNvPr>
          <p:cNvSpPr>
            <a:spLocks xmlns:a="http://schemas.openxmlformats.org/drawingml/2006/main" noGrp="1"/>
          </p:cNvSpPr>
          <p:nvPr/>
        </p:nvSpPr>
        <p:spPr>
          <a:xfrm xmlns:a="http://schemas.openxmlformats.org/drawingml/2006/main">
            <a:off x="666750" y="1885950"/>
            <a:ext cx="2438400" cy="1104900"/>
          </a:xfrm>
          <a:prstGeom xmlns:a="http://schemas.openxmlformats.org/drawingml/2006/main" prst="roundRect">
            <a:avLst>
              <a:gd name="adj" fmla="val 13793"/>
            </a:avLst>
          </a:prstGeom>
          <a:solidFill xmlns:a="http://schemas.openxmlformats.org/drawingml/2006/main">
            <a:srgbClr val="21463A"/>
          </a:solidFill>
          <a:ln xmlns:a="http://schemas.openxmlformats.org/drawingml/2006/main" w="9525">
            <a:solidFill>
              <a:srgbClr val="48685B"/>
            </a:solidFill>
            <a:prstDash val="solid"/>
          </a:ln>
        </p:spPr>
      </p:sp>
      <p:sp>
        <p:nvSpPr>
          <p:cNvPr id="5" name="">
            <a:extLst xmlns:a="http://schemas.openxmlformats.org/drawingml/2006/main">
              <a:ext uri="{FF2B5EF4-FFF2-40B4-BE49-F238E27FC236}">
                <a16:creationId xmlns:a16="http://schemas.microsoft.com/office/drawing/2014/main" id="{1B46459B-ADA9-491B-9E65-C86AA1267015}"/>
              </a:ext>
            </a:extLst>
          </p:cNvPr>
          <p:cNvSpPr>
            <a:spLocks xmlns:a="http://schemas.openxmlformats.org/drawingml/2006/main" noGrp="1"/>
          </p:cNvSpPr>
          <p:nvPr/>
        </p:nvSpPr>
        <p:spPr>
          <a:xfrm xmlns:a="http://schemas.openxmlformats.org/drawingml/2006/main">
            <a:off x="838200" y="211455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425" b="1" i="0">
                <a:solidFill>
                  <a:srgbClr val="F6F0E4"/>
                </a:solidFill>
                <a:latin typeface="Aptos"/>
                <a:ea typeface="Aptos"/>
                <a:cs typeface="Aptos"/>
              </a:defRPr>
            </a:pPr>
            <a:r>
              <a:rPr sz="1425" b="1" i="0">
                <a:solidFill>
                  <a:srgbClr val="F6F0E4"/>
                </a:solidFill>
                <a:latin typeface="Aptos"/>
                <a:ea typeface="Aptos"/>
                <a:cs typeface="Aptos"/>
              </a:rPr>
              <a:t>Next.js 16 + React 19</a:t>
            </a:r>
          </a:p>
        </p:txBody>
      </p:sp>
      <p:sp>
        <p:nvSpPr>
          <p:cNvPr id="6" name="">
            <a:extLst xmlns:a="http://schemas.openxmlformats.org/drawingml/2006/main">
              <a:ext uri="{FF2B5EF4-FFF2-40B4-BE49-F238E27FC236}">
                <a16:creationId xmlns:a16="http://schemas.microsoft.com/office/drawing/2014/main" id="{F32E66EE-B958-4C82-A18F-B5733AD96A21}"/>
              </a:ext>
            </a:extLst>
          </p:cNvPr>
          <p:cNvSpPr>
            <a:spLocks xmlns:a="http://schemas.openxmlformats.org/drawingml/2006/main" noGrp="1"/>
          </p:cNvSpPr>
          <p:nvPr/>
        </p:nvSpPr>
        <p:spPr>
          <a:xfrm xmlns:a="http://schemas.openxmlformats.org/drawingml/2006/main">
            <a:off x="838200" y="257175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0" i="0">
                <a:solidFill>
                  <a:srgbClr val="C2CEC6"/>
                </a:solidFill>
                <a:latin typeface="Aptos"/>
                <a:ea typeface="Aptos"/>
                <a:cs typeface="Aptos"/>
              </a:defRPr>
            </a:pPr>
            <a:r>
              <a:rPr sz="975" b="0" i="0">
                <a:solidFill>
                  <a:srgbClr val="C2CEC6"/>
                </a:solidFill>
                <a:latin typeface="Aptos"/>
                <a:ea typeface="Aptos"/>
                <a:cs typeface="Aptos"/>
              </a:rPr>
              <a:t>Guest and staff surfaces</a:t>
            </a:r>
          </a:p>
        </p:txBody>
      </p:sp>
      <p:sp>
        <p:nvSpPr>
          <p:cNvPr id="7" name="">
            <a:extLst xmlns:a="http://schemas.openxmlformats.org/drawingml/2006/main">
              <a:ext uri="{FF2B5EF4-FFF2-40B4-BE49-F238E27FC236}">
                <a16:creationId xmlns:a16="http://schemas.microsoft.com/office/drawing/2014/main" id="{49D7BEA3-EA3C-4F95-975E-C8F2E557DAD4}"/>
              </a:ext>
            </a:extLst>
          </p:cNvPr>
          <p:cNvSpPr>
            <a:spLocks xmlns:a="http://schemas.openxmlformats.org/drawingml/2006/main" noGrp="1"/>
          </p:cNvSpPr>
          <p:nvPr/>
        </p:nvSpPr>
        <p:spPr>
          <a:xfrm xmlns:a="http://schemas.openxmlformats.org/drawingml/2006/main">
            <a:off x="3486150" y="1885950"/>
            <a:ext cx="2438400" cy="1104900"/>
          </a:xfrm>
          <a:prstGeom xmlns:a="http://schemas.openxmlformats.org/drawingml/2006/main" prst="roundRect">
            <a:avLst>
              <a:gd name="adj" fmla="val 13793"/>
            </a:avLst>
          </a:prstGeom>
          <a:solidFill xmlns:a="http://schemas.openxmlformats.org/drawingml/2006/main">
            <a:srgbClr val="21463A"/>
          </a:solidFill>
          <a:ln xmlns:a="http://schemas.openxmlformats.org/drawingml/2006/main" w="9525">
            <a:solidFill>
              <a:srgbClr val="48685B"/>
            </a:solidFill>
            <a:prstDash val="solid"/>
          </a:ln>
        </p:spPr>
      </p:sp>
      <p:sp>
        <p:nvSpPr>
          <p:cNvPr id="8" name="">
            <a:extLst xmlns:a="http://schemas.openxmlformats.org/drawingml/2006/main">
              <a:ext uri="{FF2B5EF4-FFF2-40B4-BE49-F238E27FC236}">
                <a16:creationId xmlns:a16="http://schemas.microsoft.com/office/drawing/2014/main" id="{D14CA57C-E79E-4C03-B65B-2BC33BDBE005}"/>
              </a:ext>
            </a:extLst>
          </p:cNvPr>
          <p:cNvSpPr>
            <a:spLocks xmlns:a="http://schemas.openxmlformats.org/drawingml/2006/main" noGrp="1"/>
          </p:cNvSpPr>
          <p:nvPr/>
        </p:nvSpPr>
        <p:spPr>
          <a:xfrm xmlns:a="http://schemas.openxmlformats.org/drawingml/2006/main">
            <a:off x="3657600" y="211455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425" b="1" i="0">
                <a:solidFill>
                  <a:srgbClr val="F6F0E4"/>
                </a:solidFill>
                <a:latin typeface="Aptos"/>
                <a:ea typeface="Aptos"/>
                <a:cs typeface="Aptos"/>
              </a:defRPr>
            </a:pPr>
            <a:r>
              <a:rPr sz="1425" b="1" i="0">
                <a:solidFill>
                  <a:srgbClr val="F6F0E4"/>
                </a:solidFill>
                <a:latin typeface="Aptos"/>
                <a:ea typeface="Aptos"/>
                <a:cs typeface="Aptos"/>
              </a:rPr>
              <a:t>Route handlers</a:t>
            </a:r>
          </a:p>
        </p:txBody>
      </p:sp>
      <p:sp>
        <p:nvSpPr>
          <p:cNvPr id="9" name="">
            <a:extLst xmlns:a="http://schemas.openxmlformats.org/drawingml/2006/main">
              <a:ext uri="{FF2B5EF4-FFF2-40B4-BE49-F238E27FC236}">
                <a16:creationId xmlns:a16="http://schemas.microsoft.com/office/drawing/2014/main" id="{1D70672A-0EBB-47C7-9AB6-023FED1097CE}"/>
              </a:ext>
            </a:extLst>
          </p:cNvPr>
          <p:cNvSpPr>
            <a:spLocks xmlns:a="http://schemas.openxmlformats.org/drawingml/2006/main" noGrp="1"/>
          </p:cNvSpPr>
          <p:nvPr/>
        </p:nvSpPr>
        <p:spPr>
          <a:xfrm xmlns:a="http://schemas.openxmlformats.org/drawingml/2006/main">
            <a:off x="3657600" y="257175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0" i="0">
                <a:solidFill>
                  <a:srgbClr val="C2CEC6"/>
                </a:solidFill>
                <a:latin typeface="Aptos"/>
                <a:ea typeface="Aptos"/>
                <a:cs typeface="Aptos"/>
              </a:defRPr>
            </a:pPr>
            <a:r>
              <a:rPr sz="975" b="0" i="0">
                <a:solidFill>
                  <a:srgbClr val="C2CEC6"/>
                </a:solidFill>
                <a:latin typeface="Aptos"/>
                <a:ea typeface="Aptos"/>
                <a:cs typeface="Aptos"/>
              </a:rPr>
              <a:t>Validated API actions</a:t>
            </a:r>
          </a:p>
        </p:txBody>
      </p:sp>
      <p:sp>
        <p:nvSpPr>
          <p:cNvPr id="10" name="">
            <a:extLst xmlns:a="http://schemas.openxmlformats.org/drawingml/2006/main">
              <a:ext uri="{FF2B5EF4-FFF2-40B4-BE49-F238E27FC236}">
                <a16:creationId xmlns:a16="http://schemas.microsoft.com/office/drawing/2014/main" id="{D63F82E3-2CC8-4E83-A4BF-60D6F14E3E38}"/>
              </a:ext>
            </a:extLst>
          </p:cNvPr>
          <p:cNvSpPr>
            <a:spLocks xmlns:a="http://schemas.openxmlformats.org/drawingml/2006/main" noGrp="1"/>
          </p:cNvSpPr>
          <p:nvPr/>
        </p:nvSpPr>
        <p:spPr>
          <a:xfrm xmlns:a="http://schemas.openxmlformats.org/drawingml/2006/main">
            <a:off x="6305550" y="1885950"/>
            <a:ext cx="2438400" cy="1104900"/>
          </a:xfrm>
          <a:prstGeom xmlns:a="http://schemas.openxmlformats.org/drawingml/2006/main" prst="roundRect">
            <a:avLst>
              <a:gd name="adj" fmla="val 13793"/>
            </a:avLst>
          </a:prstGeom>
          <a:solidFill xmlns:a="http://schemas.openxmlformats.org/drawingml/2006/main">
            <a:srgbClr val="21463A"/>
          </a:solidFill>
          <a:ln xmlns:a="http://schemas.openxmlformats.org/drawingml/2006/main" w="9525">
            <a:solidFill>
              <a:srgbClr val="48685B"/>
            </a:solidFill>
            <a:prstDash val="solid"/>
          </a:ln>
        </p:spPr>
      </p:sp>
      <p:sp>
        <p:nvSpPr>
          <p:cNvPr id="11" name="">
            <a:extLst xmlns:a="http://schemas.openxmlformats.org/drawingml/2006/main">
              <a:ext uri="{FF2B5EF4-FFF2-40B4-BE49-F238E27FC236}">
                <a16:creationId xmlns:a16="http://schemas.microsoft.com/office/drawing/2014/main" id="{1DA32245-C66F-4CAF-A8D6-05FDFDC6B3FB}"/>
              </a:ext>
            </a:extLst>
          </p:cNvPr>
          <p:cNvSpPr>
            <a:spLocks xmlns:a="http://schemas.openxmlformats.org/drawingml/2006/main" noGrp="1"/>
          </p:cNvSpPr>
          <p:nvPr/>
        </p:nvSpPr>
        <p:spPr>
          <a:xfrm xmlns:a="http://schemas.openxmlformats.org/drawingml/2006/main">
            <a:off x="6477000" y="211455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3924"/>
          </a:bodyPr>
          <a:lstStyle xmlns:a="http://schemas.openxmlformats.org/drawingml/2006/main"/>
          <a:p xmlns:a="http://schemas.openxmlformats.org/drawingml/2006/main">
            <a:pPr algn="ctr">
              <a:defRPr sz="1425" b="1" i="0">
                <a:solidFill>
                  <a:srgbClr val="F6F0E4"/>
                </a:solidFill>
                <a:latin typeface="Aptos"/>
                <a:ea typeface="Aptos"/>
                <a:cs typeface="Aptos"/>
              </a:defRPr>
            </a:pPr>
            <a:r>
              <a:rPr sz="1425" b="1" i="0">
                <a:solidFill>
                  <a:srgbClr val="F6F0E4"/>
                </a:solidFill>
                <a:latin typeface="Aptos"/>
                <a:ea typeface="Aptos"/>
                <a:cs typeface="Aptos"/>
              </a:rPr>
              <a:t>TypeScript domain engine</a:t>
            </a:r>
          </a:p>
        </p:txBody>
      </p:sp>
      <p:sp>
        <p:nvSpPr>
          <p:cNvPr id="12" name="">
            <a:extLst xmlns:a="http://schemas.openxmlformats.org/drawingml/2006/main">
              <a:ext uri="{FF2B5EF4-FFF2-40B4-BE49-F238E27FC236}">
                <a16:creationId xmlns:a16="http://schemas.microsoft.com/office/drawing/2014/main" id="{5A6AB55B-0301-437B-85C5-34899E886890}"/>
              </a:ext>
            </a:extLst>
          </p:cNvPr>
          <p:cNvSpPr>
            <a:spLocks xmlns:a="http://schemas.openxmlformats.org/drawingml/2006/main" noGrp="1"/>
          </p:cNvSpPr>
          <p:nvPr/>
        </p:nvSpPr>
        <p:spPr>
          <a:xfrm xmlns:a="http://schemas.openxmlformats.org/drawingml/2006/main">
            <a:off x="6477000" y="257175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0" i="0">
                <a:solidFill>
                  <a:srgbClr val="C2CEC6"/>
                </a:solidFill>
                <a:latin typeface="Aptos"/>
                <a:ea typeface="Aptos"/>
                <a:cs typeface="Aptos"/>
              </a:defRPr>
            </a:pPr>
            <a:r>
              <a:rPr sz="975" b="0" i="0">
                <a:solidFill>
                  <a:srgbClr val="C2CEC6"/>
                </a:solidFill>
                <a:latin typeface="Aptos"/>
                <a:ea typeface="Aptos"/>
                <a:cs typeface="Aptos"/>
              </a:rPr>
              <a:t>Inventory, billing, permissions</a:t>
            </a:r>
          </a:p>
        </p:txBody>
      </p:sp>
      <p:sp>
        <p:nvSpPr>
          <p:cNvPr id="13" name="">
            <a:extLst xmlns:a="http://schemas.openxmlformats.org/drawingml/2006/main">
              <a:ext uri="{FF2B5EF4-FFF2-40B4-BE49-F238E27FC236}">
                <a16:creationId xmlns:a16="http://schemas.microsoft.com/office/drawing/2014/main" id="{CAD9E540-975B-427B-A10A-B788F6AACDE6}"/>
              </a:ext>
            </a:extLst>
          </p:cNvPr>
          <p:cNvSpPr>
            <a:spLocks xmlns:a="http://schemas.openxmlformats.org/drawingml/2006/main" noGrp="1"/>
          </p:cNvSpPr>
          <p:nvPr/>
        </p:nvSpPr>
        <p:spPr>
          <a:xfrm xmlns:a="http://schemas.openxmlformats.org/drawingml/2006/main">
            <a:off x="9124950" y="1885950"/>
            <a:ext cx="2438400" cy="1104900"/>
          </a:xfrm>
          <a:prstGeom xmlns:a="http://schemas.openxmlformats.org/drawingml/2006/main" prst="roundRect">
            <a:avLst>
              <a:gd name="adj" fmla="val 13793"/>
            </a:avLst>
          </a:prstGeom>
          <a:solidFill xmlns:a="http://schemas.openxmlformats.org/drawingml/2006/main">
            <a:srgbClr val="21463A"/>
          </a:solidFill>
          <a:ln xmlns:a="http://schemas.openxmlformats.org/drawingml/2006/main" w="9525">
            <a:solidFill>
              <a:srgbClr val="48685B"/>
            </a:solidFill>
            <a:prstDash val="solid"/>
          </a:ln>
        </p:spPr>
      </p:sp>
      <p:sp>
        <p:nvSpPr>
          <p:cNvPr id="14" name="">
            <a:extLst xmlns:a="http://schemas.openxmlformats.org/drawingml/2006/main">
              <a:ext uri="{FF2B5EF4-FFF2-40B4-BE49-F238E27FC236}">
                <a16:creationId xmlns:a16="http://schemas.microsoft.com/office/drawing/2014/main" id="{EC3C201B-57F8-45EE-B6F0-1E600E457235}"/>
              </a:ext>
            </a:extLst>
          </p:cNvPr>
          <p:cNvSpPr>
            <a:spLocks xmlns:a="http://schemas.openxmlformats.org/drawingml/2006/main" noGrp="1"/>
          </p:cNvSpPr>
          <p:nvPr/>
        </p:nvSpPr>
        <p:spPr>
          <a:xfrm xmlns:a="http://schemas.openxmlformats.org/drawingml/2006/main">
            <a:off x="9296400" y="211455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425" b="1" i="0">
                <a:solidFill>
                  <a:srgbClr val="F6F0E4"/>
                </a:solidFill>
                <a:latin typeface="Aptos"/>
                <a:ea typeface="Aptos"/>
                <a:cs typeface="Aptos"/>
              </a:defRPr>
            </a:pPr>
            <a:r>
              <a:rPr sz="1425" b="1" i="0">
                <a:solidFill>
                  <a:srgbClr val="F6F0E4"/>
                </a:solidFill>
                <a:latin typeface="Aptos"/>
                <a:ea typeface="Aptos"/>
                <a:cs typeface="Aptos"/>
              </a:rPr>
              <a:t>Cloudflare D1</a:t>
            </a:r>
          </a:p>
        </p:txBody>
      </p:sp>
      <p:sp>
        <p:nvSpPr>
          <p:cNvPr id="15" name="">
            <a:extLst xmlns:a="http://schemas.openxmlformats.org/drawingml/2006/main">
              <a:ext uri="{FF2B5EF4-FFF2-40B4-BE49-F238E27FC236}">
                <a16:creationId xmlns:a16="http://schemas.microsoft.com/office/drawing/2014/main" id="{125D9789-BF13-4D3F-8C56-A4852601E446}"/>
              </a:ext>
            </a:extLst>
          </p:cNvPr>
          <p:cNvSpPr>
            <a:spLocks xmlns:a="http://schemas.openxmlformats.org/drawingml/2006/main" noGrp="1"/>
          </p:cNvSpPr>
          <p:nvPr/>
        </p:nvSpPr>
        <p:spPr>
          <a:xfrm xmlns:a="http://schemas.openxmlformats.org/drawingml/2006/main">
            <a:off x="9296400" y="257175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0" i="0">
                <a:solidFill>
                  <a:srgbClr val="C2CEC6"/>
                </a:solidFill>
                <a:latin typeface="Aptos"/>
                <a:ea typeface="Aptos"/>
                <a:cs typeface="Aptos"/>
              </a:defRPr>
            </a:pPr>
            <a:r>
              <a:rPr sz="975" b="0" i="0">
                <a:solidFill>
                  <a:srgbClr val="C2CEC6"/>
                </a:solidFill>
                <a:latin typeface="Aptos"/>
                <a:ea typeface="Aptos"/>
                <a:cs typeface="Aptos"/>
              </a:rPr>
              <a:t>Shared state + audit log</a:t>
            </a:r>
          </a:p>
        </p:txBody>
      </p:sp>
      <p:cxnSp>
        <p:nvCxnSpPr>
          <p:cNvPr id="53" name=""/>
          <p:cNvCxnSpPr>
            <a:stCxn xmlns:a="http://schemas.openxmlformats.org/drawingml/2006/main" id="4" idx="3"/>
            <a:endCxn xmlns:a="http://schemas.openxmlformats.org/drawingml/2006/main" id="7" idx="1"/>
          </p:cNvCxnSpPr>
          <p:nvPr/>
        </p:nvCxnSpPr>
        <p:spPr>
          <a:xfrm xmlns:a="http://schemas.openxmlformats.org/drawingml/2006/main">
            <a:off x="3105150" y="2438400"/>
            <a:ext cx="381000" cy="0"/>
          </a:xfrm>
          <a:prstGeom xmlns:a="http://schemas.openxmlformats.org/drawingml/2006/main" prst="straightConnector1">
            <a:avLst/>
          </a:prstGeom>
          <a:ln xmlns:a="http://schemas.openxmlformats.org/drawingml/2006/main" w="19050">
            <a:solidFill>
              <a:srgbClr val="E6A34E"/>
            </a:solidFill>
            <a:prstDash val="solid"/>
            <a:tailEnd type="arrow" w="sm" len="sm"/>
          </a:ln>
        </p:spPr>
      </p:cxnSp>
      <p:cxnSp>
        <p:nvCxnSpPr>
          <p:cNvPr id="54" name=""/>
          <p:cNvCxnSpPr>
            <a:stCxn xmlns:a="http://schemas.openxmlformats.org/drawingml/2006/main" id="7" idx="3"/>
            <a:endCxn xmlns:a="http://schemas.openxmlformats.org/drawingml/2006/main" id="10" idx="1"/>
          </p:cNvCxnSpPr>
          <p:nvPr/>
        </p:nvCxnSpPr>
        <p:spPr>
          <a:xfrm xmlns:a="http://schemas.openxmlformats.org/drawingml/2006/main">
            <a:off x="5924550" y="2438400"/>
            <a:ext cx="381000" cy="0"/>
          </a:xfrm>
          <a:prstGeom xmlns:a="http://schemas.openxmlformats.org/drawingml/2006/main" prst="straightConnector1">
            <a:avLst/>
          </a:prstGeom>
          <a:ln xmlns:a="http://schemas.openxmlformats.org/drawingml/2006/main" w="19050">
            <a:solidFill>
              <a:srgbClr val="E6A34E"/>
            </a:solidFill>
            <a:prstDash val="solid"/>
            <a:tailEnd type="arrow" w="sm" len="sm"/>
          </a:ln>
        </p:spPr>
      </p:cxnSp>
      <p:cxnSp>
        <p:nvCxnSpPr>
          <p:cNvPr id="55" name=""/>
          <p:cNvCxnSpPr>
            <a:stCxn xmlns:a="http://schemas.openxmlformats.org/drawingml/2006/main" id="10" idx="3"/>
            <a:endCxn xmlns:a="http://schemas.openxmlformats.org/drawingml/2006/main" id="13" idx="1"/>
          </p:cNvCxnSpPr>
          <p:nvPr/>
        </p:nvCxnSpPr>
        <p:spPr>
          <a:xfrm xmlns:a="http://schemas.openxmlformats.org/drawingml/2006/main">
            <a:off x="8743950" y="2438400"/>
            <a:ext cx="381000" cy="0"/>
          </a:xfrm>
          <a:prstGeom xmlns:a="http://schemas.openxmlformats.org/drawingml/2006/main" prst="straightConnector1">
            <a:avLst/>
          </a:prstGeom>
          <a:ln xmlns:a="http://schemas.openxmlformats.org/drawingml/2006/main" w="19050">
            <a:solidFill>
              <a:srgbClr val="E6A34E"/>
            </a:solidFill>
            <a:prstDash val="solid"/>
            <a:tailEnd type="arrow" w="sm" len="sm"/>
          </a:ln>
        </p:spPr>
      </p:cxnSp>
      <p:sp>
        <p:nvSpPr>
          <p:cNvPr id="19" name="">
            <a:extLst xmlns:a="http://schemas.openxmlformats.org/drawingml/2006/main">
              <a:ext uri="{FF2B5EF4-FFF2-40B4-BE49-F238E27FC236}">
                <a16:creationId xmlns:a16="http://schemas.microsoft.com/office/drawing/2014/main" id="{5CC61590-8B77-4B83-9CA8-C4176031EE98}"/>
              </a:ext>
            </a:extLst>
          </p:cNvPr>
          <p:cNvSpPr>
            <a:spLocks xmlns:a="http://schemas.openxmlformats.org/drawingml/2006/main" noGrp="1"/>
          </p:cNvSpPr>
          <p:nvPr/>
        </p:nvSpPr>
        <p:spPr>
          <a:xfrm xmlns:a="http://schemas.openxmlformats.org/drawingml/2006/main">
            <a:off x="3810000" y="3238500"/>
            <a:ext cx="4572000" cy="533400"/>
          </a:xfrm>
          <a:prstGeom xmlns:a="http://schemas.openxmlformats.org/drawingml/2006/main" prst="roundRect">
            <a:avLst>
              <a:gd name="adj" fmla="val 25000"/>
            </a:avLst>
          </a:prstGeom>
          <a:solidFill xmlns:a="http://schemas.openxmlformats.org/drawingml/2006/main">
            <a:srgbClr val="D1832E"/>
          </a:solidFill>
          <a:ln xmlns:a="http://schemas.openxmlformats.org/drawingml/2006/main" w="0">
            <a:solidFill>
              <a:srgbClr val="D1832E"/>
            </a:solidFill>
            <a:prstDash val="solid"/>
          </a:ln>
        </p:spPr>
      </p:sp>
      <p:sp>
        <p:nvSpPr>
          <p:cNvPr id="20" name="">
            <a:extLst xmlns:a="http://schemas.openxmlformats.org/drawingml/2006/main">
              <a:ext uri="{FF2B5EF4-FFF2-40B4-BE49-F238E27FC236}">
                <a16:creationId xmlns:a16="http://schemas.microsoft.com/office/drawing/2014/main" id="{44838756-89FC-48B9-9F65-434E21DABE4E}"/>
              </a:ext>
            </a:extLst>
          </p:cNvPr>
          <p:cNvSpPr>
            <a:spLocks xmlns:a="http://schemas.openxmlformats.org/drawingml/2006/main" noGrp="1"/>
          </p:cNvSpPr>
          <p:nvPr/>
        </p:nvSpPr>
        <p:spPr>
          <a:xfrm xmlns:a="http://schemas.openxmlformats.org/drawingml/2006/main">
            <a:off x="4000500" y="3390900"/>
            <a:ext cx="419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1" i="0">
                <a:solidFill>
                  <a:srgbClr val="FFFFFF"/>
                </a:solidFill>
                <a:latin typeface="Aptos"/>
                <a:ea typeface="Aptos"/>
                <a:cs typeface="Aptos"/>
              </a:defRPr>
            </a:pPr>
            <a:r>
              <a:rPr sz="1200" b="1" i="0">
                <a:solidFill>
                  <a:srgbClr val="FFFFFF"/>
                </a:solidFill>
                <a:latin typeface="Aptos"/>
                <a:ea typeface="Aptos"/>
                <a:cs typeface="Aptos"/>
              </a:rPr>
              <a:t>Optional Gemini REST • deterministic fallback</a:t>
            </a:r>
          </a:p>
        </p:txBody>
      </p:sp>
      <p:sp>
        <p:nvSpPr>
          <p:cNvPr id="21" name="">
            <a:extLst xmlns:a="http://schemas.openxmlformats.org/drawingml/2006/main">
              <a:ext uri="{FF2B5EF4-FFF2-40B4-BE49-F238E27FC236}">
                <a16:creationId xmlns:a16="http://schemas.microsoft.com/office/drawing/2014/main" id="{D5A8BF05-2953-4716-915A-30F5B0530776}"/>
              </a:ext>
            </a:extLst>
          </p:cNvPr>
          <p:cNvSpPr>
            <a:spLocks xmlns:a="http://schemas.openxmlformats.org/drawingml/2006/main" noGrp="1"/>
          </p:cNvSpPr>
          <p:nvPr/>
        </p:nvSpPr>
        <p:spPr>
          <a:xfrm xmlns:a="http://schemas.openxmlformats.org/drawingml/2006/main">
            <a:off x="666750" y="4229100"/>
            <a:ext cx="342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i="0">
                <a:solidFill>
                  <a:srgbClr val="E6A34E"/>
                </a:solidFill>
                <a:latin typeface="Aptos"/>
                <a:ea typeface="Aptos"/>
                <a:cs typeface="Aptos"/>
              </a:defRPr>
            </a:pPr>
            <a:r>
              <a:rPr sz="900" b="1" i="0">
                <a:solidFill>
                  <a:srgbClr val="E6A34E"/>
                </a:solidFill>
                <a:latin typeface="Aptos"/>
                <a:ea typeface="Aptos"/>
                <a:cs typeface="Aptos"/>
              </a:rPr>
              <a:t>PRODUCTION SAAS HARDENING PATH</a:t>
            </a:r>
          </a:p>
        </p:txBody>
      </p:sp>
      <p:sp>
        <p:nvSpPr>
          <p:cNvPr id="22" name="">
            <a:extLst xmlns:a="http://schemas.openxmlformats.org/drawingml/2006/main">
              <a:ext uri="{FF2B5EF4-FFF2-40B4-BE49-F238E27FC236}">
                <a16:creationId xmlns:a16="http://schemas.microsoft.com/office/drawing/2014/main" id="{7D8B8BF5-CB13-4F3D-96FF-F5A3A9C99D7F}"/>
              </a:ext>
            </a:extLst>
          </p:cNvPr>
          <p:cNvSpPr>
            <a:spLocks xmlns:a="http://schemas.openxmlformats.org/drawingml/2006/main" noGrp="1"/>
          </p:cNvSpPr>
          <p:nvPr/>
        </p:nvSpPr>
        <p:spPr>
          <a:xfrm xmlns:a="http://schemas.openxmlformats.org/drawingml/2006/main">
            <a:off x="666750" y="4572000"/>
            <a:ext cx="10858500" cy="1123950"/>
          </a:xfrm>
          <a:prstGeom xmlns:a="http://schemas.openxmlformats.org/drawingml/2006/main" prst="roundRect">
            <a:avLst>
              <a:gd name="adj" fmla="val 16949"/>
            </a:avLst>
          </a:prstGeom>
          <a:solidFill xmlns:a="http://schemas.openxmlformats.org/drawingml/2006/main">
            <a:srgbClr val="F6F0E4"/>
          </a:solidFill>
          <a:ln xmlns:a="http://schemas.openxmlformats.org/drawingml/2006/main" w="9525">
            <a:solidFill>
              <a:srgbClr val="E6A34E"/>
            </a:solidFill>
            <a:prstDash val="solid"/>
          </a:ln>
        </p:spPr>
      </p:sp>
      <p:sp>
        <p:nvSpPr>
          <p:cNvPr id="23" name="">
            <a:extLst xmlns:a="http://schemas.openxmlformats.org/drawingml/2006/main">
              <a:ext uri="{FF2B5EF4-FFF2-40B4-BE49-F238E27FC236}">
                <a16:creationId xmlns:a16="http://schemas.microsoft.com/office/drawing/2014/main" id="{E94A0631-B0ED-4444-874B-5F647302D094}"/>
              </a:ext>
            </a:extLst>
          </p:cNvPr>
          <p:cNvSpPr>
            <a:spLocks xmlns:a="http://schemas.openxmlformats.org/drawingml/2006/main" noGrp="1"/>
          </p:cNvSpPr>
          <p:nvPr/>
        </p:nvSpPr>
        <p:spPr>
          <a:xfrm xmlns:a="http://schemas.openxmlformats.org/drawingml/2006/main">
            <a:off x="952500" y="4810125"/>
            <a:ext cx="2247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75" b="0" i="0">
                <a:solidFill>
                  <a:srgbClr val="18372D"/>
                </a:solidFill>
                <a:latin typeface="Georgia"/>
                <a:ea typeface="Georgia"/>
                <a:cs typeface="Georgia"/>
              </a:defRPr>
            </a:pPr>
            <a:r>
              <a:rPr sz="1575" b="0" i="0">
                <a:solidFill>
                  <a:srgbClr val="18372D"/>
                </a:solidFill>
                <a:latin typeface="Georgia"/>
                <a:ea typeface="Georgia"/>
                <a:cs typeface="Georgia"/>
              </a:rPr>
              <a:t>Supabase Auth</a:t>
            </a:r>
          </a:p>
        </p:txBody>
      </p:sp>
      <p:sp>
        <p:nvSpPr>
          <p:cNvPr id="24" name="">
            <a:extLst xmlns:a="http://schemas.openxmlformats.org/drawingml/2006/main">
              <a:ext uri="{FF2B5EF4-FFF2-40B4-BE49-F238E27FC236}">
                <a16:creationId xmlns:a16="http://schemas.microsoft.com/office/drawing/2014/main" id="{DC20AB3E-3B68-43E6-881D-757E0B8746FD}"/>
              </a:ext>
            </a:extLst>
          </p:cNvPr>
          <p:cNvSpPr>
            <a:spLocks xmlns:a="http://schemas.openxmlformats.org/drawingml/2006/main" noGrp="1"/>
          </p:cNvSpPr>
          <p:nvPr/>
        </p:nvSpPr>
        <p:spPr>
          <a:xfrm xmlns:a="http://schemas.openxmlformats.org/drawingml/2006/main">
            <a:off x="952500" y="5191125"/>
            <a:ext cx="2247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0" i="0">
                <a:solidFill>
                  <a:srgbClr val="6E7068"/>
                </a:solidFill>
                <a:latin typeface="Aptos"/>
                <a:ea typeface="Aptos"/>
                <a:cs typeface="Aptos"/>
              </a:defRPr>
            </a:pPr>
            <a:r>
              <a:rPr sz="975" b="0" i="0">
                <a:solidFill>
                  <a:srgbClr val="6E7068"/>
                </a:solidFill>
                <a:latin typeface="Aptos"/>
                <a:ea typeface="Aptos"/>
                <a:cs typeface="Aptos"/>
              </a:rPr>
              <a:t>Email verification + Google OAuth</a:t>
            </a:r>
          </a:p>
        </p:txBody>
      </p:sp>
      <p:sp>
        <p:nvSpPr>
          <p:cNvPr id="25" name="">
            <a:extLst xmlns:a="http://schemas.openxmlformats.org/drawingml/2006/main">
              <a:ext uri="{FF2B5EF4-FFF2-40B4-BE49-F238E27FC236}">
                <a16:creationId xmlns:a16="http://schemas.microsoft.com/office/drawing/2014/main" id="{5D755D6E-8645-4F3C-9718-11EEDAC54781}"/>
              </a:ext>
            </a:extLst>
          </p:cNvPr>
          <p:cNvSpPr>
            <a:spLocks xmlns:a="http://schemas.openxmlformats.org/drawingml/2006/main" noGrp="1"/>
          </p:cNvSpPr>
          <p:nvPr/>
        </p:nvSpPr>
        <p:spPr>
          <a:xfrm xmlns:a="http://schemas.openxmlformats.org/drawingml/2006/main">
            <a:off x="3352800" y="4800600"/>
            <a:ext cx="0" cy="666750"/>
          </a:xfrm>
          <a:prstGeom xmlns:a="http://schemas.openxmlformats.org/drawingml/2006/main" prst="line">
            <a:avLst/>
          </a:prstGeom>
          <a:noFill xmlns:a="http://schemas.openxmlformats.org/drawingml/2006/main"/>
          <a:ln xmlns:a="http://schemas.openxmlformats.org/drawingml/2006/main" w="9525">
            <a:solidFill>
              <a:srgbClr val="D8D0C2"/>
            </a:solidFill>
            <a:prstDash val="solid"/>
          </a:ln>
        </p:spPr>
      </p:sp>
      <p:sp>
        <p:nvSpPr>
          <p:cNvPr id="26" name="">
            <a:extLst xmlns:a="http://schemas.openxmlformats.org/drawingml/2006/main">
              <a:ext uri="{FF2B5EF4-FFF2-40B4-BE49-F238E27FC236}">
                <a16:creationId xmlns:a16="http://schemas.microsoft.com/office/drawing/2014/main" id="{9CF8D8E6-8B2C-405A-AE56-8DC58B8B7075}"/>
              </a:ext>
            </a:extLst>
          </p:cNvPr>
          <p:cNvSpPr>
            <a:spLocks xmlns:a="http://schemas.openxmlformats.org/drawingml/2006/main" noGrp="1"/>
          </p:cNvSpPr>
          <p:nvPr/>
        </p:nvSpPr>
        <p:spPr>
          <a:xfrm xmlns:a="http://schemas.openxmlformats.org/drawingml/2006/main">
            <a:off x="3600450" y="4810125"/>
            <a:ext cx="2247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75" b="0" i="0">
                <a:solidFill>
                  <a:srgbClr val="18372D"/>
                </a:solidFill>
                <a:latin typeface="Georgia"/>
                <a:ea typeface="Georgia"/>
                <a:cs typeface="Georgia"/>
              </a:defRPr>
            </a:pPr>
            <a:r>
              <a:rPr sz="1575" b="0" i="0">
                <a:solidFill>
                  <a:srgbClr val="18372D"/>
                </a:solidFill>
                <a:latin typeface="Georgia"/>
                <a:ea typeface="Georgia"/>
                <a:cs typeface="Georgia"/>
              </a:rPr>
              <a:t>PostgreSQL + RLS</a:t>
            </a:r>
          </a:p>
        </p:txBody>
      </p:sp>
      <p:sp>
        <p:nvSpPr>
          <p:cNvPr id="27" name="">
            <a:extLst xmlns:a="http://schemas.openxmlformats.org/drawingml/2006/main">
              <a:ext uri="{FF2B5EF4-FFF2-40B4-BE49-F238E27FC236}">
                <a16:creationId xmlns:a16="http://schemas.microsoft.com/office/drawing/2014/main" id="{1044BBD2-7730-4261-9997-5AAD157CA4CE}"/>
              </a:ext>
            </a:extLst>
          </p:cNvPr>
          <p:cNvSpPr>
            <a:spLocks xmlns:a="http://schemas.openxmlformats.org/drawingml/2006/main" noGrp="1"/>
          </p:cNvSpPr>
          <p:nvPr/>
        </p:nvSpPr>
        <p:spPr>
          <a:xfrm xmlns:a="http://schemas.openxmlformats.org/drawingml/2006/main">
            <a:off x="3600450" y="5191125"/>
            <a:ext cx="2247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0" i="0">
                <a:solidFill>
                  <a:srgbClr val="6E7068"/>
                </a:solidFill>
                <a:latin typeface="Aptos"/>
                <a:ea typeface="Aptos"/>
                <a:cs typeface="Aptos"/>
              </a:defRPr>
            </a:pPr>
            <a:r>
              <a:rPr sz="975" b="0" i="0">
                <a:solidFill>
                  <a:srgbClr val="6E7068"/>
                </a:solidFill>
                <a:latin typeface="Aptos"/>
                <a:ea typeface="Aptos"/>
                <a:cs typeface="Aptos"/>
              </a:rPr>
              <a:t>Tenant-isolated restaurant data</a:t>
            </a:r>
          </a:p>
        </p:txBody>
      </p:sp>
      <p:sp>
        <p:nvSpPr>
          <p:cNvPr id="28" name="">
            <a:extLst xmlns:a="http://schemas.openxmlformats.org/drawingml/2006/main">
              <a:ext uri="{FF2B5EF4-FFF2-40B4-BE49-F238E27FC236}">
                <a16:creationId xmlns:a16="http://schemas.microsoft.com/office/drawing/2014/main" id="{30A0BBEA-D36B-4B7D-AE80-8E67CAC9058C}"/>
              </a:ext>
            </a:extLst>
          </p:cNvPr>
          <p:cNvSpPr>
            <a:spLocks xmlns:a="http://schemas.openxmlformats.org/drawingml/2006/main" noGrp="1"/>
          </p:cNvSpPr>
          <p:nvPr/>
        </p:nvSpPr>
        <p:spPr>
          <a:xfrm xmlns:a="http://schemas.openxmlformats.org/drawingml/2006/main">
            <a:off x="6000750" y="4800600"/>
            <a:ext cx="0" cy="666750"/>
          </a:xfrm>
          <a:prstGeom xmlns:a="http://schemas.openxmlformats.org/drawingml/2006/main" prst="line">
            <a:avLst/>
          </a:prstGeom>
          <a:noFill xmlns:a="http://schemas.openxmlformats.org/drawingml/2006/main"/>
          <a:ln xmlns:a="http://schemas.openxmlformats.org/drawingml/2006/main" w="9525">
            <a:solidFill>
              <a:srgbClr val="D8D0C2"/>
            </a:solidFill>
            <a:prstDash val="solid"/>
          </a:ln>
        </p:spPr>
      </p:sp>
      <p:sp>
        <p:nvSpPr>
          <p:cNvPr id="29" name="">
            <a:extLst xmlns:a="http://schemas.openxmlformats.org/drawingml/2006/main">
              <a:ext uri="{FF2B5EF4-FFF2-40B4-BE49-F238E27FC236}">
                <a16:creationId xmlns:a16="http://schemas.microsoft.com/office/drawing/2014/main" id="{81E3D69E-7282-4B64-ABB6-87B3B4E260C8}"/>
              </a:ext>
            </a:extLst>
          </p:cNvPr>
          <p:cNvSpPr>
            <a:spLocks xmlns:a="http://schemas.openxmlformats.org/drawingml/2006/main" noGrp="1"/>
          </p:cNvSpPr>
          <p:nvPr/>
        </p:nvSpPr>
        <p:spPr>
          <a:xfrm xmlns:a="http://schemas.openxmlformats.org/drawingml/2006/main">
            <a:off x="6248400" y="4810125"/>
            <a:ext cx="2247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75" b="0" i="0">
                <a:solidFill>
                  <a:srgbClr val="18372D"/>
                </a:solidFill>
                <a:latin typeface="Georgia"/>
                <a:ea typeface="Georgia"/>
                <a:cs typeface="Georgia"/>
              </a:defRPr>
            </a:pPr>
            <a:r>
              <a:rPr sz="1575" b="0" i="0">
                <a:solidFill>
                  <a:srgbClr val="18372D"/>
                </a:solidFill>
                <a:latin typeface="Georgia"/>
                <a:ea typeface="Georgia"/>
                <a:cs typeface="Georgia"/>
              </a:rPr>
              <a:t>Realtime events</a:t>
            </a:r>
          </a:p>
        </p:txBody>
      </p:sp>
      <p:sp>
        <p:nvSpPr>
          <p:cNvPr id="30" name="">
            <a:extLst xmlns:a="http://schemas.openxmlformats.org/drawingml/2006/main">
              <a:ext uri="{FF2B5EF4-FFF2-40B4-BE49-F238E27FC236}">
                <a16:creationId xmlns:a16="http://schemas.microsoft.com/office/drawing/2014/main" id="{F424A65D-3358-4AAC-9ACD-33F045ED4854}"/>
              </a:ext>
            </a:extLst>
          </p:cNvPr>
          <p:cNvSpPr>
            <a:spLocks xmlns:a="http://schemas.openxmlformats.org/drawingml/2006/main" noGrp="1"/>
          </p:cNvSpPr>
          <p:nvPr/>
        </p:nvSpPr>
        <p:spPr>
          <a:xfrm xmlns:a="http://schemas.openxmlformats.org/drawingml/2006/main">
            <a:off x="6248400" y="5191125"/>
            <a:ext cx="2247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0" i="0">
                <a:solidFill>
                  <a:srgbClr val="6E7068"/>
                </a:solidFill>
                <a:latin typeface="Aptos"/>
                <a:ea typeface="Aptos"/>
                <a:cs typeface="Aptos"/>
              </a:defRPr>
            </a:pPr>
            <a:r>
              <a:rPr sz="975" b="0" i="0">
                <a:solidFill>
                  <a:srgbClr val="6E7068"/>
                </a:solidFill>
                <a:latin typeface="Aptos"/>
                <a:ea typeface="Aptos"/>
                <a:cs typeface="Aptos"/>
              </a:rPr>
              <a:t>Push updates instead of polling</a:t>
            </a:r>
          </a:p>
        </p:txBody>
      </p:sp>
      <p:sp>
        <p:nvSpPr>
          <p:cNvPr id="31" name="">
            <a:extLst xmlns:a="http://schemas.openxmlformats.org/drawingml/2006/main">
              <a:ext uri="{FF2B5EF4-FFF2-40B4-BE49-F238E27FC236}">
                <a16:creationId xmlns:a16="http://schemas.microsoft.com/office/drawing/2014/main" id="{72A48384-D445-458F-B8B7-99792E2BA8B9}"/>
              </a:ext>
            </a:extLst>
          </p:cNvPr>
          <p:cNvSpPr>
            <a:spLocks xmlns:a="http://schemas.openxmlformats.org/drawingml/2006/main" noGrp="1"/>
          </p:cNvSpPr>
          <p:nvPr/>
        </p:nvSpPr>
        <p:spPr>
          <a:xfrm xmlns:a="http://schemas.openxmlformats.org/drawingml/2006/main">
            <a:off x="8648700" y="4800600"/>
            <a:ext cx="0" cy="666750"/>
          </a:xfrm>
          <a:prstGeom xmlns:a="http://schemas.openxmlformats.org/drawingml/2006/main" prst="line">
            <a:avLst/>
          </a:prstGeom>
          <a:noFill xmlns:a="http://schemas.openxmlformats.org/drawingml/2006/main"/>
          <a:ln xmlns:a="http://schemas.openxmlformats.org/drawingml/2006/main" w="9525">
            <a:solidFill>
              <a:srgbClr val="D8D0C2"/>
            </a:solidFill>
            <a:prstDash val="solid"/>
          </a:ln>
        </p:spPr>
      </p:sp>
      <p:sp>
        <p:nvSpPr>
          <p:cNvPr id="32" name="">
            <a:extLst xmlns:a="http://schemas.openxmlformats.org/drawingml/2006/main">
              <a:ext uri="{FF2B5EF4-FFF2-40B4-BE49-F238E27FC236}">
                <a16:creationId xmlns:a16="http://schemas.microsoft.com/office/drawing/2014/main" id="{6538FB40-2570-4070-97FB-11471D5A4D1F}"/>
              </a:ext>
            </a:extLst>
          </p:cNvPr>
          <p:cNvSpPr>
            <a:spLocks xmlns:a="http://schemas.openxmlformats.org/drawingml/2006/main" noGrp="1"/>
          </p:cNvSpPr>
          <p:nvPr/>
        </p:nvSpPr>
        <p:spPr>
          <a:xfrm xmlns:a="http://schemas.openxmlformats.org/drawingml/2006/main">
            <a:off x="8896350" y="4810125"/>
            <a:ext cx="2247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75" b="0" i="0">
                <a:solidFill>
                  <a:srgbClr val="18372D"/>
                </a:solidFill>
                <a:latin typeface="Georgia"/>
                <a:ea typeface="Georgia"/>
                <a:cs typeface="Georgia"/>
              </a:defRPr>
            </a:pPr>
            <a:r>
              <a:rPr sz="1575" b="0" i="0">
                <a:solidFill>
                  <a:srgbClr val="18372D"/>
                </a:solidFill>
                <a:latin typeface="Georgia"/>
                <a:ea typeface="Georgia"/>
                <a:cs typeface="Georgia"/>
              </a:rPr>
              <a:t>Provider integrations</a:t>
            </a:r>
          </a:p>
        </p:txBody>
      </p:sp>
      <p:sp>
        <p:nvSpPr>
          <p:cNvPr id="33" name="">
            <a:extLst xmlns:a="http://schemas.openxmlformats.org/drawingml/2006/main">
              <a:ext uri="{FF2B5EF4-FFF2-40B4-BE49-F238E27FC236}">
                <a16:creationId xmlns:a16="http://schemas.microsoft.com/office/drawing/2014/main" id="{8C33ADB8-C2F2-4BB5-A3FD-5F5C45DAFB7D}"/>
              </a:ext>
            </a:extLst>
          </p:cNvPr>
          <p:cNvSpPr>
            <a:spLocks xmlns:a="http://schemas.openxmlformats.org/drawingml/2006/main" noGrp="1"/>
          </p:cNvSpPr>
          <p:nvPr/>
        </p:nvSpPr>
        <p:spPr>
          <a:xfrm xmlns:a="http://schemas.openxmlformats.org/drawingml/2006/main">
            <a:off x="8896350" y="5191125"/>
            <a:ext cx="2247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0" i="0">
                <a:solidFill>
                  <a:srgbClr val="6E7068"/>
                </a:solidFill>
                <a:latin typeface="Aptos"/>
                <a:ea typeface="Aptos"/>
                <a:cs typeface="Aptos"/>
              </a:defRPr>
            </a:pPr>
            <a:r>
              <a:rPr sz="975" b="0" i="0">
                <a:solidFill>
                  <a:srgbClr val="6E7068"/>
                </a:solidFill>
                <a:latin typeface="Aptos"/>
                <a:ea typeface="Aptos"/>
                <a:cs typeface="Aptos"/>
              </a:rPr>
              <a:t>Payments + notifications</a:t>
            </a:r>
          </a:p>
        </p:txBody>
      </p:sp>
      <p:sp>
        <p:nvSpPr>
          <p:cNvPr id="34" name="">
            <a:extLst xmlns:a="http://schemas.openxmlformats.org/drawingml/2006/main">
              <a:ext uri="{FF2B5EF4-FFF2-40B4-BE49-F238E27FC236}">
                <a16:creationId xmlns:a16="http://schemas.microsoft.com/office/drawing/2014/main" id="{808B6475-40FB-4FAB-BBC9-3D7ACFC890E5}"/>
              </a:ext>
            </a:extLst>
          </p:cNvPr>
          <p:cNvSpPr>
            <a:spLocks xmlns:a="http://schemas.openxmlformats.org/drawingml/2006/main" noGrp="1"/>
          </p:cNvSpPr>
          <p:nvPr/>
        </p:nvSpPr>
        <p:spPr>
          <a:xfrm xmlns:a="http://schemas.openxmlformats.org/drawingml/2006/main">
            <a:off x="666750" y="5962650"/>
            <a:ext cx="10858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b="1" i="0">
                <a:solidFill>
                  <a:srgbClr val="C9D3CC"/>
                </a:solidFill>
                <a:latin typeface="Aptos"/>
                <a:ea typeface="Aptos"/>
                <a:cs typeface="Aptos"/>
              </a:defRPr>
            </a:pPr>
            <a:r>
              <a:rPr sz="1050" b="1" i="0">
                <a:solidFill>
                  <a:srgbClr val="C9D3CC"/>
                </a:solidFill>
                <a:latin typeface="Aptos"/>
                <a:ea typeface="Aptos"/>
                <a:cs typeface="Aptos"/>
              </a:rPr>
              <a:t>LIVE: ChatGPT Sites / Cloudflare • 4-second shared-state sync • strict TypeScript • tested domain logic</a:t>
            </a:r>
          </a:p>
        </p:txBody>
      </p:sp>
      <p:sp>
        <p:nvSpPr>
          <p:cNvPr id="35" name="">
            <a:extLst xmlns:a="http://schemas.openxmlformats.org/drawingml/2006/main">
              <a:ext uri="{FF2B5EF4-FFF2-40B4-BE49-F238E27FC236}">
                <a16:creationId xmlns:a16="http://schemas.microsoft.com/office/drawing/2014/main" id="{0814CA36-15CC-46FD-B635-088EA7ABB28F}"/>
              </a:ext>
            </a:extLst>
          </p:cNvPr>
          <p:cNvSpPr>
            <a:spLocks xmlns:a="http://schemas.openxmlformats.org/drawingml/2006/main" noGrp="1"/>
          </p:cNvSpPr>
          <p:nvPr/>
        </p:nvSpPr>
        <p:spPr>
          <a:xfrm xmlns:a="http://schemas.openxmlformats.org/drawingml/2006/main">
            <a:off x="666750" y="6496050"/>
            <a:ext cx="10858500" cy="0"/>
          </a:xfrm>
          <a:prstGeom xmlns:a="http://schemas.openxmlformats.org/drawingml/2006/main" prst="line">
            <a:avLst/>
          </a:prstGeom>
          <a:noFill xmlns:a="http://schemas.openxmlformats.org/drawingml/2006/main"/>
          <a:ln xmlns:a="http://schemas.openxmlformats.org/drawingml/2006/main" w="9525">
            <a:solidFill>
              <a:srgbClr val="365448"/>
            </a:solidFill>
            <a:prstDash val="solid"/>
          </a:ln>
        </p:spPr>
      </p:sp>
      <p:sp>
        <p:nvSpPr>
          <p:cNvPr id="36" name="">
            <a:extLst xmlns:a="http://schemas.openxmlformats.org/drawingml/2006/main">
              <a:ext uri="{FF2B5EF4-FFF2-40B4-BE49-F238E27FC236}">
                <a16:creationId xmlns:a16="http://schemas.microsoft.com/office/drawing/2014/main" id="{22F99574-0AAC-4D8C-BFA2-E8BF8ED3F732}"/>
              </a:ext>
            </a:extLst>
          </p:cNvPr>
          <p:cNvSpPr>
            <a:spLocks xmlns:a="http://schemas.openxmlformats.org/drawingml/2006/main" noGrp="1"/>
          </p:cNvSpPr>
          <p:nvPr/>
        </p:nvSpPr>
        <p:spPr>
          <a:xfrm xmlns:a="http://schemas.openxmlformats.org/drawingml/2006/main">
            <a:off x="666750" y="6572250"/>
            <a:ext cx="3429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1" i="0">
                <a:solidFill>
                  <a:srgbClr val="B8C1BA"/>
                </a:solidFill>
                <a:latin typeface="Aptos"/>
                <a:ea typeface="Aptos"/>
                <a:cs typeface="Aptos"/>
              </a:defRPr>
            </a:pPr>
            <a:r>
              <a:rPr sz="750" b="1" i="0">
                <a:solidFill>
                  <a:srgbClr val="B8C1BA"/>
                </a:solidFill>
                <a:latin typeface="Aptos"/>
                <a:ea typeface="Aptos"/>
                <a:cs typeface="Aptos"/>
              </a:rPr>
              <a:t>FLOWDINE AI  /  VIBEATHON 6.0</a:t>
            </a:r>
          </a:p>
        </p:txBody>
      </p:sp>
      <p:sp>
        <p:nvSpPr>
          <p:cNvPr id="37" name="">
            <a:extLst xmlns:a="http://schemas.openxmlformats.org/drawingml/2006/main">
              <a:ext uri="{FF2B5EF4-FFF2-40B4-BE49-F238E27FC236}">
                <a16:creationId xmlns:a16="http://schemas.microsoft.com/office/drawing/2014/main" id="{BF49FE10-5A1B-477D-BEC2-770CDE78DC16}"/>
              </a:ext>
            </a:extLst>
          </p:cNvPr>
          <p:cNvSpPr>
            <a:spLocks xmlns:a="http://schemas.openxmlformats.org/drawingml/2006/main" noGrp="1"/>
          </p:cNvSpPr>
          <p:nvPr/>
        </p:nvSpPr>
        <p:spPr>
          <a:xfrm xmlns:a="http://schemas.openxmlformats.org/drawingml/2006/main">
            <a:off x="11049000" y="6572250"/>
            <a:ext cx="4762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750" b="1" i="0">
                <a:solidFill>
                  <a:srgbClr val="B8C1BA"/>
                </a:solidFill>
                <a:latin typeface="Aptos"/>
                <a:ea typeface="Aptos"/>
                <a:cs typeface="Aptos"/>
              </a:defRPr>
            </a:pPr>
            <a:r>
              <a:rPr sz="750" b="1" i="0">
                <a:solidFill>
                  <a:srgbClr val="B8C1BA"/>
                </a:solidFill>
                <a:latin typeface="Aptos"/>
                <a:ea typeface="Aptos"/>
                <a:cs typeface="Aptos"/>
              </a:rPr>
              <a:t>10</a:t>
            </a:r>
          </a:p>
        </p:txBody>
      </p:sp>
    </p:spTree>
    <p:extLst>
      <p:ext uri="{BB962C8B-B14F-4D97-AF65-F5344CB8AC3E}">
        <p14:creationId xmlns:p14="http://schemas.microsoft.com/office/powerpoint/2010/main" val="696511374"/>
      </p:ext>
    </p:extLst>
  </p:cSld>
</p:sld>
</file>

<file path=ppt/slides/slide11.xml><?xml version="1.0" encoding="utf-8"?>
<p:sld xmlns:p="http://schemas.openxmlformats.org/presentationml/2006/main">
  <p:cSld>
    <p:bg>
      <p:bgPr>
        <a:solidFill xmlns:a="http://schemas.openxmlformats.org/drawingml/2006/main">
          <a:srgbClr val="F6F0E4"/>
        </a:solidFill>
      </p:bgPr>
    </p:bg>
    <p:spTree>
      <p:nvGrpSpPr>
        <p:cNvPr id="1" name=""/>
        <p:cNvGrpSpPr/>
        <p:nvPr/>
      </p:nvGrpSpPr>
      <p:grpSpPr>
        <a:xfrm xmlns:a="http://schemas.openxmlformats.org/drawingml/2006/main"/>
      </p:grpSpPr>
      <p:sp>
        <p:nvSpPr>
          <p:cNvPr id="38" name="eyebrow-Hackathon level map">
            <a:extLst xmlns:a="http://schemas.openxmlformats.org/drawingml/2006/main">
              <a:ext uri="{FF2B5EF4-FFF2-40B4-BE49-F238E27FC236}">
                <a16:creationId xmlns:a16="http://schemas.microsoft.com/office/drawing/2014/main" id="{839B19A2-39F9-451F-A38C-FD929032FB8D}"/>
              </a:ext>
            </a:extLst>
          </p:cNvPr>
          <p:cNvSpPr>
            <a:spLocks xmlns:a="http://schemas.openxmlformats.org/drawingml/2006/main" noGrp="1"/>
          </p:cNvSpPr>
          <p:nvPr/>
        </p:nvSpPr>
        <p:spPr>
          <a:xfrm xmlns:a="http://schemas.openxmlformats.org/drawingml/2006/main">
            <a:off x="666750" y="400050"/>
            <a:ext cx="533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i="0">
                <a:solidFill>
                  <a:srgbClr val="D1832E"/>
                </a:solidFill>
                <a:latin typeface="Aptos"/>
                <a:ea typeface="Aptos"/>
                <a:cs typeface="Aptos"/>
              </a:defRPr>
            </a:pPr>
            <a:r>
              <a:rPr sz="975" b="1" i="0">
                <a:solidFill>
                  <a:srgbClr val="D1832E"/>
                </a:solidFill>
                <a:latin typeface="Aptos"/>
                <a:ea typeface="Aptos"/>
                <a:cs typeface="Aptos"/>
              </a:rPr>
              <a:t>HACKATHON LEVEL MAP</a:t>
            </a:r>
          </a:p>
        </p:txBody>
      </p:sp>
      <p:sp>
        <p:nvSpPr>
          <p:cNvPr id="2" name="slide-title">
            <a:extLst xmlns:a="http://schemas.openxmlformats.org/drawingml/2006/main">
              <a:ext uri="{FF2B5EF4-FFF2-40B4-BE49-F238E27FC236}">
                <a16:creationId xmlns:a16="http://schemas.microsoft.com/office/drawing/2014/main" id="{E191426A-F85E-410F-890C-D521CC523939}"/>
              </a:ext>
            </a:extLst>
          </p:cNvPr>
          <p:cNvSpPr>
            <a:spLocks xmlns:a="http://schemas.openxmlformats.org/drawingml/2006/main" noGrp="1"/>
          </p:cNvSpPr>
          <p:nvPr/>
        </p:nvSpPr>
        <p:spPr>
          <a:xfrm xmlns:a="http://schemas.openxmlformats.org/drawingml/2006/main">
            <a:off x="666750" y="704850"/>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0" i="0">
                <a:solidFill>
                  <a:srgbClr val="20241F"/>
                </a:solidFill>
                <a:latin typeface="Georgia"/>
                <a:ea typeface="Georgia"/>
                <a:cs typeface="Georgia"/>
              </a:defRPr>
            </a:pPr>
            <a:r>
              <a:rPr sz="2850" b="0" i="0">
                <a:solidFill>
                  <a:srgbClr val="20241F"/>
                </a:solidFill>
                <a:latin typeface="Georgia"/>
                <a:ea typeface="Georgia"/>
                <a:cs typeface="Georgia"/>
              </a:rPr>
              <a:t>The full operating vision is live - with one honest identity gap.</a:t>
            </a:r>
          </a:p>
        </p:txBody>
      </p:sp>
      <p:sp>
        <p:nvSpPr>
          <p:cNvPr id="3" name="">
            <a:extLst xmlns:a="http://schemas.openxmlformats.org/drawingml/2006/main">
              <a:ext uri="{FF2B5EF4-FFF2-40B4-BE49-F238E27FC236}">
                <a16:creationId xmlns:a16="http://schemas.microsoft.com/office/drawing/2014/main" id="{FD87F61E-DCEE-4617-AEF3-C2291CA9294D}"/>
              </a:ext>
            </a:extLst>
          </p:cNvPr>
          <p:cNvSpPr>
            <a:spLocks xmlns:a="http://schemas.openxmlformats.org/drawingml/2006/main" noGrp="1"/>
          </p:cNvSpPr>
          <p:nvPr/>
        </p:nvSpPr>
        <p:spPr>
          <a:xfrm xmlns:a="http://schemas.openxmlformats.org/drawingml/2006/main">
            <a:off x="723900" y="2171700"/>
            <a:ext cx="10744200" cy="0"/>
          </a:xfrm>
          <a:prstGeom xmlns:a="http://schemas.openxmlformats.org/drawingml/2006/main" prst="line">
            <a:avLst/>
          </a:prstGeom>
          <a:noFill xmlns:a="http://schemas.openxmlformats.org/drawingml/2006/main"/>
          <a:ln xmlns:a="http://schemas.openxmlformats.org/drawingml/2006/main" w="9525">
            <a:solidFill>
              <a:srgbClr val="D8D0C2"/>
            </a:solidFill>
            <a:prstDash val="solid"/>
          </a:ln>
        </p:spPr>
      </p:sp>
      <p:sp>
        <p:nvSpPr>
          <p:cNvPr id="4" name="">
            <a:extLst xmlns:a="http://schemas.openxmlformats.org/drawingml/2006/main">
              <a:ext uri="{FF2B5EF4-FFF2-40B4-BE49-F238E27FC236}">
                <a16:creationId xmlns:a16="http://schemas.microsoft.com/office/drawing/2014/main" id="{899A11D1-BECE-467C-9939-B6F40DD03D9F}"/>
              </a:ext>
            </a:extLst>
          </p:cNvPr>
          <p:cNvSpPr>
            <a:spLocks xmlns:a="http://schemas.openxmlformats.org/drawingml/2006/main" noGrp="1"/>
          </p:cNvSpPr>
          <p:nvPr/>
        </p:nvSpPr>
        <p:spPr>
          <a:xfrm xmlns:a="http://schemas.openxmlformats.org/drawingml/2006/main">
            <a:off x="742950" y="1504950"/>
            <a:ext cx="1381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0" i="0">
                <a:solidFill>
                  <a:srgbClr val="20241F"/>
                </a:solidFill>
                <a:latin typeface="Georgia"/>
                <a:ea typeface="Georgia"/>
                <a:cs typeface="Georgia"/>
              </a:defRPr>
            </a:pPr>
            <a:r>
              <a:rPr sz="1875" b="0" i="0">
                <a:solidFill>
                  <a:srgbClr val="20241F"/>
                </a:solidFill>
                <a:latin typeface="Georgia"/>
                <a:ea typeface="Georgia"/>
                <a:cs typeface="Georgia"/>
              </a:rPr>
              <a:t>Bronze</a:t>
            </a:r>
          </a:p>
        </p:txBody>
      </p:sp>
      <p:sp>
        <p:nvSpPr>
          <p:cNvPr id="5" name="">
            <a:extLst xmlns:a="http://schemas.openxmlformats.org/drawingml/2006/main">
              <a:ext uri="{FF2B5EF4-FFF2-40B4-BE49-F238E27FC236}">
                <a16:creationId xmlns:a16="http://schemas.microsoft.com/office/drawing/2014/main" id="{F0B80A61-2F33-454F-B563-2C31A4D935CB}"/>
              </a:ext>
            </a:extLst>
          </p:cNvPr>
          <p:cNvSpPr>
            <a:spLocks xmlns:a="http://schemas.openxmlformats.org/drawingml/2006/main" noGrp="1"/>
          </p:cNvSpPr>
          <p:nvPr/>
        </p:nvSpPr>
        <p:spPr>
          <a:xfrm xmlns:a="http://schemas.openxmlformats.org/drawingml/2006/main">
            <a:off x="2381250" y="1524000"/>
            <a:ext cx="581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i="0">
                <a:solidFill>
                  <a:srgbClr val="20241F"/>
                </a:solidFill>
                <a:latin typeface="Aptos"/>
                <a:ea typeface="Aptos"/>
                <a:cs typeface="Aptos"/>
              </a:defRPr>
            </a:pPr>
            <a:r>
              <a:rPr sz="1425" b="1" i="0">
                <a:solidFill>
                  <a:srgbClr val="20241F"/>
                </a:solidFill>
                <a:latin typeface="Aptos"/>
                <a:ea typeface="Aptos"/>
                <a:cs typeface="Aptos"/>
              </a:rPr>
              <a:t>Modern role-based product experience</a:t>
            </a:r>
          </a:p>
        </p:txBody>
      </p:sp>
      <p:sp>
        <p:nvSpPr>
          <p:cNvPr id="6" name="">
            <a:extLst xmlns:a="http://schemas.openxmlformats.org/drawingml/2006/main">
              <a:ext uri="{FF2B5EF4-FFF2-40B4-BE49-F238E27FC236}">
                <a16:creationId xmlns:a16="http://schemas.microsoft.com/office/drawing/2014/main" id="{D55151F1-05FA-476F-AC63-78CA2B81ED44}"/>
              </a:ext>
            </a:extLst>
          </p:cNvPr>
          <p:cNvSpPr>
            <a:spLocks xmlns:a="http://schemas.openxmlformats.org/drawingml/2006/main" noGrp="1"/>
          </p:cNvSpPr>
          <p:nvPr/>
        </p:nvSpPr>
        <p:spPr>
          <a:xfrm xmlns:a="http://schemas.openxmlformats.org/drawingml/2006/main">
            <a:off x="2381250" y="1828800"/>
            <a:ext cx="666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i="0">
                <a:solidFill>
                  <a:srgbClr val="6E7068"/>
                </a:solidFill>
                <a:latin typeface="Aptos"/>
                <a:ea typeface="Aptos"/>
                <a:cs typeface="Aptos"/>
              </a:defRPr>
            </a:pPr>
            <a:r>
              <a:rPr sz="1050" b="0" i="0">
                <a:solidFill>
                  <a:srgbClr val="6E7068"/>
                </a:solidFill>
                <a:latin typeface="Aptos"/>
                <a:ea typeface="Aptos"/>
                <a:cs typeface="Aptos"/>
              </a:rPr>
              <a:t>Responsive guest, kitchen, waiter, and manager interfaces</a:t>
            </a:r>
          </a:p>
        </p:txBody>
      </p:sp>
      <p:sp>
        <p:nvSpPr>
          <p:cNvPr id="7" name="">
            <a:extLst xmlns:a="http://schemas.openxmlformats.org/drawingml/2006/main">
              <a:ext uri="{FF2B5EF4-FFF2-40B4-BE49-F238E27FC236}">
                <a16:creationId xmlns:a16="http://schemas.microsoft.com/office/drawing/2014/main" id="{69E3F014-ECDB-4B26-9BA4-709205816AEE}"/>
              </a:ext>
            </a:extLst>
          </p:cNvPr>
          <p:cNvSpPr>
            <a:spLocks xmlns:a="http://schemas.openxmlformats.org/drawingml/2006/main" noGrp="1"/>
          </p:cNvSpPr>
          <p:nvPr/>
        </p:nvSpPr>
        <p:spPr>
          <a:xfrm xmlns:a="http://schemas.openxmlformats.org/drawingml/2006/main">
            <a:off x="9525000" y="1543050"/>
            <a:ext cx="1657350" cy="361950"/>
          </a:xfrm>
          <a:prstGeom xmlns:a="http://schemas.openxmlformats.org/drawingml/2006/main" prst="roundRect">
            <a:avLst>
              <a:gd name="adj" fmla="val 50000"/>
            </a:avLst>
          </a:prstGeom>
          <a:solidFill xmlns:a="http://schemas.openxmlformats.org/drawingml/2006/main">
            <a:srgbClr val="2E6B50"/>
          </a:solidFill>
          <a:ln xmlns:a="http://schemas.openxmlformats.org/drawingml/2006/main" w="0">
            <a:solidFill>
              <a:srgbClr val="2E6B50"/>
            </a:solidFill>
            <a:prstDash val="solid"/>
          </a:ln>
        </p:spPr>
      </p:sp>
      <p:sp>
        <p:nvSpPr>
          <p:cNvPr id="8" name="">
            <a:extLst xmlns:a="http://schemas.openxmlformats.org/drawingml/2006/main">
              <a:ext uri="{FF2B5EF4-FFF2-40B4-BE49-F238E27FC236}">
                <a16:creationId xmlns:a16="http://schemas.microsoft.com/office/drawing/2014/main" id="{4417F2E3-BA0B-42AD-97A0-39A513B0546B}"/>
              </a:ext>
            </a:extLst>
          </p:cNvPr>
          <p:cNvSpPr>
            <a:spLocks xmlns:a="http://schemas.openxmlformats.org/drawingml/2006/main" noGrp="1"/>
          </p:cNvSpPr>
          <p:nvPr/>
        </p:nvSpPr>
        <p:spPr>
          <a:xfrm xmlns:a="http://schemas.openxmlformats.org/drawingml/2006/main">
            <a:off x="9525000" y="1619250"/>
            <a:ext cx="16573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00" b="1" i="0">
                <a:solidFill>
                  <a:srgbClr val="FFFFFF"/>
                </a:solidFill>
                <a:latin typeface="Aptos"/>
                <a:ea typeface="Aptos"/>
                <a:cs typeface="Aptos"/>
              </a:defRPr>
            </a:pPr>
            <a:r>
              <a:rPr sz="900" b="1" i="0">
                <a:solidFill>
                  <a:srgbClr val="FFFFFF"/>
                </a:solidFill>
                <a:latin typeface="Aptos"/>
                <a:ea typeface="Aptos"/>
                <a:cs typeface="Aptos"/>
              </a:rPr>
              <a:t>COMPLETE</a:t>
            </a:r>
          </a:p>
        </p:txBody>
      </p:sp>
      <p:sp>
        <p:nvSpPr>
          <p:cNvPr id="9" name="">
            <a:extLst xmlns:a="http://schemas.openxmlformats.org/drawingml/2006/main">
              <a:ext uri="{FF2B5EF4-FFF2-40B4-BE49-F238E27FC236}">
                <a16:creationId xmlns:a16="http://schemas.microsoft.com/office/drawing/2014/main" id="{E1487640-10AA-43A5-B6F1-E2337775C770}"/>
              </a:ext>
            </a:extLst>
          </p:cNvPr>
          <p:cNvSpPr>
            <a:spLocks xmlns:a="http://schemas.openxmlformats.org/drawingml/2006/main" noGrp="1"/>
          </p:cNvSpPr>
          <p:nvPr/>
        </p:nvSpPr>
        <p:spPr>
          <a:xfrm xmlns:a="http://schemas.openxmlformats.org/drawingml/2006/main">
            <a:off x="723900" y="2971800"/>
            <a:ext cx="10744200" cy="0"/>
          </a:xfrm>
          <a:prstGeom xmlns:a="http://schemas.openxmlformats.org/drawingml/2006/main" prst="line">
            <a:avLst/>
          </a:prstGeom>
          <a:noFill xmlns:a="http://schemas.openxmlformats.org/drawingml/2006/main"/>
          <a:ln xmlns:a="http://schemas.openxmlformats.org/drawingml/2006/main" w="9525">
            <a:solidFill>
              <a:srgbClr val="D8D0C2"/>
            </a:solidFill>
            <a:prstDash val="solid"/>
          </a:ln>
        </p:spPr>
      </p:sp>
      <p:sp>
        <p:nvSpPr>
          <p:cNvPr id="10" name="">
            <a:extLst xmlns:a="http://schemas.openxmlformats.org/drawingml/2006/main">
              <a:ext uri="{FF2B5EF4-FFF2-40B4-BE49-F238E27FC236}">
                <a16:creationId xmlns:a16="http://schemas.microsoft.com/office/drawing/2014/main" id="{E8879D63-F404-471C-B1B6-B075ED043B2A}"/>
              </a:ext>
            </a:extLst>
          </p:cNvPr>
          <p:cNvSpPr>
            <a:spLocks xmlns:a="http://schemas.openxmlformats.org/drawingml/2006/main" noGrp="1"/>
          </p:cNvSpPr>
          <p:nvPr/>
        </p:nvSpPr>
        <p:spPr>
          <a:xfrm xmlns:a="http://schemas.openxmlformats.org/drawingml/2006/main">
            <a:off x="742950" y="2305050"/>
            <a:ext cx="1381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0" i="0">
                <a:solidFill>
                  <a:srgbClr val="20241F"/>
                </a:solidFill>
                <a:latin typeface="Georgia"/>
                <a:ea typeface="Georgia"/>
                <a:cs typeface="Georgia"/>
              </a:defRPr>
            </a:pPr>
            <a:r>
              <a:rPr sz="1875" b="0" i="0">
                <a:solidFill>
                  <a:srgbClr val="20241F"/>
                </a:solidFill>
                <a:latin typeface="Georgia"/>
                <a:ea typeface="Georgia"/>
                <a:cs typeface="Georgia"/>
              </a:rPr>
              <a:t>Silver</a:t>
            </a:r>
          </a:p>
        </p:txBody>
      </p:sp>
      <p:sp>
        <p:nvSpPr>
          <p:cNvPr id="11" name="">
            <a:extLst xmlns:a="http://schemas.openxmlformats.org/drawingml/2006/main">
              <a:ext uri="{FF2B5EF4-FFF2-40B4-BE49-F238E27FC236}">
                <a16:creationId xmlns:a16="http://schemas.microsoft.com/office/drawing/2014/main" id="{E5DBC6A7-D29A-4E56-8CE8-28203AB79ABC}"/>
              </a:ext>
            </a:extLst>
          </p:cNvPr>
          <p:cNvSpPr>
            <a:spLocks xmlns:a="http://schemas.openxmlformats.org/drawingml/2006/main" noGrp="1"/>
          </p:cNvSpPr>
          <p:nvPr/>
        </p:nvSpPr>
        <p:spPr>
          <a:xfrm xmlns:a="http://schemas.openxmlformats.org/drawingml/2006/main">
            <a:off x="2381250" y="2324100"/>
            <a:ext cx="581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i="0">
                <a:solidFill>
                  <a:srgbClr val="20241F"/>
                </a:solidFill>
                <a:latin typeface="Aptos"/>
                <a:ea typeface="Aptos"/>
                <a:cs typeface="Aptos"/>
              </a:defRPr>
            </a:pPr>
            <a:r>
              <a:rPr sz="1425" b="1" i="0">
                <a:solidFill>
                  <a:srgbClr val="20241F"/>
                </a:solidFill>
                <a:latin typeface="Aptos"/>
                <a:ea typeface="Aptos"/>
                <a:cs typeface="Aptos"/>
              </a:rPr>
              <a:t>Digital restaurant workflows + authentication</a:t>
            </a:r>
          </a:p>
        </p:txBody>
      </p:sp>
      <p:sp>
        <p:nvSpPr>
          <p:cNvPr id="12" name="">
            <a:extLst xmlns:a="http://schemas.openxmlformats.org/drawingml/2006/main">
              <a:ext uri="{FF2B5EF4-FFF2-40B4-BE49-F238E27FC236}">
                <a16:creationId xmlns:a16="http://schemas.microsoft.com/office/drawing/2014/main" id="{98DE0139-5199-4C25-B7BA-007AE1EA0BDB}"/>
              </a:ext>
            </a:extLst>
          </p:cNvPr>
          <p:cNvSpPr>
            <a:spLocks xmlns:a="http://schemas.openxmlformats.org/drawingml/2006/main" noGrp="1"/>
          </p:cNvSpPr>
          <p:nvPr/>
        </p:nvSpPr>
        <p:spPr>
          <a:xfrm xmlns:a="http://schemas.openxmlformats.org/drawingml/2006/main">
            <a:off x="2381250" y="2628900"/>
            <a:ext cx="666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i="0">
                <a:solidFill>
                  <a:srgbClr val="6E7068"/>
                </a:solidFill>
                <a:latin typeface="Aptos"/>
                <a:ea typeface="Aptos"/>
                <a:cs typeface="Aptos"/>
              </a:defRPr>
            </a:pPr>
            <a:r>
              <a:rPr sz="1050" b="0" i="0">
                <a:solidFill>
                  <a:srgbClr val="6E7068"/>
                </a:solidFill>
                <a:latin typeface="Aptos"/>
                <a:ea typeface="Aptos"/>
                <a:cs typeface="Aptos"/>
              </a:rPr>
              <a:t>Workflows complete; email/Google authentication is not runtime-connected</a:t>
            </a:r>
          </a:p>
        </p:txBody>
      </p:sp>
      <p:sp>
        <p:nvSpPr>
          <p:cNvPr id="13" name="">
            <a:extLst xmlns:a="http://schemas.openxmlformats.org/drawingml/2006/main">
              <a:ext uri="{FF2B5EF4-FFF2-40B4-BE49-F238E27FC236}">
                <a16:creationId xmlns:a16="http://schemas.microsoft.com/office/drawing/2014/main" id="{712B12AC-597B-4249-B609-AEB87F81807D}"/>
              </a:ext>
            </a:extLst>
          </p:cNvPr>
          <p:cNvSpPr>
            <a:spLocks xmlns:a="http://schemas.openxmlformats.org/drawingml/2006/main" noGrp="1"/>
          </p:cNvSpPr>
          <p:nvPr/>
        </p:nvSpPr>
        <p:spPr>
          <a:xfrm xmlns:a="http://schemas.openxmlformats.org/drawingml/2006/main">
            <a:off x="9525000" y="2343150"/>
            <a:ext cx="1657350" cy="361950"/>
          </a:xfrm>
          <a:prstGeom xmlns:a="http://schemas.openxmlformats.org/drawingml/2006/main" prst="roundRect">
            <a:avLst>
              <a:gd name="adj" fmla="val 50000"/>
            </a:avLst>
          </a:prstGeom>
          <a:solidFill xmlns:a="http://schemas.openxmlformats.org/drawingml/2006/main">
            <a:srgbClr val="D1832E"/>
          </a:solidFill>
          <a:ln xmlns:a="http://schemas.openxmlformats.org/drawingml/2006/main" w="0">
            <a:solidFill>
              <a:srgbClr val="D1832E"/>
            </a:solidFill>
            <a:prstDash val="solid"/>
          </a:ln>
        </p:spPr>
      </p:sp>
      <p:sp>
        <p:nvSpPr>
          <p:cNvPr id="14" name="">
            <a:extLst xmlns:a="http://schemas.openxmlformats.org/drawingml/2006/main">
              <a:ext uri="{FF2B5EF4-FFF2-40B4-BE49-F238E27FC236}">
                <a16:creationId xmlns:a16="http://schemas.microsoft.com/office/drawing/2014/main" id="{6258FCAD-08BD-4C16-900E-37D9DD6D028C}"/>
              </a:ext>
            </a:extLst>
          </p:cNvPr>
          <p:cNvSpPr>
            <a:spLocks xmlns:a="http://schemas.openxmlformats.org/drawingml/2006/main" noGrp="1"/>
          </p:cNvSpPr>
          <p:nvPr/>
        </p:nvSpPr>
        <p:spPr>
          <a:xfrm xmlns:a="http://schemas.openxmlformats.org/drawingml/2006/main">
            <a:off x="9525000" y="2419350"/>
            <a:ext cx="16573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00" b="1" i="0">
                <a:solidFill>
                  <a:srgbClr val="FFFFFF"/>
                </a:solidFill>
                <a:latin typeface="Aptos"/>
                <a:ea typeface="Aptos"/>
                <a:cs typeface="Aptos"/>
              </a:defRPr>
            </a:pPr>
            <a:r>
              <a:rPr sz="900" b="1" i="0">
                <a:solidFill>
                  <a:srgbClr val="FFFFFF"/>
                </a:solidFill>
                <a:latin typeface="Aptos"/>
                <a:ea typeface="Aptos"/>
                <a:cs typeface="Aptos"/>
              </a:rPr>
              <a:t>PARTIAL</a:t>
            </a:r>
          </a:p>
        </p:txBody>
      </p:sp>
      <p:sp>
        <p:nvSpPr>
          <p:cNvPr id="15" name="">
            <a:extLst xmlns:a="http://schemas.openxmlformats.org/drawingml/2006/main">
              <a:ext uri="{FF2B5EF4-FFF2-40B4-BE49-F238E27FC236}">
                <a16:creationId xmlns:a16="http://schemas.microsoft.com/office/drawing/2014/main" id="{BD8D6B23-8FB7-45B2-9A64-ACE38120F98A}"/>
              </a:ext>
            </a:extLst>
          </p:cNvPr>
          <p:cNvSpPr>
            <a:spLocks xmlns:a="http://schemas.openxmlformats.org/drawingml/2006/main" noGrp="1"/>
          </p:cNvSpPr>
          <p:nvPr/>
        </p:nvSpPr>
        <p:spPr>
          <a:xfrm xmlns:a="http://schemas.openxmlformats.org/drawingml/2006/main">
            <a:off x="723900" y="3771900"/>
            <a:ext cx="10744200" cy="0"/>
          </a:xfrm>
          <a:prstGeom xmlns:a="http://schemas.openxmlformats.org/drawingml/2006/main" prst="line">
            <a:avLst/>
          </a:prstGeom>
          <a:noFill xmlns:a="http://schemas.openxmlformats.org/drawingml/2006/main"/>
          <a:ln xmlns:a="http://schemas.openxmlformats.org/drawingml/2006/main" w="9525">
            <a:solidFill>
              <a:srgbClr val="D8D0C2"/>
            </a:solidFill>
            <a:prstDash val="solid"/>
          </a:ln>
        </p:spPr>
      </p:sp>
      <p:sp>
        <p:nvSpPr>
          <p:cNvPr id="16" name="">
            <a:extLst xmlns:a="http://schemas.openxmlformats.org/drawingml/2006/main">
              <a:ext uri="{FF2B5EF4-FFF2-40B4-BE49-F238E27FC236}">
                <a16:creationId xmlns:a16="http://schemas.microsoft.com/office/drawing/2014/main" id="{5DB7264F-D8E6-4944-AE4D-5D5F202262F1}"/>
              </a:ext>
            </a:extLst>
          </p:cNvPr>
          <p:cNvSpPr>
            <a:spLocks xmlns:a="http://schemas.openxmlformats.org/drawingml/2006/main" noGrp="1"/>
          </p:cNvSpPr>
          <p:nvPr/>
        </p:nvSpPr>
        <p:spPr>
          <a:xfrm xmlns:a="http://schemas.openxmlformats.org/drawingml/2006/main">
            <a:off x="742950" y="3105150"/>
            <a:ext cx="1381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0" i="0">
                <a:solidFill>
                  <a:srgbClr val="20241F"/>
                </a:solidFill>
                <a:latin typeface="Georgia"/>
                <a:ea typeface="Georgia"/>
                <a:cs typeface="Georgia"/>
              </a:defRPr>
            </a:pPr>
            <a:r>
              <a:rPr sz="1875" b="0" i="0">
                <a:solidFill>
                  <a:srgbClr val="20241F"/>
                </a:solidFill>
                <a:latin typeface="Georgia"/>
                <a:ea typeface="Georgia"/>
                <a:cs typeface="Georgia"/>
              </a:rPr>
              <a:t>Gold</a:t>
            </a:r>
          </a:p>
        </p:txBody>
      </p:sp>
      <p:sp>
        <p:nvSpPr>
          <p:cNvPr id="17" name="">
            <a:extLst xmlns:a="http://schemas.openxmlformats.org/drawingml/2006/main">
              <a:ext uri="{FF2B5EF4-FFF2-40B4-BE49-F238E27FC236}">
                <a16:creationId xmlns:a16="http://schemas.microsoft.com/office/drawing/2014/main" id="{E7BD474D-34CD-40F1-AB79-5E791B712A34}"/>
              </a:ext>
            </a:extLst>
          </p:cNvPr>
          <p:cNvSpPr>
            <a:spLocks xmlns:a="http://schemas.openxmlformats.org/drawingml/2006/main" noGrp="1"/>
          </p:cNvSpPr>
          <p:nvPr/>
        </p:nvSpPr>
        <p:spPr>
          <a:xfrm xmlns:a="http://schemas.openxmlformats.org/drawingml/2006/main">
            <a:off x="2381250" y="3124200"/>
            <a:ext cx="581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i="0">
                <a:solidFill>
                  <a:srgbClr val="20241F"/>
                </a:solidFill>
                <a:latin typeface="Aptos"/>
                <a:ea typeface="Aptos"/>
                <a:cs typeface="Aptos"/>
              </a:defRPr>
            </a:pPr>
            <a:r>
              <a:rPr sz="1425" b="1" i="0">
                <a:solidFill>
                  <a:srgbClr val="20241F"/>
                </a:solidFill>
                <a:latin typeface="Aptos"/>
                <a:ea typeface="Aptos"/>
                <a:cs typeface="Aptos"/>
              </a:rPr>
              <a:t>Management dashboard and daily operations</a:t>
            </a:r>
          </a:p>
        </p:txBody>
      </p:sp>
      <p:sp>
        <p:nvSpPr>
          <p:cNvPr id="18" name="">
            <a:extLst xmlns:a="http://schemas.openxmlformats.org/drawingml/2006/main">
              <a:ext uri="{FF2B5EF4-FFF2-40B4-BE49-F238E27FC236}">
                <a16:creationId xmlns:a16="http://schemas.microsoft.com/office/drawing/2014/main" id="{665CDFC5-29DB-4CE2-8BE3-12D62E9DEAEF}"/>
              </a:ext>
            </a:extLst>
          </p:cNvPr>
          <p:cNvSpPr>
            <a:spLocks xmlns:a="http://schemas.openxmlformats.org/drawingml/2006/main" noGrp="1"/>
          </p:cNvSpPr>
          <p:nvPr/>
        </p:nvSpPr>
        <p:spPr>
          <a:xfrm xmlns:a="http://schemas.openxmlformats.org/drawingml/2006/main">
            <a:off x="2381250" y="3429000"/>
            <a:ext cx="666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i="0">
                <a:solidFill>
                  <a:srgbClr val="6E7068"/>
                </a:solidFill>
                <a:latin typeface="Aptos"/>
                <a:ea typeface="Aptos"/>
                <a:cs typeface="Aptos"/>
              </a:defRPr>
            </a:pPr>
            <a:r>
              <a:rPr sz="1050" b="0" i="0">
                <a:solidFill>
                  <a:srgbClr val="6E7068"/>
                </a:solidFill>
                <a:latin typeface="Aptos"/>
                <a:ea typeface="Aptos"/>
                <a:cs typeface="Aptos"/>
              </a:rPr>
              <a:t>Orders, tables, inventory, revenue, service flow, and analytics</a:t>
            </a:r>
          </a:p>
        </p:txBody>
      </p:sp>
      <p:sp>
        <p:nvSpPr>
          <p:cNvPr id="19" name="">
            <a:extLst xmlns:a="http://schemas.openxmlformats.org/drawingml/2006/main">
              <a:ext uri="{FF2B5EF4-FFF2-40B4-BE49-F238E27FC236}">
                <a16:creationId xmlns:a16="http://schemas.microsoft.com/office/drawing/2014/main" id="{7DEF4112-5C7E-4B84-A90F-638C150241BC}"/>
              </a:ext>
            </a:extLst>
          </p:cNvPr>
          <p:cNvSpPr>
            <a:spLocks xmlns:a="http://schemas.openxmlformats.org/drawingml/2006/main" noGrp="1"/>
          </p:cNvSpPr>
          <p:nvPr/>
        </p:nvSpPr>
        <p:spPr>
          <a:xfrm xmlns:a="http://schemas.openxmlformats.org/drawingml/2006/main">
            <a:off x="9525000" y="3143250"/>
            <a:ext cx="1657350" cy="361950"/>
          </a:xfrm>
          <a:prstGeom xmlns:a="http://schemas.openxmlformats.org/drawingml/2006/main" prst="roundRect">
            <a:avLst>
              <a:gd name="adj" fmla="val 50000"/>
            </a:avLst>
          </a:prstGeom>
          <a:solidFill xmlns:a="http://schemas.openxmlformats.org/drawingml/2006/main">
            <a:srgbClr val="2E6B50"/>
          </a:solidFill>
          <a:ln xmlns:a="http://schemas.openxmlformats.org/drawingml/2006/main" w="0">
            <a:solidFill>
              <a:srgbClr val="2E6B50"/>
            </a:solidFill>
            <a:prstDash val="solid"/>
          </a:ln>
        </p:spPr>
      </p:sp>
      <p:sp>
        <p:nvSpPr>
          <p:cNvPr id="20" name="">
            <a:extLst xmlns:a="http://schemas.openxmlformats.org/drawingml/2006/main">
              <a:ext uri="{FF2B5EF4-FFF2-40B4-BE49-F238E27FC236}">
                <a16:creationId xmlns:a16="http://schemas.microsoft.com/office/drawing/2014/main" id="{4B428972-B0F5-4160-90AC-33B294E0662E}"/>
              </a:ext>
            </a:extLst>
          </p:cNvPr>
          <p:cNvSpPr>
            <a:spLocks xmlns:a="http://schemas.openxmlformats.org/drawingml/2006/main" noGrp="1"/>
          </p:cNvSpPr>
          <p:nvPr/>
        </p:nvSpPr>
        <p:spPr>
          <a:xfrm xmlns:a="http://schemas.openxmlformats.org/drawingml/2006/main">
            <a:off x="9525000" y="3219450"/>
            <a:ext cx="16573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00" b="1" i="0">
                <a:solidFill>
                  <a:srgbClr val="FFFFFF"/>
                </a:solidFill>
                <a:latin typeface="Aptos"/>
                <a:ea typeface="Aptos"/>
                <a:cs typeface="Aptos"/>
              </a:defRPr>
            </a:pPr>
            <a:r>
              <a:rPr sz="900" b="1" i="0">
                <a:solidFill>
                  <a:srgbClr val="FFFFFF"/>
                </a:solidFill>
                <a:latin typeface="Aptos"/>
                <a:ea typeface="Aptos"/>
                <a:cs typeface="Aptos"/>
              </a:rPr>
              <a:t>COMPLETE</a:t>
            </a:r>
          </a:p>
        </p:txBody>
      </p:sp>
      <p:sp>
        <p:nvSpPr>
          <p:cNvPr id="21" name="">
            <a:extLst xmlns:a="http://schemas.openxmlformats.org/drawingml/2006/main">
              <a:ext uri="{FF2B5EF4-FFF2-40B4-BE49-F238E27FC236}">
                <a16:creationId xmlns:a16="http://schemas.microsoft.com/office/drawing/2014/main" id="{9D1E5719-C040-4F21-8FB3-90CB56D54A6A}"/>
              </a:ext>
            </a:extLst>
          </p:cNvPr>
          <p:cNvSpPr>
            <a:spLocks xmlns:a="http://schemas.openxmlformats.org/drawingml/2006/main" noGrp="1"/>
          </p:cNvSpPr>
          <p:nvPr/>
        </p:nvSpPr>
        <p:spPr>
          <a:xfrm xmlns:a="http://schemas.openxmlformats.org/drawingml/2006/main">
            <a:off x="723900" y="4572000"/>
            <a:ext cx="10744200" cy="0"/>
          </a:xfrm>
          <a:prstGeom xmlns:a="http://schemas.openxmlformats.org/drawingml/2006/main" prst="line">
            <a:avLst/>
          </a:prstGeom>
          <a:noFill xmlns:a="http://schemas.openxmlformats.org/drawingml/2006/main"/>
          <a:ln xmlns:a="http://schemas.openxmlformats.org/drawingml/2006/main" w="9525">
            <a:solidFill>
              <a:srgbClr val="D8D0C2"/>
            </a:solidFill>
            <a:prstDash val="solid"/>
          </a:ln>
        </p:spPr>
      </p:sp>
      <p:sp>
        <p:nvSpPr>
          <p:cNvPr id="22" name="">
            <a:extLst xmlns:a="http://schemas.openxmlformats.org/drawingml/2006/main">
              <a:ext uri="{FF2B5EF4-FFF2-40B4-BE49-F238E27FC236}">
                <a16:creationId xmlns:a16="http://schemas.microsoft.com/office/drawing/2014/main" id="{AFA7C08E-822D-4019-8D42-9DBA2CEEA0FD}"/>
              </a:ext>
            </a:extLst>
          </p:cNvPr>
          <p:cNvSpPr>
            <a:spLocks xmlns:a="http://schemas.openxmlformats.org/drawingml/2006/main" noGrp="1"/>
          </p:cNvSpPr>
          <p:nvPr/>
        </p:nvSpPr>
        <p:spPr>
          <a:xfrm xmlns:a="http://schemas.openxmlformats.org/drawingml/2006/main">
            <a:off x="742950" y="3905250"/>
            <a:ext cx="1381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0" i="0">
                <a:solidFill>
                  <a:srgbClr val="20241F"/>
                </a:solidFill>
                <a:latin typeface="Georgia"/>
                <a:ea typeface="Georgia"/>
                <a:cs typeface="Georgia"/>
              </a:defRPr>
            </a:pPr>
            <a:r>
              <a:rPr sz="1875" b="0" i="0">
                <a:solidFill>
                  <a:srgbClr val="20241F"/>
                </a:solidFill>
                <a:latin typeface="Georgia"/>
                <a:ea typeface="Georgia"/>
                <a:cs typeface="Georgia"/>
              </a:rPr>
              <a:t>Platinum</a:t>
            </a:r>
          </a:p>
        </p:txBody>
      </p:sp>
      <p:sp>
        <p:nvSpPr>
          <p:cNvPr id="23" name="">
            <a:extLst xmlns:a="http://schemas.openxmlformats.org/drawingml/2006/main">
              <a:ext uri="{FF2B5EF4-FFF2-40B4-BE49-F238E27FC236}">
                <a16:creationId xmlns:a16="http://schemas.microsoft.com/office/drawing/2014/main" id="{D64EF646-8ACB-4667-AA11-BDBA213BA4CE}"/>
              </a:ext>
            </a:extLst>
          </p:cNvPr>
          <p:cNvSpPr>
            <a:spLocks xmlns:a="http://schemas.openxmlformats.org/drawingml/2006/main" noGrp="1"/>
          </p:cNvSpPr>
          <p:nvPr/>
        </p:nvSpPr>
        <p:spPr>
          <a:xfrm xmlns:a="http://schemas.openxmlformats.org/drawingml/2006/main">
            <a:off x="2381250" y="3924300"/>
            <a:ext cx="581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i="0">
                <a:solidFill>
                  <a:srgbClr val="20241F"/>
                </a:solidFill>
                <a:latin typeface="Aptos"/>
                <a:ea typeface="Aptos"/>
                <a:cs typeface="Aptos"/>
              </a:defRPr>
            </a:pPr>
            <a:r>
              <a:rPr sz="1425" b="1" i="0">
                <a:solidFill>
                  <a:srgbClr val="20241F"/>
                </a:solidFill>
                <a:latin typeface="Aptos"/>
                <a:ea typeface="Aptos"/>
                <a:cs typeface="Aptos"/>
              </a:rPr>
              <a:t>Intelligent operational decision support</a:t>
            </a:r>
          </a:p>
        </p:txBody>
      </p:sp>
      <p:sp>
        <p:nvSpPr>
          <p:cNvPr id="24" name="">
            <a:extLst xmlns:a="http://schemas.openxmlformats.org/drawingml/2006/main">
              <a:ext uri="{FF2B5EF4-FFF2-40B4-BE49-F238E27FC236}">
                <a16:creationId xmlns:a16="http://schemas.microsoft.com/office/drawing/2014/main" id="{15D3BCD0-985A-4865-8A6A-DF2D5C26203C}"/>
              </a:ext>
            </a:extLst>
          </p:cNvPr>
          <p:cNvSpPr>
            <a:spLocks xmlns:a="http://schemas.openxmlformats.org/drawingml/2006/main" noGrp="1"/>
          </p:cNvSpPr>
          <p:nvPr/>
        </p:nvSpPr>
        <p:spPr>
          <a:xfrm xmlns:a="http://schemas.openxmlformats.org/drawingml/2006/main">
            <a:off x="2381250" y="4229100"/>
            <a:ext cx="666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i="0">
                <a:solidFill>
                  <a:srgbClr val="6E7068"/>
                </a:solidFill>
                <a:latin typeface="Aptos"/>
                <a:ea typeface="Aptos"/>
                <a:cs typeface="Aptos"/>
              </a:defRPr>
            </a:pPr>
            <a:r>
              <a:rPr sz="1050" b="0" i="0">
                <a:solidFill>
                  <a:srgbClr val="6E7068"/>
                </a:solidFill>
                <a:latin typeface="Aptos"/>
                <a:ea typeface="Aptos"/>
                <a:cs typeface="Aptos"/>
              </a:rPr>
              <a:t>Forecasting, recommendations, stock risk, insights, and copilot</a:t>
            </a:r>
          </a:p>
        </p:txBody>
      </p:sp>
      <p:sp>
        <p:nvSpPr>
          <p:cNvPr id="25" name="">
            <a:extLst xmlns:a="http://schemas.openxmlformats.org/drawingml/2006/main">
              <a:ext uri="{FF2B5EF4-FFF2-40B4-BE49-F238E27FC236}">
                <a16:creationId xmlns:a16="http://schemas.microsoft.com/office/drawing/2014/main" id="{9F092751-4D7F-4718-83EA-FCA5BFBE64D4}"/>
              </a:ext>
            </a:extLst>
          </p:cNvPr>
          <p:cNvSpPr>
            <a:spLocks xmlns:a="http://schemas.openxmlformats.org/drawingml/2006/main" noGrp="1"/>
          </p:cNvSpPr>
          <p:nvPr/>
        </p:nvSpPr>
        <p:spPr>
          <a:xfrm xmlns:a="http://schemas.openxmlformats.org/drawingml/2006/main">
            <a:off x="9525000" y="3943350"/>
            <a:ext cx="1657350" cy="361950"/>
          </a:xfrm>
          <a:prstGeom xmlns:a="http://schemas.openxmlformats.org/drawingml/2006/main" prst="roundRect">
            <a:avLst>
              <a:gd name="adj" fmla="val 50000"/>
            </a:avLst>
          </a:prstGeom>
          <a:solidFill xmlns:a="http://schemas.openxmlformats.org/drawingml/2006/main">
            <a:srgbClr val="2E6B50"/>
          </a:solidFill>
          <a:ln xmlns:a="http://schemas.openxmlformats.org/drawingml/2006/main" w="0">
            <a:solidFill>
              <a:srgbClr val="2E6B50"/>
            </a:solidFill>
            <a:prstDash val="solid"/>
          </a:ln>
        </p:spPr>
      </p:sp>
      <p:sp>
        <p:nvSpPr>
          <p:cNvPr id="26" name="">
            <a:extLst xmlns:a="http://schemas.openxmlformats.org/drawingml/2006/main">
              <a:ext uri="{FF2B5EF4-FFF2-40B4-BE49-F238E27FC236}">
                <a16:creationId xmlns:a16="http://schemas.microsoft.com/office/drawing/2014/main" id="{1C46FF99-11A4-440E-9A79-C986A777E20A}"/>
              </a:ext>
            </a:extLst>
          </p:cNvPr>
          <p:cNvSpPr>
            <a:spLocks xmlns:a="http://schemas.openxmlformats.org/drawingml/2006/main" noGrp="1"/>
          </p:cNvSpPr>
          <p:nvPr/>
        </p:nvSpPr>
        <p:spPr>
          <a:xfrm xmlns:a="http://schemas.openxmlformats.org/drawingml/2006/main">
            <a:off x="9525000" y="4019550"/>
            <a:ext cx="16573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00" b="1" i="0">
                <a:solidFill>
                  <a:srgbClr val="FFFFFF"/>
                </a:solidFill>
                <a:latin typeface="Aptos"/>
                <a:ea typeface="Aptos"/>
                <a:cs typeface="Aptos"/>
              </a:defRPr>
            </a:pPr>
            <a:r>
              <a:rPr sz="900" b="1" i="0">
                <a:solidFill>
                  <a:srgbClr val="FFFFFF"/>
                </a:solidFill>
                <a:latin typeface="Aptos"/>
                <a:ea typeface="Aptos"/>
                <a:cs typeface="Aptos"/>
              </a:rPr>
              <a:t>COMPLETE</a:t>
            </a:r>
          </a:p>
        </p:txBody>
      </p:sp>
      <p:sp>
        <p:nvSpPr>
          <p:cNvPr id="27" name="">
            <a:extLst xmlns:a="http://schemas.openxmlformats.org/drawingml/2006/main">
              <a:ext uri="{FF2B5EF4-FFF2-40B4-BE49-F238E27FC236}">
                <a16:creationId xmlns:a16="http://schemas.microsoft.com/office/drawing/2014/main" id="{D78A6B13-7A74-4472-959C-D2F409A52724}"/>
              </a:ext>
            </a:extLst>
          </p:cNvPr>
          <p:cNvSpPr>
            <a:spLocks xmlns:a="http://schemas.openxmlformats.org/drawingml/2006/main" noGrp="1"/>
          </p:cNvSpPr>
          <p:nvPr/>
        </p:nvSpPr>
        <p:spPr>
          <a:xfrm xmlns:a="http://schemas.openxmlformats.org/drawingml/2006/main">
            <a:off x="723900" y="5372100"/>
            <a:ext cx="10744200" cy="0"/>
          </a:xfrm>
          <a:prstGeom xmlns:a="http://schemas.openxmlformats.org/drawingml/2006/main" prst="line">
            <a:avLst/>
          </a:prstGeom>
          <a:noFill xmlns:a="http://schemas.openxmlformats.org/drawingml/2006/main"/>
          <a:ln xmlns:a="http://schemas.openxmlformats.org/drawingml/2006/main" w="9525">
            <a:solidFill>
              <a:srgbClr val="D8D0C2"/>
            </a:solidFill>
            <a:prstDash val="solid"/>
          </a:ln>
        </p:spPr>
      </p:sp>
      <p:sp>
        <p:nvSpPr>
          <p:cNvPr id="28" name="">
            <a:extLst xmlns:a="http://schemas.openxmlformats.org/drawingml/2006/main">
              <a:ext uri="{FF2B5EF4-FFF2-40B4-BE49-F238E27FC236}">
                <a16:creationId xmlns:a16="http://schemas.microsoft.com/office/drawing/2014/main" id="{B452A8C7-C1C4-4D6D-A5EF-4D734A7994FE}"/>
              </a:ext>
            </a:extLst>
          </p:cNvPr>
          <p:cNvSpPr>
            <a:spLocks xmlns:a="http://schemas.openxmlformats.org/drawingml/2006/main" noGrp="1"/>
          </p:cNvSpPr>
          <p:nvPr/>
        </p:nvSpPr>
        <p:spPr>
          <a:xfrm xmlns:a="http://schemas.openxmlformats.org/drawingml/2006/main">
            <a:off x="742950" y="4705350"/>
            <a:ext cx="1381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0" i="0">
                <a:solidFill>
                  <a:srgbClr val="20241F"/>
                </a:solidFill>
                <a:latin typeface="Georgia"/>
                <a:ea typeface="Georgia"/>
                <a:cs typeface="Georgia"/>
              </a:defRPr>
            </a:pPr>
            <a:r>
              <a:rPr sz="1875" b="0" i="0">
                <a:solidFill>
                  <a:srgbClr val="20241F"/>
                </a:solidFill>
                <a:latin typeface="Georgia"/>
                <a:ea typeface="Georgia"/>
                <a:cs typeface="Georgia"/>
              </a:rPr>
              <a:t>Bonus</a:t>
            </a:r>
          </a:p>
        </p:txBody>
      </p:sp>
      <p:sp>
        <p:nvSpPr>
          <p:cNvPr id="29" name="">
            <a:extLst xmlns:a="http://schemas.openxmlformats.org/drawingml/2006/main">
              <a:ext uri="{FF2B5EF4-FFF2-40B4-BE49-F238E27FC236}">
                <a16:creationId xmlns:a16="http://schemas.microsoft.com/office/drawing/2014/main" id="{92ECBC56-F674-4B29-A1A0-68BBE357DD24}"/>
              </a:ext>
            </a:extLst>
          </p:cNvPr>
          <p:cNvSpPr>
            <a:spLocks xmlns:a="http://schemas.openxmlformats.org/drawingml/2006/main" noGrp="1"/>
          </p:cNvSpPr>
          <p:nvPr/>
        </p:nvSpPr>
        <p:spPr>
          <a:xfrm xmlns:a="http://schemas.openxmlformats.org/drawingml/2006/main">
            <a:off x="2381250" y="4724400"/>
            <a:ext cx="581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i="0">
                <a:solidFill>
                  <a:srgbClr val="20241F"/>
                </a:solidFill>
                <a:latin typeface="Aptos"/>
                <a:ea typeface="Aptos"/>
                <a:cs typeface="Aptos"/>
              </a:defRPr>
            </a:pPr>
            <a:r>
              <a:rPr sz="1425" b="1" i="0">
                <a:solidFill>
                  <a:srgbClr val="20241F"/>
                </a:solidFill>
                <a:latin typeface="Aptos"/>
                <a:ea typeface="Aptos"/>
                <a:cs typeface="Aptos"/>
              </a:rPr>
              <a:t>Live restaurant digital twin</a:t>
            </a:r>
          </a:p>
        </p:txBody>
      </p:sp>
      <p:sp>
        <p:nvSpPr>
          <p:cNvPr id="30" name="">
            <a:extLst xmlns:a="http://schemas.openxmlformats.org/drawingml/2006/main">
              <a:ext uri="{FF2B5EF4-FFF2-40B4-BE49-F238E27FC236}">
                <a16:creationId xmlns:a16="http://schemas.microsoft.com/office/drawing/2014/main" id="{D0D3DD18-2AB1-47A4-A755-F528B09AA1E0}"/>
              </a:ext>
            </a:extLst>
          </p:cNvPr>
          <p:cNvSpPr>
            <a:spLocks xmlns:a="http://schemas.openxmlformats.org/drawingml/2006/main" noGrp="1"/>
          </p:cNvSpPr>
          <p:nvPr/>
        </p:nvSpPr>
        <p:spPr>
          <a:xfrm xmlns:a="http://schemas.openxmlformats.org/drawingml/2006/main">
            <a:off x="2381250" y="5029200"/>
            <a:ext cx="666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i="0">
                <a:solidFill>
                  <a:srgbClr val="6E7068"/>
                </a:solidFill>
                <a:latin typeface="Aptos"/>
                <a:ea typeface="Aptos"/>
                <a:cs typeface="Aptos"/>
              </a:defRPr>
            </a:pPr>
            <a:r>
              <a:rPr sz="1050" b="0" i="0">
                <a:solidFill>
                  <a:srgbClr val="6E7068"/>
                </a:solidFill>
                <a:latin typeface="Aptos"/>
                <a:ea typeface="Aptos"/>
                <a:cs typeface="Aptos"/>
              </a:rPr>
              <a:t>Recipe-linked availability, shared state, audit trail, and bill splitting</a:t>
            </a:r>
          </a:p>
        </p:txBody>
      </p:sp>
      <p:sp>
        <p:nvSpPr>
          <p:cNvPr id="31" name="">
            <a:extLst xmlns:a="http://schemas.openxmlformats.org/drawingml/2006/main">
              <a:ext uri="{FF2B5EF4-FFF2-40B4-BE49-F238E27FC236}">
                <a16:creationId xmlns:a16="http://schemas.microsoft.com/office/drawing/2014/main" id="{8E03CF28-0574-4EC3-8F58-7F26D1E0BD0F}"/>
              </a:ext>
            </a:extLst>
          </p:cNvPr>
          <p:cNvSpPr>
            <a:spLocks xmlns:a="http://schemas.openxmlformats.org/drawingml/2006/main" noGrp="1"/>
          </p:cNvSpPr>
          <p:nvPr/>
        </p:nvSpPr>
        <p:spPr>
          <a:xfrm xmlns:a="http://schemas.openxmlformats.org/drawingml/2006/main">
            <a:off x="9525000" y="4743450"/>
            <a:ext cx="1657350" cy="361950"/>
          </a:xfrm>
          <a:prstGeom xmlns:a="http://schemas.openxmlformats.org/drawingml/2006/main" prst="roundRect">
            <a:avLst>
              <a:gd name="adj" fmla="val 50000"/>
            </a:avLst>
          </a:prstGeom>
          <a:solidFill xmlns:a="http://schemas.openxmlformats.org/drawingml/2006/main">
            <a:srgbClr val="2E6B50"/>
          </a:solidFill>
          <a:ln xmlns:a="http://schemas.openxmlformats.org/drawingml/2006/main" w="0">
            <a:solidFill>
              <a:srgbClr val="2E6B50"/>
            </a:solidFill>
            <a:prstDash val="solid"/>
          </a:ln>
        </p:spPr>
      </p:sp>
      <p:sp>
        <p:nvSpPr>
          <p:cNvPr id="32" name="">
            <a:extLst xmlns:a="http://schemas.openxmlformats.org/drawingml/2006/main">
              <a:ext uri="{FF2B5EF4-FFF2-40B4-BE49-F238E27FC236}">
                <a16:creationId xmlns:a16="http://schemas.microsoft.com/office/drawing/2014/main" id="{32134637-4269-4030-A74F-40BCDB56FA45}"/>
              </a:ext>
            </a:extLst>
          </p:cNvPr>
          <p:cNvSpPr>
            <a:spLocks xmlns:a="http://schemas.openxmlformats.org/drawingml/2006/main" noGrp="1"/>
          </p:cNvSpPr>
          <p:nvPr/>
        </p:nvSpPr>
        <p:spPr>
          <a:xfrm xmlns:a="http://schemas.openxmlformats.org/drawingml/2006/main">
            <a:off x="9525000" y="4819650"/>
            <a:ext cx="16573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00" b="1" i="0">
                <a:solidFill>
                  <a:srgbClr val="FFFFFF"/>
                </a:solidFill>
                <a:latin typeface="Aptos"/>
                <a:ea typeface="Aptos"/>
                <a:cs typeface="Aptos"/>
              </a:defRPr>
            </a:pPr>
            <a:r>
              <a:rPr sz="900" b="1" i="0">
                <a:solidFill>
                  <a:srgbClr val="FFFFFF"/>
                </a:solidFill>
                <a:latin typeface="Aptos"/>
                <a:ea typeface="Aptos"/>
                <a:cs typeface="Aptos"/>
              </a:rPr>
              <a:t>COMPLETE</a:t>
            </a:r>
          </a:p>
        </p:txBody>
      </p:sp>
      <p:sp>
        <p:nvSpPr>
          <p:cNvPr id="33" name="">
            <a:extLst xmlns:a="http://schemas.openxmlformats.org/drawingml/2006/main">
              <a:ext uri="{FF2B5EF4-FFF2-40B4-BE49-F238E27FC236}">
                <a16:creationId xmlns:a16="http://schemas.microsoft.com/office/drawing/2014/main" id="{2CA0BEA5-41BF-491C-AFE1-20EA6409B9D2}"/>
              </a:ext>
            </a:extLst>
          </p:cNvPr>
          <p:cNvSpPr>
            <a:spLocks xmlns:a="http://schemas.openxmlformats.org/drawingml/2006/main" noGrp="1"/>
          </p:cNvSpPr>
          <p:nvPr/>
        </p:nvSpPr>
        <p:spPr>
          <a:xfrm xmlns:a="http://schemas.openxmlformats.org/drawingml/2006/main">
            <a:off x="723900" y="5734050"/>
            <a:ext cx="10744200" cy="495300"/>
          </a:xfrm>
          <a:prstGeom xmlns:a="http://schemas.openxmlformats.org/drawingml/2006/main" prst="roundRect">
            <a:avLst>
              <a:gd name="adj" fmla="val 23077"/>
            </a:avLst>
          </a:prstGeom>
          <a:solidFill xmlns:a="http://schemas.openxmlformats.org/drawingml/2006/main">
            <a:srgbClr val="F2DDD8"/>
          </a:solidFill>
          <a:ln xmlns:a="http://schemas.openxmlformats.org/drawingml/2006/main" w="9525">
            <a:solidFill>
              <a:srgbClr val="D9AAA1"/>
            </a:solidFill>
            <a:prstDash val="solid"/>
          </a:ln>
        </p:spPr>
      </p:sp>
      <p:sp>
        <p:nvSpPr>
          <p:cNvPr id="34" name="">
            <a:extLst xmlns:a="http://schemas.openxmlformats.org/drawingml/2006/main">
              <a:ext uri="{FF2B5EF4-FFF2-40B4-BE49-F238E27FC236}">
                <a16:creationId xmlns:a16="http://schemas.microsoft.com/office/drawing/2014/main" id="{1FEA7E5C-CBC8-4FAD-9CD2-63CC4FE11781}"/>
              </a:ext>
            </a:extLst>
          </p:cNvPr>
          <p:cNvSpPr>
            <a:spLocks xmlns:a="http://schemas.openxmlformats.org/drawingml/2006/main" noGrp="1"/>
          </p:cNvSpPr>
          <p:nvPr/>
        </p:nvSpPr>
        <p:spPr>
          <a:xfrm xmlns:a="http://schemas.openxmlformats.org/drawingml/2006/main">
            <a:off x="933450" y="5886450"/>
            <a:ext cx="10325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1" i="0">
                <a:solidFill>
                  <a:srgbClr val="A44E43"/>
                </a:solidFill>
                <a:latin typeface="Aptos"/>
                <a:ea typeface="Aptos"/>
                <a:cs typeface="Aptos"/>
              </a:defRPr>
            </a:pPr>
            <a:r>
              <a:rPr sz="1200" b="1" i="0">
                <a:solidFill>
                  <a:srgbClr val="A44E43"/>
                </a:solidFill>
                <a:latin typeface="Aptos"/>
                <a:ea typeface="Aptos"/>
                <a:cs typeface="Aptos"/>
              </a:rPr>
              <a:t>Submission truth: demo role switching proves workflows; Supabase Auth is the remaining Silver requirement.</a:t>
            </a:r>
          </a:p>
        </p:txBody>
      </p:sp>
      <p:sp>
        <p:nvSpPr>
          <p:cNvPr id="35" name="">
            <a:extLst xmlns:a="http://schemas.openxmlformats.org/drawingml/2006/main">
              <a:ext uri="{FF2B5EF4-FFF2-40B4-BE49-F238E27FC236}">
                <a16:creationId xmlns:a16="http://schemas.microsoft.com/office/drawing/2014/main" id="{04835E58-07FF-421E-A46B-30C484D60E5A}"/>
              </a:ext>
            </a:extLst>
          </p:cNvPr>
          <p:cNvSpPr>
            <a:spLocks xmlns:a="http://schemas.openxmlformats.org/drawingml/2006/main" noGrp="1"/>
          </p:cNvSpPr>
          <p:nvPr/>
        </p:nvSpPr>
        <p:spPr>
          <a:xfrm xmlns:a="http://schemas.openxmlformats.org/drawingml/2006/main">
            <a:off x="666750" y="6496050"/>
            <a:ext cx="10858500" cy="0"/>
          </a:xfrm>
          <a:prstGeom xmlns:a="http://schemas.openxmlformats.org/drawingml/2006/main" prst="line">
            <a:avLst/>
          </a:prstGeom>
          <a:noFill xmlns:a="http://schemas.openxmlformats.org/drawingml/2006/main"/>
          <a:ln xmlns:a="http://schemas.openxmlformats.org/drawingml/2006/main" w="9525">
            <a:solidFill>
              <a:srgbClr val="D8D0C2"/>
            </a:solidFill>
            <a:prstDash val="solid"/>
          </a:ln>
        </p:spPr>
      </p:sp>
      <p:sp>
        <p:nvSpPr>
          <p:cNvPr id="36" name="">
            <a:extLst xmlns:a="http://schemas.openxmlformats.org/drawingml/2006/main">
              <a:ext uri="{FF2B5EF4-FFF2-40B4-BE49-F238E27FC236}">
                <a16:creationId xmlns:a16="http://schemas.microsoft.com/office/drawing/2014/main" id="{4BE0C7C7-4466-4660-9E01-DBBF37371332}"/>
              </a:ext>
            </a:extLst>
          </p:cNvPr>
          <p:cNvSpPr>
            <a:spLocks xmlns:a="http://schemas.openxmlformats.org/drawingml/2006/main" noGrp="1"/>
          </p:cNvSpPr>
          <p:nvPr/>
        </p:nvSpPr>
        <p:spPr>
          <a:xfrm xmlns:a="http://schemas.openxmlformats.org/drawingml/2006/main">
            <a:off x="666750" y="6572250"/>
            <a:ext cx="3429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1" i="0">
                <a:solidFill>
                  <a:srgbClr val="8C8B82"/>
                </a:solidFill>
                <a:latin typeface="Aptos"/>
                <a:ea typeface="Aptos"/>
                <a:cs typeface="Aptos"/>
              </a:defRPr>
            </a:pPr>
            <a:r>
              <a:rPr sz="750" b="1" i="0">
                <a:solidFill>
                  <a:srgbClr val="8C8B82"/>
                </a:solidFill>
                <a:latin typeface="Aptos"/>
                <a:ea typeface="Aptos"/>
                <a:cs typeface="Aptos"/>
              </a:rPr>
              <a:t>FLOWDINE AI  /  VIBEATHON 6.0</a:t>
            </a:r>
          </a:p>
        </p:txBody>
      </p:sp>
      <p:sp>
        <p:nvSpPr>
          <p:cNvPr id="37" name="">
            <a:extLst xmlns:a="http://schemas.openxmlformats.org/drawingml/2006/main">
              <a:ext uri="{FF2B5EF4-FFF2-40B4-BE49-F238E27FC236}">
                <a16:creationId xmlns:a16="http://schemas.microsoft.com/office/drawing/2014/main" id="{69E68E1A-E78F-43ED-AE1A-B7EB72A80AF3}"/>
              </a:ext>
            </a:extLst>
          </p:cNvPr>
          <p:cNvSpPr>
            <a:spLocks xmlns:a="http://schemas.openxmlformats.org/drawingml/2006/main" noGrp="1"/>
          </p:cNvSpPr>
          <p:nvPr/>
        </p:nvSpPr>
        <p:spPr>
          <a:xfrm xmlns:a="http://schemas.openxmlformats.org/drawingml/2006/main">
            <a:off x="11049000" y="6572250"/>
            <a:ext cx="4762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750" b="1" i="0">
                <a:solidFill>
                  <a:srgbClr val="8C8B82"/>
                </a:solidFill>
                <a:latin typeface="Aptos"/>
                <a:ea typeface="Aptos"/>
                <a:cs typeface="Aptos"/>
              </a:defRPr>
            </a:pPr>
            <a:r>
              <a:rPr sz="750" b="1" i="0">
                <a:solidFill>
                  <a:srgbClr val="8C8B82"/>
                </a:solidFill>
                <a:latin typeface="Aptos"/>
                <a:ea typeface="Aptos"/>
                <a:cs typeface="Aptos"/>
              </a:rPr>
              <a:t>11</a:t>
            </a:r>
          </a:p>
        </p:txBody>
      </p:sp>
    </p:spTree>
    <p:extLst>
      <p:ext uri="{BB962C8B-B14F-4D97-AF65-F5344CB8AC3E}">
        <p14:creationId xmlns:p14="http://schemas.microsoft.com/office/powerpoint/2010/main" val="1090706318"/>
      </p:ext>
    </p:extLst>
  </p:cSld>
</p:sld>
</file>

<file path=ppt/slides/slide12.xml><?xml version="1.0" encoding="utf-8"?>
<p:sld xmlns:p="http://schemas.openxmlformats.org/presentationml/2006/main">
  <p:cSld>
    <p:bg>
      <p:bgPr>
        <a:solidFill xmlns:a="http://schemas.openxmlformats.org/drawingml/2006/main">
          <a:srgbClr val="20241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C380D99C-FA27-4916-9B7E-750272B41D85}"/>
              </a:ext>
            </a:extLst>
          </p:cNvPr>
          <p:cNvSpPr>
            <a:spLocks xmlns:a="http://schemas.openxmlformats.org/drawingml/2006/main" noGrp="1"/>
          </p:cNvSpPr>
          <p:nvPr/>
        </p:nvSpPr>
        <p:spPr>
          <a:xfrm xmlns:a="http://schemas.openxmlformats.org/drawingml/2006/main">
            <a:off x="666750" y="457200"/>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i="0">
                <a:solidFill>
                  <a:srgbClr val="E6A34E"/>
                </a:solidFill>
                <a:latin typeface="Aptos"/>
                <a:ea typeface="Aptos"/>
                <a:cs typeface="Aptos"/>
              </a:defRPr>
            </a:pPr>
            <a:r>
              <a:rPr sz="1050" b="1" i="0">
                <a:solidFill>
                  <a:srgbClr val="E6A34E"/>
                </a:solidFill>
                <a:latin typeface="Aptos"/>
                <a:ea typeface="Aptos"/>
                <a:cs typeface="Aptos"/>
              </a:rPr>
              <a:t>FLOWDINE AI</a:t>
            </a:r>
          </a:p>
        </p:txBody>
      </p:sp>
      <p:sp>
        <p:nvSpPr>
          <p:cNvPr id="2" name="">
            <a:extLst xmlns:a="http://schemas.openxmlformats.org/drawingml/2006/main">
              <a:ext uri="{FF2B5EF4-FFF2-40B4-BE49-F238E27FC236}">
                <a16:creationId xmlns:a16="http://schemas.microsoft.com/office/drawing/2014/main" id="{34ED1A08-0C5E-423B-A0D8-DD18E0270A1F}"/>
              </a:ext>
            </a:extLst>
          </p:cNvPr>
          <p:cNvSpPr>
            <a:spLocks xmlns:a="http://schemas.openxmlformats.org/drawingml/2006/main" noGrp="1"/>
          </p:cNvSpPr>
          <p:nvPr/>
        </p:nvSpPr>
        <p:spPr>
          <a:xfrm xmlns:a="http://schemas.openxmlformats.org/drawingml/2006/main">
            <a:off x="666750" y="1143000"/>
            <a:ext cx="66675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4650" b="0" i="0">
                <a:solidFill>
                  <a:srgbClr val="F6F0E4"/>
                </a:solidFill>
                <a:latin typeface="Georgia"/>
                <a:ea typeface="Georgia"/>
                <a:cs typeface="Georgia"/>
              </a:defRPr>
            </a:pPr>
            <a:r>
              <a:rPr sz="4650" b="0" i="0">
                <a:solidFill>
                  <a:srgbClr val="F6F0E4"/>
                </a:solidFill>
                <a:latin typeface="Georgia"/>
                <a:ea typeface="Georgia"/>
                <a:cs typeface="Georgia"/>
              </a:rPr>
              <a:t>Let the restaurant</a:t>
            </a:r>
          </a:p>
          <a:p xmlns:a="http://schemas.openxmlformats.org/drawingml/2006/main">
            <a:pPr algn="l">
              <a:lnSpc>
                <a:spcPct val="96000"/>
              </a:lnSpc>
              <a:buNone/>
              <a:defRPr sz="4650" b="0" i="0">
                <a:solidFill>
                  <a:srgbClr val="F6F0E4"/>
                </a:solidFill>
                <a:latin typeface="Georgia"/>
                <a:ea typeface="Georgia"/>
                <a:cs typeface="Georgia"/>
              </a:defRPr>
            </a:pPr>
            <a:r>
              <a:rPr sz="4650" b="0" i="0">
                <a:solidFill>
                  <a:srgbClr val="F6F0E4"/>
                </a:solidFill>
                <a:latin typeface="Georgia"/>
                <a:ea typeface="Georgia"/>
                <a:cs typeface="Georgia"/>
              </a:rPr>
              <a:t>think as one.</a:t>
            </a:r>
          </a:p>
        </p:txBody>
      </p:sp>
      <p:sp>
        <p:nvSpPr>
          <p:cNvPr id="3" name="">
            <a:extLst xmlns:a="http://schemas.openxmlformats.org/drawingml/2006/main">
              <a:ext uri="{FF2B5EF4-FFF2-40B4-BE49-F238E27FC236}">
                <a16:creationId xmlns:a16="http://schemas.microsoft.com/office/drawing/2014/main" id="{1B691C51-178C-44FC-80FA-2683BD82F745}"/>
              </a:ext>
            </a:extLst>
          </p:cNvPr>
          <p:cNvSpPr>
            <a:spLocks xmlns:a="http://schemas.openxmlformats.org/drawingml/2006/main" noGrp="1"/>
          </p:cNvSpPr>
          <p:nvPr/>
        </p:nvSpPr>
        <p:spPr>
          <a:xfrm xmlns:a="http://schemas.openxmlformats.org/drawingml/2006/main">
            <a:off x="704850" y="3086100"/>
            <a:ext cx="75247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4000"/>
              </a:lnSpc>
              <a:buNone/>
              <a:defRPr sz="1800" b="0" i="0">
                <a:solidFill>
                  <a:srgbClr val="CFD6D1"/>
                </a:solidFill>
                <a:latin typeface="Aptos"/>
                <a:ea typeface="Aptos"/>
                <a:cs typeface="Aptos"/>
              </a:defRPr>
            </a:pPr>
            <a:r>
              <a:rPr sz="1800" b="0" i="0">
                <a:solidFill>
                  <a:srgbClr val="CFD6D1"/>
                </a:solidFill>
                <a:latin typeface="Aptos"/>
                <a:ea typeface="Aptos"/>
                <a:cs typeface="Aptos"/>
              </a:rPr>
              <a:t>FlowDine AI reduces waiting, prevents unavailable-order frustration, improves staff coordination, and gives managers real-time control.</a:t>
            </a:r>
          </a:p>
        </p:txBody>
      </p:sp>
      <p:sp>
        <p:nvSpPr>
          <p:cNvPr id="4" name="">
            <a:extLst xmlns:a="http://schemas.openxmlformats.org/drawingml/2006/main">
              <a:ext uri="{FF2B5EF4-FFF2-40B4-BE49-F238E27FC236}">
                <a16:creationId xmlns:a16="http://schemas.microsoft.com/office/drawing/2014/main" id="{37E2D97A-0BB9-4B69-85E1-E18229660D26}"/>
              </a:ext>
            </a:extLst>
          </p:cNvPr>
          <p:cNvSpPr>
            <a:spLocks xmlns:a="http://schemas.openxmlformats.org/drawingml/2006/main" noGrp="1"/>
          </p:cNvSpPr>
          <p:nvPr/>
        </p:nvSpPr>
        <p:spPr>
          <a:xfrm xmlns:a="http://schemas.openxmlformats.org/drawingml/2006/main">
            <a:off x="685800" y="4476750"/>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i="0">
                <a:solidFill>
                  <a:srgbClr val="E6A34E"/>
                </a:solidFill>
                <a:latin typeface="Aptos"/>
                <a:ea typeface="Aptos"/>
                <a:cs typeface="Aptos"/>
              </a:defRPr>
            </a:pPr>
            <a:r>
              <a:rPr sz="975" b="1" i="0">
                <a:solidFill>
                  <a:srgbClr val="E6A34E"/>
                </a:solidFill>
                <a:latin typeface="Aptos"/>
                <a:ea typeface="Aptos"/>
                <a:cs typeface="Aptos"/>
              </a:rPr>
              <a:t>PROMISE</a:t>
            </a:r>
          </a:p>
        </p:txBody>
      </p:sp>
      <p:sp>
        <p:nvSpPr>
          <p:cNvPr id="5" name="">
            <a:extLst xmlns:a="http://schemas.openxmlformats.org/drawingml/2006/main">
              <a:ext uri="{FF2B5EF4-FFF2-40B4-BE49-F238E27FC236}">
                <a16:creationId xmlns:a16="http://schemas.microsoft.com/office/drawing/2014/main" id="{B71A9749-C7FD-4E58-BC68-7E083347F675}"/>
              </a:ext>
            </a:extLst>
          </p:cNvPr>
          <p:cNvSpPr>
            <a:spLocks xmlns:a="http://schemas.openxmlformats.org/drawingml/2006/main" noGrp="1"/>
          </p:cNvSpPr>
          <p:nvPr/>
        </p:nvSpPr>
        <p:spPr>
          <a:xfrm xmlns:a="http://schemas.openxmlformats.org/drawingml/2006/main">
            <a:off x="685800" y="4819650"/>
            <a:ext cx="23431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i="0">
                <a:solidFill>
                  <a:srgbClr val="F6F0E4"/>
                </a:solidFill>
                <a:latin typeface="Georgia"/>
                <a:ea typeface="Georgia"/>
                <a:cs typeface="Georgia"/>
              </a:defRPr>
            </a:pPr>
            <a:r>
              <a:rPr sz="1425" b="0" i="0">
                <a:solidFill>
                  <a:srgbClr val="F6F0E4"/>
                </a:solidFill>
                <a:latin typeface="Georgia"/>
                <a:ea typeface="Georgia"/>
                <a:cs typeface="Georgia"/>
              </a:rPr>
              <a:t>Only what stock can fulfill</a:t>
            </a:r>
          </a:p>
        </p:txBody>
      </p:sp>
      <p:sp>
        <p:nvSpPr>
          <p:cNvPr id="6" name="">
            <a:extLst xmlns:a="http://schemas.openxmlformats.org/drawingml/2006/main">
              <a:ext uri="{FF2B5EF4-FFF2-40B4-BE49-F238E27FC236}">
                <a16:creationId xmlns:a16="http://schemas.microsoft.com/office/drawing/2014/main" id="{E674078E-B526-4FAD-8C4E-65B8F23BE3CF}"/>
              </a:ext>
            </a:extLst>
          </p:cNvPr>
          <p:cNvSpPr>
            <a:spLocks xmlns:a="http://schemas.openxmlformats.org/drawingml/2006/main" noGrp="1"/>
          </p:cNvSpPr>
          <p:nvPr/>
        </p:nvSpPr>
        <p:spPr>
          <a:xfrm xmlns:a="http://schemas.openxmlformats.org/drawingml/2006/main">
            <a:off x="3429000" y="4476750"/>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i="0">
                <a:solidFill>
                  <a:srgbClr val="E6A34E"/>
                </a:solidFill>
                <a:latin typeface="Aptos"/>
                <a:ea typeface="Aptos"/>
                <a:cs typeface="Aptos"/>
              </a:defRPr>
            </a:pPr>
            <a:r>
              <a:rPr sz="975" b="1" i="0">
                <a:solidFill>
                  <a:srgbClr val="E6A34E"/>
                </a:solidFill>
                <a:latin typeface="Aptos"/>
                <a:ea typeface="Aptos"/>
                <a:cs typeface="Aptos"/>
              </a:rPr>
              <a:t>COORDINATE</a:t>
            </a:r>
          </a:p>
        </p:txBody>
      </p:sp>
      <p:sp>
        <p:nvSpPr>
          <p:cNvPr id="7" name="">
            <a:extLst xmlns:a="http://schemas.openxmlformats.org/drawingml/2006/main">
              <a:ext uri="{FF2B5EF4-FFF2-40B4-BE49-F238E27FC236}">
                <a16:creationId xmlns:a16="http://schemas.microsoft.com/office/drawing/2014/main" id="{E892DC7D-23F0-46CD-BEDB-E6F386E8109E}"/>
              </a:ext>
            </a:extLst>
          </p:cNvPr>
          <p:cNvSpPr>
            <a:spLocks xmlns:a="http://schemas.openxmlformats.org/drawingml/2006/main" noGrp="1"/>
          </p:cNvSpPr>
          <p:nvPr/>
        </p:nvSpPr>
        <p:spPr>
          <a:xfrm xmlns:a="http://schemas.openxmlformats.org/drawingml/2006/main">
            <a:off x="3429000" y="4819650"/>
            <a:ext cx="23431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i="0">
                <a:solidFill>
                  <a:srgbClr val="F6F0E4"/>
                </a:solidFill>
                <a:latin typeface="Georgia"/>
                <a:ea typeface="Georgia"/>
                <a:cs typeface="Georgia"/>
              </a:defRPr>
            </a:pPr>
            <a:r>
              <a:rPr sz="1425" b="0" i="0">
                <a:solidFill>
                  <a:srgbClr val="F6F0E4"/>
                </a:solidFill>
                <a:latin typeface="Georgia"/>
                <a:ea typeface="Georgia"/>
                <a:cs typeface="Georgia"/>
              </a:rPr>
              <a:t>One state across every role</a:t>
            </a:r>
          </a:p>
        </p:txBody>
      </p:sp>
      <p:sp>
        <p:nvSpPr>
          <p:cNvPr id="8" name="">
            <a:extLst xmlns:a="http://schemas.openxmlformats.org/drawingml/2006/main">
              <a:ext uri="{FF2B5EF4-FFF2-40B4-BE49-F238E27FC236}">
                <a16:creationId xmlns:a16="http://schemas.microsoft.com/office/drawing/2014/main" id="{29247A8A-2170-4FF5-A342-38CDE7F72073}"/>
              </a:ext>
            </a:extLst>
          </p:cNvPr>
          <p:cNvSpPr>
            <a:spLocks xmlns:a="http://schemas.openxmlformats.org/drawingml/2006/main" noGrp="1"/>
          </p:cNvSpPr>
          <p:nvPr/>
        </p:nvSpPr>
        <p:spPr>
          <a:xfrm xmlns:a="http://schemas.openxmlformats.org/drawingml/2006/main">
            <a:off x="6172200" y="4476750"/>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i="0">
                <a:solidFill>
                  <a:srgbClr val="E6A34E"/>
                </a:solidFill>
                <a:latin typeface="Aptos"/>
                <a:ea typeface="Aptos"/>
                <a:cs typeface="Aptos"/>
              </a:defRPr>
            </a:pPr>
            <a:r>
              <a:rPr sz="975" b="1" i="0">
                <a:solidFill>
                  <a:srgbClr val="E6A34E"/>
                </a:solidFill>
                <a:latin typeface="Aptos"/>
                <a:ea typeface="Aptos"/>
                <a:cs typeface="Aptos"/>
              </a:rPr>
              <a:t>PREDICT</a:t>
            </a:r>
          </a:p>
        </p:txBody>
      </p:sp>
      <p:sp>
        <p:nvSpPr>
          <p:cNvPr id="9" name="">
            <a:extLst xmlns:a="http://schemas.openxmlformats.org/drawingml/2006/main">
              <a:ext uri="{FF2B5EF4-FFF2-40B4-BE49-F238E27FC236}">
                <a16:creationId xmlns:a16="http://schemas.microsoft.com/office/drawing/2014/main" id="{76D133EB-FAA9-4337-832D-FC725DA50BA9}"/>
              </a:ext>
            </a:extLst>
          </p:cNvPr>
          <p:cNvSpPr>
            <a:spLocks xmlns:a="http://schemas.openxmlformats.org/drawingml/2006/main" noGrp="1"/>
          </p:cNvSpPr>
          <p:nvPr/>
        </p:nvSpPr>
        <p:spPr>
          <a:xfrm xmlns:a="http://schemas.openxmlformats.org/drawingml/2006/main">
            <a:off x="6172200" y="4819650"/>
            <a:ext cx="23431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i="0">
                <a:solidFill>
                  <a:srgbClr val="F6F0E4"/>
                </a:solidFill>
                <a:latin typeface="Georgia"/>
                <a:ea typeface="Georgia"/>
                <a:cs typeface="Georgia"/>
              </a:defRPr>
            </a:pPr>
            <a:r>
              <a:rPr sz="1425" b="0" i="0">
                <a:solidFill>
                  <a:srgbClr val="F6F0E4"/>
                </a:solidFill>
                <a:latin typeface="Georgia"/>
                <a:ea typeface="Georgia"/>
                <a:cs typeface="Georgia"/>
              </a:rPr>
              <a:t>Demand and stock risk sooner</a:t>
            </a:r>
          </a:p>
        </p:txBody>
      </p:sp>
      <p:sp>
        <p:nvSpPr>
          <p:cNvPr id="10" name="">
            <a:extLst xmlns:a="http://schemas.openxmlformats.org/drawingml/2006/main">
              <a:ext uri="{FF2B5EF4-FFF2-40B4-BE49-F238E27FC236}">
                <a16:creationId xmlns:a16="http://schemas.microsoft.com/office/drawing/2014/main" id="{D23319ED-ABC7-4701-BB5E-B2A3C3D111CE}"/>
              </a:ext>
            </a:extLst>
          </p:cNvPr>
          <p:cNvSpPr>
            <a:spLocks xmlns:a="http://schemas.openxmlformats.org/drawingml/2006/main" noGrp="1"/>
          </p:cNvSpPr>
          <p:nvPr/>
        </p:nvSpPr>
        <p:spPr>
          <a:xfrm xmlns:a="http://schemas.openxmlformats.org/drawingml/2006/main">
            <a:off x="8915400" y="4476750"/>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i="0">
                <a:solidFill>
                  <a:srgbClr val="E6A34E"/>
                </a:solidFill>
                <a:latin typeface="Aptos"/>
                <a:ea typeface="Aptos"/>
                <a:cs typeface="Aptos"/>
              </a:defRPr>
            </a:pPr>
            <a:r>
              <a:rPr sz="975" b="1" i="0">
                <a:solidFill>
                  <a:srgbClr val="E6A34E"/>
                </a:solidFill>
                <a:latin typeface="Aptos"/>
                <a:ea typeface="Aptos"/>
                <a:cs typeface="Aptos"/>
              </a:rPr>
              <a:t>CONTROL</a:t>
            </a:r>
          </a:p>
        </p:txBody>
      </p:sp>
      <p:sp>
        <p:nvSpPr>
          <p:cNvPr id="11" name="">
            <a:extLst xmlns:a="http://schemas.openxmlformats.org/drawingml/2006/main">
              <a:ext uri="{FF2B5EF4-FFF2-40B4-BE49-F238E27FC236}">
                <a16:creationId xmlns:a16="http://schemas.microsoft.com/office/drawing/2014/main" id="{6225BAD9-6869-42E8-A8BC-1840D31AB5E4}"/>
              </a:ext>
            </a:extLst>
          </p:cNvPr>
          <p:cNvSpPr>
            <a:spLocks xmlns:a="http://schemas.openxmlformats.org/drawingml/2006/main" noGrp="1"/>
          </p:cNvSpPr>
          <p:nvPr/>
        </p:nvSpPr>
        <p:spPr>
          <a:xfrm xmlns:a="http://schemas.openxmlformats.org/drawingml/2006/main">
            <a:off x="8915400" y="4819650"/>
            <a:ext cx="23431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i="0">
                <a:solidFill>
                  <a:srgbClr val="F6F0E4"/>
                </a:solidFill>
                <a:latin typeface="Georgia"/>
                <a:ea typeface="Georgia"/>
                <a:cs typeface="Georgia"/>
              </a:defRPr>
            </a:pPr>
            <a:r>
              <a:rPr sz="1425" b="0" i="0">
                <a:solidFill>
                  <a:srgbClr val="F6F0E4"/>
                </a:solidFill>
                <a:latin typeface="Georgia"/>
                <a:ea typeface="Georgia"/>
                <a:cs typeface="Georgia"/>
              </a:rPr>
              <a:t>Act before service breaks</a:t>
            </a:r>
          </a:p>
        </p:txBody>
      </p:sp>
      <p:sp>
        <p:nvSpPr>
          <p:cNvPr id="12" name="">
            <a:extLst xmlns:a="http://schemas.openxmlformats.org/drawingml/2006/main">
              <a:ext uri="{FF2B5EF4-FFF2-40B4-BE49-F238E27FC236}">
                <a16:creationId xmlns:a16="http://schemas.microsoft.com/office/drawing/2014/main" id="{84A77064-197A-45E7-A41B-43F0DCC6EE21}"/>
              </a:ext>
            </a:extLst>
          </p:cNvPr>
          <p:cNvSpPr>
            <a:spLocks xmlns:a="http://schemas.openxmlformats.org/drawingml/2006/main" noGrp="1"/>
          </p:cNvSpPr>
          <p:nvPr/>
        </p:nvSpPr>
        <p:spPr>
          <a:xfrm xmlns:a="http://schemas.openxmlformats.org/drawingml/2006/main">
            <a:off x="685800" y="5657850"/>
            <a:ext cx="10820400" cy="552450"/>
          </a:xfrm>
          <a:prstGeom xmlns:a="http://schemas.openxmlformats.org/drawingml/2006/main" prst="roundRect">
            <a:avLst>
              <a:gd name="adj" fmla="val 24138"/>
            </a:avLst>
          </a:prstGeom>
          <a:solidFill xmlns:a="http://schemas.openxmlformats.org/drawingml/2006/main">
            <a:srgbClr val="D1832E"/>
          </a:solidFill>
          <a:ln xmlns:a="http://schemas.openxmlformats.org/drawingml/2006/main" w="0">
            <a:solidFill>
              <a:srgbClr val="D1832E"/>
            </a:solidFill>
            <a:prstDash val="solid"/>
          </a:ln>
        </p:spPr>
      </p:sp>
      <p:sp>
        <p:nvSpPr>
          <p:cNvPr id="13" name="">
            <a:extLst xmlns:a="http://schemas.openxmlformats.org/drawingml/2006/main">
              <a:ext uri="{FF2B5EF4-FFF2-40B4-BE49-F238E27FC236}">
                <a16:creationId xmlns:a16="http://schemas.microsoft.com/office/drawing/2014/main" id="{6C0A6154-404D-4B0E-81E5-3DBCC28E9367}"/>
              </a:ext>
            </a:extLst>
          </p:cNvPr>
          <p:cNvSpPr>
            <a:spLocks xmlns:a="http://schemas.openxmlformats.org/drawingml/2006/main" noGrp="1"/>
          </p:cNvSpPr>
          <p:nvPr/>
        </p:nvSpPr>
        <p:spPr>
          <a:xfrm xmlns:a="http://schemas.openxmlformats.org/drawingml/2006/main">
            <a:off x="914400" y="5819775"/>
            <a:ext cx="333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i="0">
                <a:solidFill>
                  <a:srgbClr val="FFFFFF"/>
                </a:solidFill>
                <a:latin typeface="Aptos"/>
                <a:ea typeface="Aptos"/>
                <a:cs typeface="Aptos"/>
              </a:defRPr>
            </a:pPr>
            <a:r>
              <a:rPr sz="1125" b="1" i="0">
                <a:solidFill>
                  <a:srgbClr val="FFFFFF"/>
                </a:solidFill>
                <a:latin typeface="Aptos"/>
                <a:ea typeface="Aptos"/>
                <a:cs typeface="Aptos"/>
              </a:rPr>
              <a:t>OPEN THE LIVE RESTAURANT  →</a:t>
            </a:r>
          </a:p>
        </p:txBody>
      </p:sp>
      <p:sp>
        <p:nvSpPr>
          <p:cNvPr id="14" name="">
            <a:extLst xmlns:a="http://schemas.openxmlformats.org/drawingml/2006/main">
              <a:ext uri="{FF2B5EF4-FFF2-40B4-BE49-F238E27FC236}">
                <a16:creationId xmlns:a16="http://schemas.microsoft.com/office/drawing/2014/main" id="{57292014-A0FC-487F-A8CF-EE1CC56B9776}"/>
              </a:ext>
            </a:extLst>
          </p:cNvPr>
          <p:cNvSpPr>
            <a:spLocks xmlns:a="http://schemas.openxmlformats.org/drawingml/2006/main" noGrp="1"/>
          </p:cNvSpPr>
          <p:nvPr/>
        </p:nvSpPr>
        <p:spPr>
          <a:xfrm xmlns:a="http://schemas.openxmlformats.org/drawingml/2006/main">
            <a:off x="4476750" y="5819775"/>
            <a:ext cx="6800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i="0">
                <a:solidFill>
                  <a:srgbClr val="FFFFFF"/>
                </a:solidFill>
                <a:latin typeface="Aptos"/>
                <a:ea typeface="Aptos"/>
                <a:cs typeface="Aptos"/>
              </a:defRPr>
            </a:pPr>
            <a:r>
              <a:rPr sz="1125" b="1" i="0">
                <a:solidFill>
                  <a:srgbClr val="FFFFFF"/>
                </a:solidFill>
                <a:latin typeface="Aptos"/>
                <a:ea typeface="Aptos"/>
                <a:cs typeface="Aptos"/>
              </a:rPr>
              <a:t>flowdine-ai.abhinavchaudhary484.chatgpt.site</a:t>
            </a:r>
          </a:p>
        </p:txBody>
      </p:sp>
      <p:sp>
        <p:nvSpPr>
          <p:cNvPr id="15" name="">
            <a:extLst xmlns:a="http://schemas.openxmlformats.org/drawingml/2006/main">
              <a:ext uri="{FF2B5EF4-FFF2-40B4-BE49-F238E27FC236}">
                <a16:creationId xmlns:a16="http://schemas.microsoft.com/office/drawing/2014/main" id="{C60F03D5-ABFC-4833-B7B8-5BA3AAF168BA}"/>
              </a:ext>
            </a:extLst>
          </p:cNvPr>
          <p:cNvSpPr>
            <a:spLocks xmlns:a="http://schemas.openxmlformats.org/drawingml/2006/main" noGrp="1"/>
          </p:cNvSpPr>
          <p:nvPr/>
        </p:nvSpPr>
        <p:spPr>
          <a:xfrm xmlns:a="http://schemas.openxmlformats.org/drawingml/2006/main">
            <a:off x="666750" y="6496050"/>
            <a:ext cx="10858500" cy="0"/>
          </a:xfrm>
          <a:prstGeom xmlns:a="http://schemas.openxmlformats.org/drawingml/2006/main" prst="line">
            <a:avLst/>
          </a:prstGeom>
          <a:noFill xmlns:a="http://schemas.openxmlformats.org/drawingml/2006/main"/>
          <a:ln xmlns:a="http://schemas.openxmlformats.org/drawingml/2006/main" w="9525">
            <a:solidFill>
              <a:srgbClr val="365448"/>
            </a:solidFill>
            <a:prstDash val="solid"/>
          </a:ln>
        </p:spPr>
      </p:sp>
      <p:sp>
        <p:nvSpPr>
          <p:cNvPr id="16" name="">
            <a:extLst xmlns:a="http://schemas.openxmlformats.org/drawingml/2006/main">
              <a:ext uri="{FF2B5EF4-FFF2-40B4-BE49-F238E27FC236}">
                <a16:creationId xmlns:a16="http://schemas.microsoft.com/office/drawing/2014/main" id="{D70D7DEA-0A74-4CED-89FF-49B817205580}"/>
              </a:ext>
            </a:extLst>
          </p:cNvPr>
          <p:cNvSpPr>
            <a:spLocks xmlns:a="http://schemas.openxmlformats.org/drawingml/2006/main" noGrp="1"/>
          </p:cNvSpPr>
          <p:nvPr/>
        </p:nvSpPr>
        <p:spPr>
          <a:xfrm xmlns:a="http://schemas.openxmlformats.org/drawingml/2006/main">
            <a:off x="666750" y="6572250"/>
            <a:ext cx="3429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1" i="0">
                <a:solidFill>
                  <a:srgbClr val="B8C1BA"/>
                </a:solidFill>
                <a:latin typeface="Aptos"/>
                <a:ea typeface="Aptos"/>
                <a:cs typeface="Aptos"/>
              </a:defRPr>
            </a:pPr>
            <a:r>
              <a:rPr sz="750" b="1" i="0">
                <a:solidFill>
                  <a:srgbClr val="B8C1BA"/>
                </a:solidFill>
                <a:latin typeface="Aptos"/>
                <a:ea typeface="Aptos"/>
                <a:cs typeface="Aptos"/>
              </a:rPr>
              <a:t>FLOWDINE AI  /  VIBEATHON 6.0</a:t>
            </a:r>
          </a:p>
        </p:txBody>
      </p:sp>
      <p:sp>
        <p:nvSpPr>
          <p:cNvPr id="17" name="">
            <a:extLst xmlns:a="http://schemas.openxmlformats.org/drawingml/2006/main">
              <a:ext uri="{FF2B5EF4-FFF2-40B4-BE49-F238E27FC236}">
                <a16:creationId xmlns:a16="http://schemas.microsoft.com/office/drawing/2014/main" id="{CA3CA404-56E6-43F9-8AAB-E353E538BB62}"/>
              </a:ext>
            </a:extLst>
          </p:cNvPr>
          <p:cNvSpPr>
            <a:spLocks xmlns:a="http://schemas.openxmlformats.org/drawingml/2006/main" noGrp="1"/>
          </p:cNvSpPr>
          <p:nvPr/>
        </p:nvSpPr>
        <p:spPr>
          <a:xfrm xmlns:a="http://schemas.openxmlformats.org/drawingml/2006/main">
            <a:off x="11049000" y="6572250"/>
            <a:ext cx="4762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750" b="1" i="0">
                <a:solidFill>
                  <a:srgbClr val="B8C1BA"/>
                </a:solidFill>
                <a:latin typeface="Aptos"/>
                <a:ea typeface="Aptos"/>
                <a:cs typeface="Aptos"/>
              </a:defRPr>
            </a:pPr>
            <a:r>
              <a:rPr sz="750" b="1" i="0">
                <a:solidFill>
                  <a:srgbClr val="B8C1BA"/>
                </a:solidFill>
                <a:latin typeface="Aptos"/>
                <a:ea typeface="Aptos"/>
                <a:cs typeface="Aptos"/>
              </a:rPr>
              <a:t>12</a:t>
            </a:r>
          </a:p>
        </p:txBody>
      </p:sp>
    </p:spTree>
    <p:extLst>
      <p:ext uri="{BB962C8B-B14F-4D97-AF65-F5344CB8AC3E}">
        <p14:creationId xmlns:p14="http://schemas.microsoft.com/office/powerpoint/2010/main" val="90757625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2026-07-26T19:01:30.4960000Z</dcterms:created>
  <dcterms:modified xsi:type="dcterms:W3CDTF">2026-07-26T19:01:30.4970000Z</dcterms:modified>
</coreProperties>
</file>